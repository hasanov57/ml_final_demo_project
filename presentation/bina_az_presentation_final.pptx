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Samir</a:t>
            </a:r>
          </a:p>
          <a:p>
            <a:endParaRPr/>
          </a:p>
          <a:p>
            <a:r>
              <a:t>Bizim akademiya layihəmizin məqsədi iki alqoritmi NumPy ilə sıfırdan qurmaq və düzgün eksperimentlə yoxlamaqdır. Birinci tapşırıq qiyməti proqnozlaşdırmaq, ikinci tapşırıq elanın Premium və ya Standard olduğunu müəyyən etməkdir. Hər birimiz layihənin ümumi axınını başa düşürük.</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Samir</a:t>
            </a:r>
          </a:p>
          <a:p>
            <a:endParaRPr/>
          </a:p>
          <a:p>
            <a:r>
              <a:t>Regressiya qiyməti AZN ilə təxmin edir. Klassifikasiya isə qiymətin train hissəsinin medianı olan 210 min AZN-dən böyük olub-olmadığını müəyyən edir. Median yalnız təlim məlumatından hesablanıb. Burada əsas akademik nəticə alqoritmi başa düşərək sıfırdan yazmaq və sklearn ilə müqayisə etməkdir.</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Elmin</a:t>
            </a:r>
          </a:p>
          <a:p>
            <a:endParaRPr/>
          </a:p>
          <a:p>
            <a:r>
              <a:t>Xam datasetdə 100775 elan var idi; təmizləmədən sonra 64128 sətir qaldı. Model üçün 29 feature istifadə etdik. Təkrar elanları, çatışmayan və uyğunsuz dəyərləri yoxladıq, kateqoriyaları kodlaşdırdıq. unit_price və total_price qiymətlə birbaşa əlaqəli olduğu üçün modelə verilsə nəticə saxta yüksək görünərdi. Buna leakage deyilir.</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Elmin</a:t>
            </a:r>
          </a:p>
          <a:p>
            <a:endParaRPr/>
          </a:p>
          <a:p>
            <a:r>
              <a:t>Məlumatı 70 faiz train, 15 faiz validation, 15 faiz test olaraq böldük. Premium sərhədi və SVM üçün standartlaşdırmanın orta qiymət və standart kənarlaşması yalnız train-dən hesablanıb. Qrafikdə sahə ilə qiymət arasında əlaqə görünür, amma eyni sahədə çox fərqli qiymətlər var. Ona görə regresiyada səhvlər yüksək qala bilər.</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Samir</a:t>
            </a:r>
          </a:p>
          <a:p>
            <a:endParaRPr/>
          </a:p>
          <a:p>
            <a:r>
              <a:t>Decision Tree hər node-da bütün uyğun feature və threshold namizədlərini yoxlayır. Gini və Entropy klassifikasiya üçün qarışıqlığı ölçür. Regresiyada MSE, yəni qiymətlərin orta kvadrat xətası istifadə olunur. Ən böyük impurity azalmasını verən bölünmə seçilir. Sonra proses rekursiv davam edir. max_depth, min_samples_split, min_samples_leaf və min_impurity_decrease ağacın böyüməsini məhdudlaşdırır.</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Samir</a:t>
            </a:r>
          </a:p>
          <a:p>
            <a:endParaRPr/>
          </a:p>
          <a:p>
            <a:r>
              <a:t>Qrafikdə max_depth artdıqca train və validation F1 yüksəlir. Yoxladığımız aralıqda ciddi overfitting işarəsi görünmür. Testdə bizim ağacın F1 göstəricisi 0.909853, sklearn ağacının isə 0.910330-dur. ROC-AUC təxminən 0.963-dür. Regresiyada R² 0.592, MAE 87181 AZN-dir. Deməli kod baseline-a yaxındır, amma qiymət proqnozu real istifadə üçün kifayət qədər dəqiq deyil.</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Ramil</a:t>
            </a:r>
          </a:p>
          <a:p>
            <a:endParaRPr/>
          </a:p>
          <a:p>
            <a:r>
              <a:t>SVM iki sinfi ayıran sərhəd tapır və sərhəd ətrafındakı margin-i böyük saxlamağa çalışır. Hinge loss səhv və ya margin-ə çox yaxın proqnozlara cəza verir. L2 regularization çəkilərin həddən artıq böyüməsini azaldır. Pegasos çəkiləri addım-addım yeniləyən optimizasiya üsuludur. Lambda regularization gücüdür, epochs məlumatın neçə dəfə keçildiyini göstərir. Support vectors sərhədə yaxın müşahidələrdir.</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Ramil</a:t>
            </a:r>
          </a:p>
          <a:p>
            <a:endParaRPr/>
          </a:p>
          <a:p>
            <a:r>
              <a:t>Qrafikdə regularized hinge objective ilk yeniləmələrdə sürətlə düşür və sonra sabitləşir. Testdə bizim linear Pegasos F1 0.822793, sklearn SGD hinge F1 0.825862-dir. Random Fourier Features, yəni RFF, orijinal feature-ləri qeyri-xətti məkana yaxınlaşdırır və sonra Pegasos tətbiq olunur. Bu təcrübədə RFF F1-i 0.810073 oldu, yəni linear variantdan zəifdir. Biz bunu dürüst eksperiment nəticəsi kimi təqdim edirik.</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Elmin, then Samir and Ramil</a:t>
            </a:r>
          </a:p>
          <a:p>
            <a:endParaRPr/>
          </a:p>
          <a:p>
            <a:r>
              <a:t>Bu cədvəl yalnız test nəticələridir. F1 precision və recall-un balanslı ortasıdır; ROC-AUC müxtəlif threshold-larda ayırdetmə keyfiyyətidir. Ağac klassifikasiyada daha güclüdür. Regresiyada isə xüsusilə ən bahalı 5 faiz elanlarda səhv çox yüksəlir: təxminən 773 min AZN. Qalan hissədə təxminən 49 min AZN-dir. Bu, modelin bahalı daşınmaz əmlaka ümumiləşdirməsinin zəif olduğunu göstərir. R² 0.592-dir.</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Shared</a:t>
            </a:r>
          </a:p>
          <a:p>
            <a:endParaRPr/>
          </a:p>
          <a:p>
            <a:r>
              <a:t>Samir ağacın yazılması və inteqrasiyanı, Ramil SVM və RFF hissəsini, Elmin data hazırlığını və qiymətləndirməni izah edir. Hamımız ümumi pipeline və nəticələri başa düşməliyik. Əsas nəticə budur: bizim alqoritmlər sklearn baseline-larına yaxın işləyir; RFF əlavə üstünlük vermir; qiymət regresiyası xüsusilə bahalı elanlarda zəif qalır. Növbəti addımlar daha keyfiyyətli feature-lər və güclü regresiya baseline-ları yoxlamaqdır. AI alətlərindən hazırlıqda kömək üçün istifadə olunub; nəticələr kodun yenidən işlədilməsi ilə yoxlanıb.</a:t>
            </a:r>
          </a:p>
          <a:p>
            <a:endParaRPr/>
          </a:p>
          <a:p>
            <a:r>
              <a:t>Sources: PROJECT_STATEMENT.pdf; local project files src/run_all.py and report/results.csv. Figures are generated by this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24F688F-3FA7-41B6-8771-B0BE8E141D2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41C9BF27-F6CF-43EC-9769-80A43ADA92A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49EBF43-2CCE-4829-8E1E-530CE032BB1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59A2AE7-3C40-443A-BB53-1C2E9FC204D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4C7062C3-1E93-48AE-9168-F7EE61E3920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0CC091B-95F7-4C50-ACC5-D78D077ED04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6EA0595-6727-44B0-A007-7A3AE242830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96DE2B5-5384-4353-A455-894FAC2CDB5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778459F-11C7-48BC-BC44-0BD8A7F9A1E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4CF3832-8B03-4BBD-9F43-DA9D397DB06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539"/>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FD37A9-5BEF-49AD-B511-E6B15549D4B9}"/>
              </a:ext>
            </a:extLst>
          </p:cNvPr>
          <p:cNvSpPr>
            <a:spLocks noGrp="1"/>
          </p:cNvSpPr>
          <p:nvPr/>
        </p:nvSpPr>
        <p:spPr>
          <a:xfrm>
            <a:off x="0" y="0"/>
            <a:ext cx="161925" cy="6858000"/>
          </a:xfrm>
          <a:prstGeom prst="rect">
            <a:avLst/>
          </a:prstGeom>
          <a:solidFill>
            <a:srgbClr val="087D76"/>
          </a:solidFill>
          <a:ln w="0">
            <a:noFill/>
            <a:prstDash val="solid"/>
          </a:ln>
        </p:spPr>
      </p:sp>
      <p:sp>
        <p:nvSpPr>
          <p:cNvPr id="2" name="Rectangle 1">
            <a:extLst>
              <a:ext uri="{FF2B5EF4-FFF2-40B4-BE49-F238E27FC236}">
                <a16:creationId xmlns:a16="http://schemas.microsoft.com/office/drawing/2014/main" id="{E7DF5886-239D-4DDB-BE0D-C5FBC0E27515}"/>
              </a:ext>
            </a:extLst>
          </p:cNvPr>
          <p:cNvSpPr>
            <a:spLocks noGrp="1"/>
          </p:cNvSpPr>
          <p:nvPr/>
        </p:nvSpPr>
        <p:spPr>
          <a:xfrm>
            <a:off x="647700" y="552450"/>
            <a:ext cx="5238750" cy="238125"/>
          </a:xfrm>
          <a:prstGeom prst="rect">
            <a:avLst/>
          </a:prstGeom>
          <a:noFill/>
          <a:ln w="0">
            <a:noFill/>
            <a:prstDash val="solid"/>
          </a:ln>
        </p:spPr>
        <p:txBody>
          <a:bodyPr wrap="square" lIns="0" tIns="0" rIns="0" bIns="0" anchor="t">
            <a:normAutofit/>
          </a:bodyPr>
          <a:lstStyle>
            <a:defPPr algn="l">
              <a:defRPr sz="1200" b="1">
                <a:solidFill>
                  <a:srgbClr val="86D1C4"/>
                </a:solidFill>
                <a:latin typeface="Segoe UI"/>
                <a:ea typeface="Segoe UI"/>
                <a:cs typeface="Segoe UI"/>
              </a:defRPr>
            </a:defPPr>
          </a:lstStyle>
          <a:p>
            <a:pPr algn="l">
              <a:lnSpc>
                <a:spcPct val="108000"/>
              </a:lnSpc>
              <a:buNone/>
              <a:defRPr sz="1200" b="1">
                <a:solidFill>
                  <a:srgbClr val="86D1C4"/>
                </a:solidFill>
                <a:latin typeface="Segoe UI"/>
                <a:ea typeface="Segoe UI"/>
                <a:cs typeface="Segoe UI"/>
              </a:defRPr>
            </a:pPr>
            <a:r>
              <a:rPr sz="1200" b="1">
                <a:solidFill>
                  <a:srgbClr val="86D1C4"/>
                </a:solidFill>
                <a:latin typeface="Segoe UI"/>
                <a:ea typeface="Segoe UI"/>
                <a:cs typeface="Segoe UI"/>
              </a:rPr>
              <a:t>AI ACADEMY  /  MLE-AI-201</a:t>
            </a:r>
          </a:p>
        </p:txBody>
      </p:sp>
      <p:sp>
        <p:nvSpPr>
          <p:cNvPr id="3" name="Rectangle 2">
            <a:extLst>
              <a:ext uri="{FF2B5EF4-FFF2-40B4-BE49-F238E27FC236}">
                <a16:creationId xmlns:a16="http://schemas.microsoft.com/office/drawing/2014/main" id="{E9B62D5C-E767-4FDB-82F6-7D811355B469}"/>
              </a:ext>
            </a:extLst>
          </p:cNvPr>
          <p:cNvSpPr>
            <a:spLocks noGrp="1"/>
          </p:cNvSpPr>
          <p:nvPr/>
        </p:nvSpPr>
        <p:spPr>
          <a:xfrm>
            <a:off x="647700" y="1466850"/>
            <a:ext cx="9144000" cy="1695450"/>
          </a:xfrm>
          <a:prstGeom prst="rect">
            <a:avLst/>
          </a:prstGeom>
          <a:noFill/>
          <a:ln w="0">
            <a:noFill/>
            <a:prstDash val="solid"/>
          </a:ln>
        </p:spPr>
        <p:txBody>
          <a:bodyPr wrap="square" lIns="0" tIns="0" rIns="0" bIns="0" anchor="t">
            <a:normAutofit/>
          </a:bodyPr>
          <a:lstStyle>
            <a:defPPr algn="l">
              <a:defRPr sz="4800" b="1">
                <a:solidFill>
                  <a:srgbClr val="FFFFFF"/>
                </a:solidFill>
                <a:latin typeface="Segoe UI"/>
                <a:ea typeface="Segoe UI"/>
                <a:cs typeface="Segoe UI"/>
              </a:defRPr>
            </a:defPPr>
          </a:lstStyle>
          <a:p>
            <a:pPr algn="l">
              <a:lnSpc>
                <a:spcPct val="108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Understanding</a:t>
            </a:r>
          </a:p>
          <a:p>
            <a:pPr algn="l">
              <a:lnSpc>
                <a:spcPct val="108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Bina.az sale listings</a:t>
            </a:r>
          </a:p>
        </p:txBody>
      </p:sp>
      <p:sp>
        <p:nvSpPr>
          <p:cNvPr id="4" name="Rectangle 3">
            <a:extLst>
              <a:ext uri="{FF2B5EF4-FFF2-40B4-BE49-F238E27FC236}">
                <a16:creationId xmlns:a16="http://schemas.microsoft.com/office/drawing/2014/main" id="{345AB5B1-A616-4CD5-A5B0-58B601234CEC}"/>
              </a:ext>
            </a:extLst>
          </p:cNvPr>
          <p:cNvSpPr>
            <a:spLocks noGrp="1"/>
          </p:cNvSpPr>
          <p:nvPr/>
        </p:nvSpPr>
        <p:spPr>
          <a:xfrm>
            <a:off x="666750" y="3476625"/>
            <a:ext cx="1333500" cy="47625"/>
          </a:xfrm>
          <a:prstGeom prst="rect">
            <a:avLst/>
          </a:prstGeom>
          <a:solidFill>
            <a:srgbClr val="DD9C48"/>
          </a:solidFill>
          <a:ln w="0">
            <a:noFill/>
            <a:prstDash val="solid"/>
          </a:ln>
        </p:spPr>
      </p:sp>
      <p:sp>
        <p:nvSpPr>
          <p:cNvPr id="5" name="Rectangle 4">
            <a:extLst>
              <a:ext uri="{FF2B5EF4-FFF2-40B4-BE49-F238E27FC236}">
                <a16:creationId xmlns:a16="http://schemas.microsoft.com/office/drawing/2014/main" id="{AFEB38A1-14CD-4BFE-AF4E-31247DFBF393}"/>
              </a:ext>
            </a:extLst>
          </p:cNvPr>
          <p:cNvSpPr>
            <a:spLocks noGrp="1"/>
          </p:cNvSpPr>
          <p:nvPr/>
        </p:nvSpPr>
        <p:spPr>
          <a:xfrm>
            <a:off x="647700" y="3829050"/>
            <a:ext cx="8286750" cy="400050"/>
          </a:xfrm>
          <a:prstGeom prst="rect">
            <a:avLst/>
          </a:prstGeom>
          <a:noFill/>
          <a:ln w="0">
            <a:noFill/>
            <a:prstDash val="solid"/>
          </a:ln>
        </p:spPr>
        <p:txBody>
          <a:bodyPr wrap="square" lIns="0" tIns="0" rIns="0" bIns="0" anchor="t">
            <a:normAutofit/>
          </a:bodyPr>
          <a:lstStyle>
            <a:defPPr algn="l">
              <a:defRPr sz="2175" b="0">
                <a:solidFill>
                  <a:srgbClr val="FFFFFF"/>
                </a:solidFill>
                <a:latin typeface="Segoe UI"/>
                <a:ea typeface="Segoe UI"/>
                <a:cs typeface="Segoe UI"/>
              </a:defRPr>
            </a:defPPr>
          </a:lstStyle>
          <a:p>
            <a:pPr algn="l">
              <a:lnSpc>
                <a:spcPct val="108000"/>
              </a:lnSpc>
              <a:buNone/>
              <a:defRPr sz="2175" b="0">
                <a:solidFill>
                  <a:srgbClr val="FFFFFF"/>
                </a:solidFill>
                <a:latin typeface="Segoe UI"/>
                <a:ea typeface="Segoe UI"/>
                <a:cs typeface="Segoe UI"/>
              </a:defRPr>
            </a:pPr>
            <a:r>
              <a:rPr sz="2175" b="0">
                <a:solidFill>
                  <a:srgbClr val="FFFFFF"/>
                </a:solidFill>
                <a:latin typeface="Segoe UI"/>
                <a:ea typeface="Segoe UI"/>
                <a:cs typeface="Segoe UI"/>
              </a:rPr>
              <a:t>From-scratch Decision Tree and Pegasos SVM</a:t>
            </a:r>
          </a:p>
        </p:txBody>
      </p:sp>
      <p:sp>
        <p:nvSpPr>
          <p:cNvPr id="6" name="Rectangle 5">
            <a:extLst>
              <a:ext uri="{FF2B5EF4-FFF2-40B4-BE49-F238E27FC236}">
                <a16:creationId xmlns:a16="http://schemas.microsoft.com/office/drawing/2014/main" id="{4BC2686F-4C38-49CC-853A-75F80D3ED78C}"/>
              </a:ext>
            </a:extLst>
          </p:cNvPr>
          <p:cNvSpPr>
            <a:spLocks noGrp="1"/>
          </p:cNvSpPr>
          <p:nvPr/>
        </p:nvSpPr>
        <p:spPr>
          <a:xfrm>
            <a:off x="647700" y="4343400"/>
            <a:ext cx="8191500" cy="285750"/>
          </a:xfrm>
          <a:prstGeom prst="rect">
            <a:avLst/>
          </a:prstGeom>
          <a:noFill/>
          <a:ln w="0">
            <a:noFill/>
            <a:prstDash val="solid"/>
          </a:ln>
        </p:spPr>
        <p:txBody>
          <a:bodyPr wrap="square" lIns="0" tIns="0" rIns="0" bIns="0" anchor="t">
            <a:normAutofit/>
          </a:bodyPr>
          <a:lstStyle>
            <a:defPPr algn="l">
              <a:defRPr sz="1650" b="0">
                <a:solidFill>
                  <a:srgbClr val="C8D8DE"/>
                </a:solidFill>
                <a:latin typeface="Segoe UI"/>
                <a:ea typeface="Segoe UI"/>
                <a:cs typeface="Segoe UI"/>
              </a:defRPr>
            </a:defPPr>
          </a:lstStyle>
          <a:p>
            <a:pPr algn="l">
              <a:lnSpc>
                <a:spcPct val="108000"/>
              </a:lnSpc>
              <a:buNone/>
              <a:defRPr sz="1650" b="0">
                <a:solidFill>
                  <a:srgbClr val="C8D8DE"/>
                </a:solidFill>
                <a:latin typeface="Segoe UI"/>
                <a:ea typeface="Segoe UI"/>
                <a:cs typeface="Segoe UI"/>
              </a:defRPr>
            </a:pPr>
            <a:r>
              <a:rPr sz="1650" b="0">
                <a:solidFill>
                  <a:srgbClr val="C8D8DE"/>
                </a:solidFill>
                <a:latin typeface="Segoe UI"/>
                <a:ea typeface="Segoe UI"/>
                <a:cs typeface="Segoe UI"/>
              </a:rPr>
              <a:t>Price regression and Premium listing classification</a:t>
            </a:r>
          </a:p>
        </p:txBody>
      </p:sp>
      <p:sp>
        <p:nvSpPr>
          <p:cNvPr id="7" name="Rectangle 6">
            <a:extLst>
              <a:ext uri="{FF2B5EF4-FFF2-40B4-BE49-F238E27FC236}">
                <a16:creationId xmlns:a16="http://schemas.microsoft.com/office/drawing/2014/main" id="{348DD4A0-FF94-484B-A8D3-349417F60BFE}"/>
              </a:ext>
            </a:extLst>
          </p:cNvPr>
          <p:cNvSpPr>
            <a:spLocks noGrp="1"/>
          </p:cNvSpPr>
          <p:nvPr/>
        </p:nvSpPr>
        <p:spPr>
          <a:xfrm>
            <a:off x="647700" y="5876925"/>
            <a:ext cx="10001250" cy="323850"/>
          </a:xfrm>
          <a:prstGeom prst="rect">
            <a:avLst/>
          </a:prstGeom>
          <a:noFill/>
          <a:ln w="0">
            <a:noFill/>
            <a:prstDash val="solid"/>
          </a:ln>
        </p:spPr>
        <p:txBody>
          <a:bodyPr wrap="square" lIns="0" tIns="0" rIns="0" bIns="0" anchor="t">
            <a:normAutofit/>
          </a:bodyPr>
          <a:lstStyle>
            <a:defPPr algn="l">
              <a:defRPr sz="1500" b="0">
                <a:solidFill>
                  <a:srgbClr val="D5E2E5"/>
                </a:solidFill>
                <a:latin typeface="Segoe UI"/>
                <a:ea typeface="Segoe UI"/>
                <a:cs typeface="Segoe UI"/>
              </a:defRPr>
            </a:defPPr>
          </a:lstStyle>
          <a:p>
            <a:pPr algn="l">
              <a:lnSpc>
                <a:spcPct val="108000"/>
              </a:lnSpc>
              <a:buNone/>
              <a:defRPr sz="1500" b="0">
                <a:solidFill>
                  <a:srgbClr val="D5E2E5"/>
                </a:solidFill>
                <a:latin typeface="Segoe UI"/>
                <a:ea typeface="Segoe UI"/>
                <a:cs typeface="Segoe UI"/>
              </a:defRPr>
            </a:pPr>
            <a:r>
              <a:rPr sz="1500" b="0">
                <a:solidFill>
                  <a:srgbClr val="D5E2E5"/>
                </a:solidFill>
                <a:latin typeface="Segoe UI"/>
                <a:ea typeface="Segoe UI"/>
                <a:cs typeface="Segoe UI"/>
              </a:rPr>
              <a:t>Samir Hasanov   </a:t>
            </a:r>
            <a:r>
              <a:rPr lang="en-US" sz="1500" b="0">
                <a:solidFill>
                  <a:srgbClr val="D5E2E5"/>
                </a:solidFill>
                <a:latin typeface="Segoe UI"/>
                <a:ea typeface="Segoe UI"/>
                <a:cs typeface="Segoe UI"/>
              </a:rPr>
              <a:t>Mammadaliyev Ramil</a:t>
            </a:r>
            <a:r>
              <a:rPr sz="1500" b="0">
                <a:solidFill>
                  <a:srgbClr val="D5E2E5"/>
                </a:solidFill>
                <a:latin typeface="Segoe UI"/>
                <a:ea typeface="Segoe UI"/>
                <a:cs typeface="Segoe UI"/>
              </a:rPr>
              <a:t>   Elmin Seyidov</a:t>
            </a:r>
          </a:p>
        </p:txBody>
      </p:sp>
      <p:sp>
        <p:nvSpPr>
          <p:cNvPr id="8" name="Rectangle 7">
            <a:extLst>
              <a:ext uri="{FF2B5EF4-FFF2-40B4-BE49-F238E27FC236}">
                <a16:creationId xmlns:a16="http://schemas.microsoft.com/office/drawing/2014/main" id="{CCFC38F0-4C8C-46CA-BF13-4CEFDCCB3C2F}"/>
              </a:ext>
            </a:extLst>
          </p:cNvPr>
          <p:cNvSpPr>
            <a:spLocks noGrp="1"/>
          </p:cNvSpPr>
          <p:nvPr/>
        </p:nvSpPr>
        <p:spPr>
          <a:xfrm>
            <a:off x="647700" y="6238875"/>
            <a:ext cx="2952750" cy="228600"/>
          </a:xfrm>
          <a:prstGeom prst="rect">
            <a:avLst/>
          </a:prstGeom>
          <a:noFill/>
          <a:ln w="0">
            <a:noFill/>
            <a:prstDash val="solid"/>
          </a:ln>
        </p:spPr>
        <p:txBody>
          <a:bodyPr wrap="square" lIns="0" tIns="0" rIns="0" bIns="0" anchor="t">
            <a:normAutofit/>
          </a:bodyPr>
          <a:lstStyle>
            <a:defPPr algn="l">
              <a:defRPr sz="1200" b="0">
                <a:solidFill>
                  <a:srgbClr val="9FB7BE"/>
                </a:solidFill>
                <a:latin typeface="Segoe UI"/>
                <a:ea typeface="Segoe UI"/>
                <a:cs typeface="Segoe UI"/>
              </a:defRPr>
            </a:defPPr>
          </a:lstStyle>
          <a:p>
            <a:pPr algn="l">
              <a:lnSpc>
                <a:spcPct val="108000"/>
              </a:lnSpc>
              <a:buNone/>
              <a:defRPr sz="1200" b="0">
                <a:solidFill>
                  <a:srgbClr val="9FB7BE"/>
                </a:solidFill>
                <a:latin typeface="Segoe UI"/>
                <a:ea typeface="Segoe UI"/>
                <a:cs typeface="Segoe UI"/>
              </a:defRPr>
            </a:pPr>
            <a:r>
              <a:rPr sz="1200" b="0">
                <a:solidFill>
                  <a:srgbClr val="9FB7BE"/>
                </a:solidFill>
                <a:latin typeface="Segoe UI"/>
                <a:ea typeface="Segoe UI"/>
                <a:cs typeface="Segoe UI"/>
              </a:rPr>
              <a:t>October 2026</a:t>
            </a:r>
          </a:p>
        </p:txBody>
      </p:sp>
    </p:spTree>
    <p:extLst>
      <p:ext uri="{BB962C8B-B14F-4D97-AF65-F5344CB8AC3E}">
        <p14:creationId xmlns:p14="http://schemas.microsoft.com/office/powerpoint/2010/main" val="1795455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A8F8147-9417-40FE-80A9-3E7F3CF8D658}"/>
              </a:ext>
            </a:extLst>
          </p:cNvPr>
          <p:cNvSpPr>
            <a:spLocks noGrp="1"/>
          </p:cNvSpPr>
          <p:nvPr/>
        </p:nvSpPr>
        <p:spPr>
          <a:xfrm>
            <a:off x="609600" y="304800"/>
            <a:ext cx="7143750" cy="209550"/>
          </a:xfrm>
          <a:prstGeom prst="rect">
            <a:avLst/>
          </a:prstGeom>
          <a:noFill/>
          <a:ln w="0">
            <a:noFill/>
            <a:prstDash val="solid"/>
          </a:ln>
        </p:spPr>
        <p:txBody>
          <a:bodyPr wrap="square" lIns="0" tIns="0" rIns="0" bIns="0" anchor="t">
            <a:normAutofit/>
          </a:bodyPr>
          <a:lstStyle>
            <a:defPPr algn="l">
              <a:defRPr sz="1050" b="1">
                <a:solidFill>
                  <a:srgbClr val="087D76"/>
                </a:solidFill>
                <a:latin typeface="Segoe UI"/>
                <a:ea typeface="Segoe UI"/>
                <a:cs typeface="Segoe UI"/>
              </a:defRPr>
            </a:defPPr>
          </a:lstStyle>
          <a:p>
            <a:pPr algn="l">
              <a:lnSpc>
                <a:spcPct val="108000"/>
              </a:lnSpc>
              <a:buNone/>
              <a:defRPr sz="1050" b="1">
                <a:solidFill>
                  <a:srgbClr val="087D76"/>
                </a:solidFill>
                <a:latin typeface="Segoe UI"/>
                <a:ea typeface="Segoe UI"/>
                <a:cs typeface="Segoe UI"/>
              </a:defRPr>
            </a:pPr>
            <a:r>
              <a:rPr sz="1050" b="1">
                <a:solidFill>
                  <a:srgbClr val="087D76"/>
                </a:solidFill>
                <a:latin typeface="Segoe UI"/>
                <a:ea typeface="Segoe UI"/>
                <a:cs typeface="Segoe UI"/>
              </a:rPr>
              <a:t>RESEARCH QUESTION</a:t>
            </a:r>
          </a:p>
        </p:txBody>
      </p:sp>
      <p:sp>
        <p:nvSpPr>
          <p:cNvPr id="2" name="Rectangle 1">
            <a:extLst>
              <a:ext uri="{FF2B5EF4-FFF2-40B4-BE49-F238E27FC236}">
                <a16:creationId xmlns:a16="http://schemas.microsoft.com/office/drawing/2014/main" id="{D48798C9-593C-46C3-9034-7D00F2A89FD1}"/>
              </a:ext>
            </a:extLst>
          </p:cNvPr>
          <p:cNvSpPr>
            <a:spLocks noGrp="1"/>
          </p:cNvSpPr>
          <p:nvPr/>
        </p:nvSpPr>
        <p:spPr>
          <a:xfrm>
            <a:off x="609600" y="647700"/>
            <a:ext cx="10953750" cy="647700"/>
          </a:xfrm>
          <a:prstGeom prst="rect">
            <a:avLst/>
          </a:prstGeom>
          <a:noFill/>
          <a:ln w="0">
            <a:noFill/>
            <a:prstDash val="solid"/>
          </a:ln>
        </p:spPr>
        <p:txBody>
          <a:bodyPr wrap="square" lIns="0" tIns="0" rIns="0" bIns="0" anchor="t">
            <a:normAutofit/>
          </a:bodyPr>
          <a:lstStyle>
            <a:defPPr algn="l">
              <a:defRPr sz="3075" b="1">
                <a:solidFill>
                  <a:srgbClr val="172532"/>
                </a:solidFill>
                <a:latin typeface="Segoe UI"/>
                <a:ea typeface="Segoe UI"/>
                <a:cs typeface="Segoe UI"/>
              </a:defRPr>
            </a:defPPr>
          </a:lstStyle>
          <a:p>
            <a:pPr algn="l">
              <a:lnSpc>
                <a:spcPct val="108000"/>
              </a:lnSpc>
              <a:buNone/>
              <a:defRPr sz="3075" b="1">
                <a:solidFill>
                  <a:srgbClr val="172532"/>
                </a:solidFill>
                <a:latin typeface="Segoe UI"/>
                <a:ea typeface="Segoe UI"/>
                <a:cs typeface="Segoe UI"/>
              </a:defRPr>
            </a:pPr>
            <a:r>
              <a:rPr sz="3075" b="1">
                <a:solidFill>
                  <a:srgbClr val="172532"/>
                </a:solidFill>
                <a:latin typeface="Segoe UI"/>
                <a:ea typeface="Segoe UI"/>
                <a:cs typeface="Segoe UI"/>
              </a:rPr>
              <a:t>Two questions from one dataset</a:t>
            </a:r>
          </a:p>
        </p:txBody>
      </p:sp>
      <p:sp>
        <p:nvSpPr>
          <p:cNvPr id="3" name="Rectangle 2">
            <a:extLst>
              <a:ext uri="{FF2B5EF4-FFF2-40B4-BE49-F238E27FC236}">
                <a16:creationId xmlns:a16="http://schemas.microsoft.com/office/drawing/2014/main" id="{CED15962-1F28-4C7C-B94B-FE677C712176}"/>
              </a:ext>
            </a:extLst>
          </p:cNvPr>
          <p:cNvSpPr>
            <a:spLocks noGrp="1"/>
          </p:cNvSpPr>
          <p:nvPr/>
        </p:nvSpPr>
        <p:spPr>
          <a:xfrm>
            <a:off x="609600" y="1381125"/>
            <a:ext cx="10972800" cy="19050"/>
          </a:xfrm>
          <a:prstGeom prst="rect">
            <a:avLst/>
          </a:prstGeom>
          <a:solidFill>
            <a:srgbClr val="E8EAE7"/>
          </a:solidFill>
          <a:ln w="0">
            <a:noFill/>
            <a:prstDash val="solid"/>
          </a:ln>
        </p:spPr>
      </p:sp>
      <p:sp>
        <p:nvSpPr>
          <p:cNvPr id="4" name="Rectangle 3">
            <a:extLst>
              <a:ext uri="{FF2B5EF4-FFF2-40B4-BE49-F238E27FC236}">
                <a16:creationId xmlns:a16="http://schemas.microsoft.com/office/drawing/2014/main" id="{4C6773D7-A9E4-445E-894D-7E6586B56B03}"/>
              </a:ext>
            </a:extLst>
          </p:cNvPr>
          <p:cNvSpPr>
            <a:spLocks noGrp="1"/>
          </p:cNvSpPr>
          <p:nvPr/>
        </p:nvSpPr>
        <p:spPr>
          <a:xfrm>
            <a:off x="609600" y="6448425"/>
            <a:ext cx="4762500" cy="171450"/>
          </a:xfrm>
          <a:prstGeom prst="rect">
            <a:avLst/>
          </a:prstGeom>
          <a:noFill/>
          <a:ln w="0">
            <a:noFill/>
            <a:prstDash val="solid"/>
          </a:ln>
        </p:spPr>
        <p:txBody>
          <a:bodyPr wrap="square" lIns="0" tIns="0" rIns="0" bIns="0" anchor="t">
            <a:normAutofit/>
          </a:bodyPr>
          <a:lstStyle>
            <a:defPPr algn="l">
              <a:defRPr sz="975" b="0">
                <a:solidFill>
                  <a:srgbClr val="53616A"/>
                </a:solidFill>
                <a:latin typeface="Segoe UI"/>
                <a:ea typeface="Segoe UI"/>
                <a:cs typeface="Segoe UI"/>
              </a:defRPr>
            </a:defPPr>
          </a:lstStyle>
          <a:p>
            <a:pPr algn="l">
              <a:lnSpc>
                <a:spcPct val="108000"/>
              </a:lnSpc>
              <a:buNone/>
              <a:defRPr sz="975" b="0">
                <a:solidFill>
                  <a:srgbClr val="53616A"/>
                </a:solidFill>
                <a:latin typeface="Segoe UI"/>
                <a:ea typeface="Segoe UI"/>
                <a:cs typeface="Segoe UI"/>
              </a:defRPr>
            </a:pPr>
            <a:r>
              <a:rPr sz="975" b="0">
                <a:solidFill>
                  <a:srgbClr val="53616A"/>
                </a:solidFill>
                <a:latin typeface="Segoe UI"/>
                <a:ea typeface="Segoe UI"/>
                <a:cs typeface="Segoe UI"/>
              </a:rPr>
              <a:t>AI Academy  /  MLE-AI-201</a:t>
            </a:r>
          </a:p>
        </p:txBody>
      </p:sp>
      <p:sp>
        <p:nvSpPr>
          <p:cNvPr id="5" name="Rectangle 4">
            <a:extLst>
              <a:ext uri="{FF2B5EF4-FFF2-40B4-BE49-F238E27FC236}">
                <a16:creationId xmlns:a16="http://schemas.microsoft.com/office/drawing/2014/main" id="{E73F2526-BE1B-43F3-A06A-D4E0ABC260CF}"/>
              </a:ext>
            </a:extLst>
          </p:cNvPr>
          <p:cNvSpPr>
            <a:spLocks noGrp="1"/>
          </p:cNvSpPr>
          <p:nvPr/>
        </p:nvSpPr>
        <p:spPr>
          <a:xfrm>
            <a:off x="11049000" y="6429375"/>
            <a:ext cx="571500" cy="209550"/>
          </a:xfrm>
          <a:prstGeom prst="rect">
            <a:avLst/>
          </a:prstGeom>
          <a:noFill/>
          <a:ln w="0">
            <a:noFill/>
            <a:prstDash val="solid"/>
          </a:ln>
        </p:spPr>
        <p:txBody>
          <a:bodyPr wrap="square" lIns="0" tIns="0" rIns="0" bIns="0" anchor="t">
            <a:normAutofit/>
          </a:bodyPr>
          <a:lstStyle>
            <a:defPPr algn="r">
              <a:defRPr sz="1050" b="1">
                <a:solidFill>
                  <a:srgbClr val="53616A"/>
                </a:solidFill>
                <a:latin typeface="Segoe UI"/>
                <a:ea typeface="Segoe UI"/>
                <a:cs typeface="Segoe UI"/>
              </a:defRPr>
            </a:defPPr>
          </a:lstStyle>
          <a:p>
            <a:pPr algn="r">
              <a:lnSpc>
                <a:spcPct val="108000"/>
              </a:lnSpc>
              <a:buNone/>
              <a:defRPr sz="1050" b="1">
                <a:solidFill>
                  <a:srgbClr val="53616A"/>
                </a:solidFill>
                <a:latin typeface="Segoe UI"/>
                <a:ea typeface="Segoe UI"/>
                <a:cs typeface="Segoe UI"/>
              </a:defRPr>
            </a:pPr>
            <a:r>
              <a:rPr sz="1050" b="1">
                <a:solidFill>
                  <a:srgbClr val="53616A"/>
                </a:solidFill>
                <a:latin typeface="Segoe UI"/>
                <a:ea typeface="Segoe UI"/>
                <a:cs typeface="Segoe UI"/>
              </a:rPr>
              <a:t>02</a:t>
            </a:r>
          </a:p>
        </p:txBody>
      </p:sp>
      <p:sp>
        <p:nvSpPr>
          <p:cNvPr id="6" name="Rectangle 5">
            <a:extLst>
              <a:ext uri="{FF2B5EF4-FFF2-40B4-BE49-F238E27FC236}">
                <a16:creationId xmlns:a16="http://schemas.microsoft.com/office/drawing/2014/main" id="{B63698C7-4E06-432D-BB9B-322A02D3F6E1}"/>
              </a:ext>
            </a:extLst>
          </p:cNvPr>
          <p:cNvSpPr>
            <a:spLocks noGrp="1"/>
          </p:cNvSpPr>
          <p:nvPr/>
        </p:nvSpPr>
        <p:spPr>
          <a:xfrm>
            <a:off x="609600" y="1724025"/>
            <a:ext cx="10001250" cy="514350"/>
          </a:xfrm>
          <a:prstGeom prst="rect">
            <a:avLst/>
          </a:prstGeom>
          <a:noFill/>
          <a:ln w="0">
            <a:noFill/>
            <a:prstDash val="solid"/>
          </a:ln>
        </p:spPr>
        <p:txBody>
          <a:bodyPr wrap="square" lIns="0" tIns="0" rIns="0" bIns="0" anchor="t">
            <a:normAutofit/>
          </a:bodyPr>
          <a:lstStyle>
            <a:defPPr algn="l">
              <a:defRPr sz="1950" b="0">
                <a:solidFill>
                  <a:srgbClr val="172532"/>
                </a:solidFill>
                <a:latin typeface="Segoe UI"/>
                <a:ea typeface="Segoe UI"/>
                <a:cs typeface="Segoe UI"/>
              </a:defRPr>
            </a:defPPr>
          </a:lstStyle>
          <a:p>
            <a:pPr algn="l">
              <a:lnSpc>
                <a:spcPct val="108000"/>
              </a:lnSpc>
              <a:buNone/>
              <a:defRPr sz="1950" b="0">
                <a:solidFill>
                  <a:srgbClr val="172532"/>
                </a:solidFill>
                <a:latin typeface="Segoe UI"/>
                <a:ea typeface="Segoe UI"/>
                <a:cs typeface="Segoe UI"/>
              </a:defRPr>
            </a:pPr>
            <a:r>
              <a:rPr sz="1950" b="0">
                <a:solidFill>
                  <a:srgbClr val="172532"/>
                </a:solidFill>
                <a:latin typeface="Segoe UI"/>
                <a:ea typeface="Segoe UI"/>
                <a:cs typeface="Segoe UI"/>
              </a:rPr>
              <a:t>Bina.az sale listings contain property details and the asking price.</a:t>
            </a:r>
          </a:p>
        </p:txBody>
      </p:sp>
      <p:sp>
        <p:nvSpPr>
          <p:cNvPr id="7" name="Rectangle: Rounded Corners 6">
            <a:extLst>
              <a:ext uri="{FF2B5EF4-FFF2-40B4-BE49-F238E27FC236}">
                <a16:creationId xmlns:a16="http://schemas.microsoft.com/office/drawing/2014/main" id="{6573AE75-041E-408D-B839-E6B23A61179E}"/>
              </a:ext>
            </a:extLst>
          </p:cNvPr>
          <p:cNvSpPr>
            <a:spLocks noGrp="1"/>
          </p:cNvSpPr>
          <p:nvPr/>
        </p:nvSpPr>
        <p:spPr>
          <a:xfrm>
            <a:off x="609600" y="2466975"/>
            <a:ext cx="5210175" cy="2476500"/>
          </a:xfrm>
          <a:prstGeom prst="roundRect">
            <a:avLst>
              <a:gd name="adj" fmla="val 3077"/>
            </a:avLst>
          </a:prstGeom>
          <a:solidFill>
            <a:srgbClr val="FFFFFF"/>
          </a:solidFill>
          <a:ln w="9525">
            <a:solidFill>
              <a:srgbClr val="E8EAE7"/>
            </a:solidFill>
            <a:prstDash val="solid"/>
          </a:ln>
        </p:spPr>
      </p:sp>
      <p:sp>
        <p:nvSpPr>
          <p:cNvPr id="8" name="Rectangle: Rounded Corners 7">
            <a:extLst>
              <a:ext uri="{FF2B5EF4-FFF2-40B4-BE49-F238E27FC236}">
                <a16:creationId xmlns:a16="http://schemas.microsoft.com/office/drawing/2014/main" id="{436403C9-AECE-4B52-85C9-A9FAB3A42689}"/>
              </a:ext>
            </a:extLst>
          </p:cNvPr>
          <p:cNvSpPr>
            <a:spLocks noGrp="1"/>
          </p:cNvSpPr>
          <p:nvPr/>
        </p:nvSpPr>
        <p:spPr>
          <a:xfrm>
            <a:off x="857250" y="2705100"/>
            <a:ext cx="1466850" cy="304800"/>
          </a:xfrm>
          <a:prstGeom prst="roundRect">
            <a:avLst>
              <a:gd name="adj" fmla="val 25000"/>
            </a:avLst>
          </a:prstGeom>
          <a:solidFill>
            <a:srgbClr val="DCECE7"/>
          </a:solidFill>
          <a:ln w="0">
            <a:noFill/>
            <a:prstDash val="solid"/>
          </a:ln>
        </p:spPr>
      </p:sp>
      <p:sp>
        <p:nvSpPr>
          <p:cNvPr id="9" name="Rectangle 8">
            <a:extLst>
              <a:ext uri="{FF2B5EF4-FFF2-40B4-BE49-F238E27FC236}">
                <a16:creationId xmlns:a16="http://schemas.microsoft.com/office/drawing/2014/main" id="{0976C7B7-47DD-4878-9958-7C8015054219}"/>
              </a:ext>
            </a:extLst>
          </p:cNvPr>
          <p:cNvSpPr>
            <a:spLocks noGrp="1"/>
          </p:cNvSpPr>
          <p:nvPr/>
        </p:nvSpPr>
        <p:spPr>
          <a:xfrm>
            <a:off x="971550" y="2762250"/>
            <a:ext cx="1238250" cy="190500"/>
          </a:xfrm>
          <a:prstGeom prst="rect">
            <a:avLst/>
          </a:prstGeom>
          <a:noFill/>
          <a:ln w="0">
            <a:noFill/>
            <a:prstDash val="solid"/>
          </a:ln>
        </p:spPr>
        <p:txBody>
          <a:bodyPr wrap="square" lIns="0" tIns="0" rIns="0" bIns="0" anchor="t">
            <a:normAutofit/>
          </a:bodyPr>
          <a:lstStyle>
            <a:defPPr algn="l">
              <a:defRPr sz="1125" b="1">
                <a:solidFill>
                  <a:srgbClr val="087D76"/>
                </a:solidFill>
                <a:latin typeface="Segoe UI"/>
                <a:ea typeface="Segoe UI"/>
                <a:cs typeface="Segoe UI"/>
              </a:defRPr>
            </a:defPPr>
          </a:lstStyle>
          <a:p>
            <a:pPr algn="l">
              <a:lnSpc>
                <a:spcPct val="108000"/>
              </a:lnSpc>
              <a:buNone/>
              <a:defRPr sz="1125" b="1">
                <a:solidFill>
                  <a:srgbClr val="087D76"/>
                </a:solidFill>
                <a:latin typeface="Segoe UI"/>
                <a:ea typeface="Segoe UI"/>
                <a:cs typeface="Segoe UI"/>
              </a:defRPr>
            </a:pPr>
            <a:r>
              <a:rPr sz="1125" b="1">
                <a:solidFill>
                  <a:srgbClr val="087D76"/>
                </a:solidFill>
                <a:latin typeface="Segoe UI"/>
                <a:ea typeface="Segoe UI"/>
                <a:cs typeface="Segoe UI"/>
              </a:rPr>
              <a:t>REGRESSION</a:t>
            </a:r>
          </a:p>
        </p:txBody>
      </p:sp>
      <p:sp>
        <p:nvSpPr>
          <p:cNvPr id="10" name="Rectangle 9">
            <a:extLst>
              <a:ext uri="{FF2B5EF4-FFF2-40B4-BE49-F238E27FC236}">
                <a16:creationId xmlns:a16="http://schemas.microsoft.com/office/drawing/2014/main" id="{2B7CF645-061B-4F34-956A-5E223CD216F5}"/>
              </a:ext>
            </a:extLst>
          </p:cNvPr>
          <p:cNvSpPr>
            <a:spLocks noGrp="1"/>
          </p:cNvSpPr>
          <p:nvPr/>
        </p:nvSpPr>
        <p:spPr>
          <a:xfrm>
            <a:off x="857250" y="3209925"/>
            <a:ext cx="4572000" cy="476250"/>
          </a:xfrm>
          <a:prstGeom prst="rect">
            <a:avLst/>
          </a:prstGeom>
          <a:noFill/>
          <a:ln w="0">
            <a:noFill/>
            <a:prstDash val="solid"/>
          </a:ln>
        </p:spPr>
        <p:txBody>
          <a:bodyPr wrap="square" lIns="0" tIns="0" rIns="0" bIns="0" anchor="t">
            <a:normAutofit/>
          </a:bodyPr>
          <a:lstStyle>
            <a:defPPr algn="l">
              <a:defRPr sz="2850" b="1">
                <a:solidFill>
                  <a:srgbClr val="172532"/>
                </a:solidFill>
                <a:latin typeface="Segoe UI"/>
                <a:ea typeface="Segoe UI"/>
                <a:cs typeface="Segoe UI"/>
              </a:defRPr>
            </a:defPPr>
          </a:lstStyle>
          <a:p>
            <a:pPr algn="l">
              <a:lnSpc>
                <a:spcPct val="108000"/>
              </a:lnSpc>
              <a:buNone/>
              <a:defRPr sz="2850" b="1">
                <a:solidFill>
                  <a:srgbClr val="172532"/>
                </a:solidFill>
                <a:latin typeface="Segoe UI"/>
                <a:ea typeface="Segoe UI"/>
                <a:cs typeface="Segoe UI"/>
              </a:defRPr>
            </a:pPr>
            <a:r>
              <a:rPr sz="2850" b="1">
                <a:solidFill>
                  <a:srgbClr val="172532"/>
                </a:solidFill>
                <a:latin typeface="Segoe UI"/>
                <a:ea typeface="Segoe UI"/>
                <a:cs typeface="Segoe UI"/>
              </a:rPr>
              <a:t>How much?</a:t>
            </a:r>
          </a:p>
        </p:txBody>
      </p:sp>
      <p:sp>
        <p:nvSpPr>
          <p:cNvPr id="11" name="Rectangle 10">
            <a:extLst>
              <a:ext uri="{FF2B5EF4-FFF2-40B4-BE49-F238E27FC236}">
                <a16:creationId xmlns:a16="http://schemas.microsoft.com/office/drawing/2014/main" id="{DD78365D-DE04-4744-8668-D14BD23D5C83}"/>
              </a:ext>
            </a:extLst>
          </p:cNvPr>
          <p:cNvSpPr>
            <a:spLocks noGrp="1"/>
          </p:cNvSpPr>
          <p:nvPr/>
        </p:nvSpPr>
        <p:spPr>
          <a:xfrm>
            <a:off x="857250" y="3848100"/>
            <a:ext cx="4429125" cy="400050"/>
          </a:xfrm>
          <a:prstGeom prst="rect">
            <a:avLst/>
          </a:prstGeom>
          <a:noFill/>
          <a:ln w="0">
            <a:noFill/>
            <a:prstDash val="solid"/>
          </a:ln>
        </p:spPr>
        <p:txBody>
          <a:bodyPr wrap="square" lIns="0" tIns="0" rIns="0" bIns="0" anchor="t">
            <a:normAutofit/>
          </a:bodyPr>
          <a:lstStyle>
            <a:defPPr algn="l">
              <a:defRPr sz="1725" b="0">
                <a:solidFill>
                  <a:srgbClr val="53616A"/>
                </a:solidFill>
                <a:latin typeface="Segoe UI"/>
                <a:ea typeface="Segoe UI"/>
                <a:cs typeface="Segoe UI"/>
              </a:defRPr>
            </a:defPPr>
          </a:lstStyle>
          <a:p>
            <a:pPr algn="l">
              <a:lnSpc>
                <a:spcPct val="108000"/>
              </a:lnSpc>
              <a:buNone/>
              <a:defRPr sz="1725" b="0">
                <a:solidFill>
                  <a:srgbClr val="53616A"/>
                </a:solidFill>
                <a:latin typeface="Segoe UI"/>
                <a:ea typeface="Segoe UI"/>
                <a:cs typeface="Segoe UI"/>
              </a:defRPr>
            </a:pPr>
            <a:r>
              <a:rPr sz="1725" b="0">
                <a:solidFill>
                  <a:srgbClr val="53616A"/>
                </a:solidFill>
                <a:latin typeface="Segoe UI"/>
                <a:ea typeface="Segoe UI"/>
                <a:cs typeface="Segoe UI"/>
              </a:rPr>
              <a:t>Predict the listing price in AZN.</a:t>
            </a:r>
          </a:p>
        </p:txBody>
      </p:sp>
      <p:sp>
        <p:nvSpPr>
          <p:cNvPr id="12" name="Rectangle: Rounded Corners 11">
            <a:extLst>
              <a:ext uri="{FF2B5EF4-FFF2-40B4-BE49-F238E27FC236}">
                <a16:creationId xmlns:a16="http://schemas.microsoft.com/office/drawing/2014/main" id="{0C02830F-24CD-4580-8E44-929ACBCE233D}"/>
              </a:ext>
            </a:extLst>
          </p:cNvPr>
          <p:cNvSpPr>
            <a:spLocks noGrp="1"/>
          </p:cNvSpPr>
          <p:nvPr/>
        </p:nvSpPr>
        <p:spPr>
          <a:xfrm>
            <a:off x="6067425" y="2466975"/>
            <a:ext cx="5210175" cy="2476500"/>
          </a:xfrm>
          <a:prstGeom prst="roundRect">
            <a:avLst>
              <a:gd name="adj" fmla="val 3077"/>
            </a:avLst>
          </a:prstGeom>
          <a:solidFill>
            <a:srgbClr val="FFFFFF"/>
          </a:solidFill>
          <a:ln w="9525">
            <a:solidFill>
              <a:srgbClr val="E8EAE7"/>
            </a:solidFill>
            <a:prstDash val="solid"/>
          </a:ln>
        </p:spPr>
      </p:sp>
      <p:sp>
        <p:nvSpPr>
          <p:cNvPr id="13" name="Rectangle: Rounded Corners 12">
            <a:extLst>
              <a:ext uri="{FF2B5EF4-FFF2-40B4-BE49-F238E27FC236}">
                <a16:creationId xmlns:a16="http://schemas.microsoft.com/office/drawing/2014/main" id="{060F8C3E-8165-49A0-8186-32455F271050}"/>
              </a:ext>
            </a:extLst>
          </p:cNvPr>
          <p:cNvSpPr>
            <a:spLocks noGrp="1"/>
          </p:cNvSpPr>
          <p:nvPr/>
        </p:nvSpPr>
        <p:spPr>
          <a:xfrm>
            <a:off x="6315075" y="2705100"/>
            <a:ext cx="1838325" cy="304800"/>
          </a:xfrm>
          <a:prstGeom prst="roundRect">
            <a:avLst>
              <a:gd name="adj" fmla="val 25000"/>
            </a:avLst>
          </a:prstGeom>
          <a:solidFill>
            <a:srgbClr val="DCECE7"/>
          </a:solidFill>
          <a:ln w="0">
            <a:noFill/>
            <a:prstDash val="solid"/>
          </a:ln>
        </p:spPr>
      </p:sp>
      <p:sp>
        <p:nvSpPr>
          <p:cNvPr id="14" name="Rectangle 13">
            <a:extLst>
              <a:ext uri="{FF2B5EF4-FFF2-40B4-BE49-F238E27FC236}">
                <a16:creationId xmlns:a16="http://schemas.microsoft.com/office/drawing/2014/main" id="{E5726B62-A02F-454A-9E66-1EB9D122ACF3}"/>
              </a:ext>
            </a:extLst>
          </p:cNvPr>
          <p:cNvSpPr>
            <a:spLocks noGrp="1"/>
          </p:cNvSpPr>
          <p:nvPr/>
        </p:nvSpPr>
        <p:spPr>
          <a:xfrm>
            <a:off x="6429375" y="2762250"/>
            <a:ext cx="1609725" cy="190500"/>
          </a:xfrm>
          <a:prstGeom prst="rect">
            <a:avLst/>
          </a:prstGeom>
          <a:noFill/>
          <a:ln w="0">
            <a:noFill/>
            <a:prstDash val="solid"/>
          </a:ln>
        </p:spPr>
        <p:txBody>
          <a:bodyPr wrap="square" lIns="0" tIns="0" rIns="0" bIns="0" anchor="t">
            <a:normAutofit/>
          </a:bodyPr>
          <a:lstStyle>
            <a:defPPr algn="l">
              <a:defRPr sz="1125" b="1">
                <a:solidFill>
                  <a:srgbClr val="087D76"/>
                </a:solidFill>
                <a:latin typeface="Segoe UI"/>
                <a:ea typeface="Segoe UI"/>
                <a:cs typeface="Segoe UI"/>
              </a:defRPr>
            </a:defPPr>
          </a:lstStyle>
          <a:p>
            <a:pPr algn="l">
              <a:lnSpc>
                <a:spcPct val="108000"/>
              </a:lnSpc>
              <a:buNone/>
              <a:defRPr sz="1125" b="1">
                <a:solidFill>
                  <a:srgbClr val="087D76"/>
                </a:solidFill>
                <a:latin typeface="Segoe UI"/>
                <a:ea typeface="Segoe UI"/>
                <a:cs typeface="Segoe UI"/>
              </a:defRPr>
            </a:pPr>
            <a:r>
              <a:rPr sz="1125" b="1">
                <a:solidFill>
                  <a:srgbClr val="087D76"/>
                </a:solidFill>
                <a:latin typeface="Segoe UI"/>
                <a:ea typeface="Segoe UI"/>
                <a:cs typeface="Segoe UI"/>
              </a:rPr>
              <a:t>CLASSIFICATION</a:t>
            </a:r>
          </a:p>
        </p:txBody>
      </p:sp>
      <p:sp>
        <p:nvSpPr>
          <p:cNvPr id="15" name="Rectangle 14">
            <a:extLst>
              <a:ext uri="{FF2B5EF4-FFF2-40B4-BE49-F238E27FC236}">
                <a16:creationId xmlns:a16="http://schemas.microsoft.com/office/drawing/2014/main" id="{0A52F39C-D4BD-4124-B76B-E878C6384129}"/>
              </a:ext>
            </a:extLst>
          </p:cNvPr>
          <p:cNvSpPr>
            <a:spLocks noGrp="1"/>
          </p:cNvSpPr>
          <p:nvPr/>
        </p:nvSpPr>
        <p:spPr>
          <a:xfrm>
            <a:off x="6315075" y="3209925"/>
            <a:ext cx="4629150" cy="476250"/>
          </a:xfrm>
          <a:prstGeom prst="rect">
            <a:avLst/>
          </a:prstGeom>
          <a:noFill/>
          <a:ln w="0">
            <a:noFill/>
            <a:prstDash val="solid"/>
          </a:ln>
        </p:spPr>
        <p:txBody>
          <a:bodyPr wrap="square" lIns="0" tIns="0" rIns="0" bIns="0" anchor="t">
            <a:normAutofit/>
          </a:bodyPr>
          <a:lstStyle>
            <a:defPPr algn="l">
              <a:defRPr sz="2625" b="1">
                <a:solidFill>
                  <a:srgbClr val="172532"/>
                </a:solidFill>
                <a:latin typeface="Segoe UI"/>
                <a:ea typeface="Segoe UI"/>
                <a:cs typeface="Segoe UI"/>
              </a:defRPr>
            </a:defPPr>
          </a:lstStyle>
          <a:p>
            <a:pPr algn="l">
              <a:lnSpc>
                <a:spcPct val="108000"/>
              </a:lnSpc>
              <a:buNone/>
              <a:defRPr sz="2625" b="1">
                <a:solidFill>
                  <a:srgbClr val="172532"/>
                </a:solidFill>
                <a:latin typeface="Segoe UI"/>
                <a:ea typeface="Segoe UI"/>
                <a:cs typeface="Segoe UI"/>
              </a:defRPr>
            </a:pPr>
            <a:r>
              <a:rPr sz="2625" b="1">
                <a:solidFill>
                  <a:srgbClr val="172532"/>
                </a:solidFill>
                <a:latin typeface="Segoe UI"/>
                <a:ea typeface="Segoe UI"/>
                <a:cs typeface="Segoe UI"/>
              </a:rPr>
              <a:t>Premium or Standard?</a:t>
            </a:r>
          </a:p>
        </p:txBody>
      </p:sp>
      <p:sp>
        <p:nvSpPr>
          <p:cNvPr id="16" name="Rectangle 15">
            <a:extLst>
              <a:ext uri="{FF2B5EF4-FFF2-40B4-BE49-F238E27FC236}">
                <a16:creationId xmlns:a16="http://schemas.microsoft.com/office/drawing/2014/main" id="{E12CE952-4AF3-46CC-BD17-E013B7778453}"/>
              </a:ext>
            </a:extLst>
          </p:cNvPr>
          <p:cNvSpPr>
            <a:spLocks noGrp="1"/>
          </p:cNvSpPr>
          <p:nvPr/>
        </p:nvSpPr>
        <p:spPr>
          <a:xfrm>
            <a:off x="6315075" y="3848100"/>
            <a:ext cx="4581525" cy="809625"/>
          </a:xfrm>
          <a:prstGeom prst="rect">
            <a:avLst/>
          </a:prstGeom>
          <a:noFill/>
          <a:ln w="0">
            <a:noFill/>
            <a:prstDash val="solid"/>
          </a:ln>
        </p:spPr>
        <p:txBody>
          <a:bodyPr wrap="square" lIns="0" tIns="0" rIns="0" bIns="0" anchor="t">
            <a:normAutofit/>
          </a:bodyPr>
          <a:lstStyle>
            <a:defPPr algn="l">
              <a:defRPr sz="1650" b="0">
                <a:solidFill>
                  <a:srgbClr val="53616A"/>
                </a:solidFill>
                <a:latin typeface="Segoe UI"/>
                <a:ea typeface="Segoe UI"/>
                <a:cs typeface="Segoe UI"/>
              </a:defRPr>
            </a:defPPr>
          </a:lstStyle>
          <a:p>
            <a:pPr algn="l">
              <a:lnSpc>
                <a:spcPct val="108000"/>
              </a:lnSpc>
              <a:buNone/>
              <a:defRPr sz="1650" b="0">
                <a:solidFill>
                  <a:srgbClr val="53616A"/>
                </a:solidFill>
                <a:latin typeface="Segoe UI"/>
                <a:ea typeface="Segoe UI"/>
                <a:cs typeface="Segoe UI"/>
              </a:defRPr>
            </a:pPr>
            <a:r>
              <a:rPr sz="1650" b="0">
                <a:solidFill>
                  <a:srgbClr val="53616A"/>
                </a:solidFill>
                <a:latin typeface="Segoe UI"/>
                <a:ea typeface="Segoe UI"/>
                <a:cs typeface="Segoe UI"/>
              </a:rPr>
              <a:t>Premium means price above the training median: 210,000 AZN.</a:t>
            </a:r>
          </a:p>
        </p:txBody>
      </p:sp>
      <p:sp>
        <p:nvSpPr>
          <p:cNvPr id="17" name="Rectangle 16">
            <a:extLst>
              <a:ext uri="{FF2B5EF4-FFF2-40B4-BE49-F238E27FC236}">
                <a16:creationId xmlns:a16="http://schemas.microsoft.com/office/drawing/2014/main" id="{CAC22DB1-B8FB-4DAC-9D90-513332AEAA0F}"/>
              </a:ext>
            </a:extLst>
          </p:cNvPr>
          <p:cNvSpPr>
            <a:spLocks noGrp="1"/>
          </p:cNvSpPr>
          <p:nvPr/>
        </p:nvSpPr>
        <p:spPr>
          <a:xfrm>
            <a:off x="609600" y="5295900"/>
            <a:ext cx="10287000" cy="676275"/>
          </a:xfrm>
          <a:prstGeom prst="rect">
            <a:avLst/>
          </a:prstGeom>
          <a:noFill/>
          <a:ln w="0">
            <a:noFill/>
            <a:prstDash val="solid"/>
          </a:ln>
        </p:spPr>
        <p:txBody>
          <a:bodyPr wrap="square" lIns="0" tIns="0" rIns="0" bIns="0" anchor="t">
            <a:normAutofit/>
          </a:bodyPr>
          <a:lstStyle>
            <a:defPPr algn="l">
              <a:defRPr sz="1800" b="1">
                <a:solidFill>
                  <a:srgbClr val="087D76"/>
                </a:solidFill>
                <a:latin typeface="Segoe UI"/>
                <a:ea typeface="Segoe UI"/>
                <a:cs typeface="Segoe UI"/>
              </a:defRPr>
            </a:defPPr>
          </a:lstStyle>
          <a:p>
            <a:pPr algn="l">
              <a:lnSpc>
                <a:spcPct val="108000"/>
              </a:lnSpc>
              <a:buNone/>
              <a:defRPr sz="1800" b="1">
                <a:solidFill>
                  <a:srgbClr val="087D76"/>
                </a:solidFill>
                <a:latin typeface="Segoe UI"/>
                <a:ea typeface="Segoe UI"/>
                <a:cs typeface="Segoe UI"/>
              </a:defRPr>
            </a:pPr>
            <a:r>
              <a:rPr sz="1800" b="1">
                <a:solidFill>
                  <a:srgbClr val="087D76"/>
                </a:solidFill>
                <a:latin typeface="Segoe UI"/>
                <a:ea typeface="Segoe UI"/>
                <a:cs typeface="Segoe UI"/>
              </a:rPr>
              <a:t>Goal: implement the algorithms ourselves, then compare them with sklearn reference models.</a:t>
            </a:r>
          </a:p>
        </p:txBody>
      </p:sp>
    </p:spTree>
    <p:extLst>
      <p:ext uri="{BB962C8B-B14F-4D97-AF65-F5344CB8AC3E}">
        <p14:creationId xmlns:p14="http://schemas.microsoft.com/office/powerpoint/2010/main" val="1453931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981C014-4F2D-4C92-B654-2C740635795F}"/>
              </a:ext>
            </a:extLst>
          </p:cNvPr>
          <p:cNvSpPr>
            <a:spLocks noGrp="1"/>
          </p:cNvSpPr>
          <p:nvPr/>
        </p:nvSpPr>
        <p:spPr>
          <a:xfrm>
            <a:off x="609600" y="304800"/>
            <a:ext cx="7143750" cy="209550"/>
          </a:xfrm>
          <a:prstGeom prst="rect">
            <a:avLst/>
          </a:prstGeom>
          <a:noFill/>
          <a:ln w="0">
            <a:noFill/>
            <a:prstDash val="solid"/>
          </a:ln>
        </p:spPr>
        <p:txBody>
          <a:bodyPr wrap="square" lIns="0" tIns="0" rIns="0" bIns="0" anchor="t">
            <a:normAutofit/>
          </a:bodyPr>
          <a:lstStyle>
            <a:defPPr algn="l">
              <a:defRPr sz="1050" b="1">
                <a:solidFill>
                  <a:srgbClr val="087D76"/>
                </a:solidFill>
                <a:latin typeface="Segoe UI"/>
                <a:ea typeface="Segoe UI"/>
                <a:cs typeface="Segoe UI"/>
              </a:defRPr>
            </a:defPPr>
          </a:lstStyle>
          <a:p>
            <a:pPr algn="l">
              <a:lnSpc>
                <a:spcPct val="108000"/>
              </a:lnSpc>
              <a:buNone/>
              <a:defRPr sz="1050" b="1">
                <a:solidFill>
                  <a:srgbClr val="087D76"/>
                </a:solidFill>
                <a:latin typeface="Segoe UI"/>
                <a:ea typeface="Segoe UI"/>
                <a:cs typeface="Segoe UI"/>
              </a:defRPr>
            </a:pPr>
            <a:r>
              <a:rPr sz="1050" b="1">
                <a:solidFill>
                  <a:srgbClr val="087D76"/>
                </a:solidFill>
                <a:latin typeface="Segoe UI"/>
                <a:ea typeface="Segoe UI"/>
                <a:cs typeface="Segoe UI"/>
              </a:rPr>
              <a:t>DATA PREPARATION</a:t>
            </a:r>
          </a:p>
        </p:txBody>
      </p:sp>
      <p:sp>
        <p:nvSpPr>
          <p:cNvPr id="2" name="Rectangle 1">
            <a:extLst>
              <a:ext uri="{FF2B5EF4-FFF2-40B4-BE49-F238E27FC236}">
                <a16:creationId xmlns:a16="http://schemas.microsoft.com/office/drawing/2014/main" id="{EEF2B53F-94E1-4954-8DDA-F07625D762E9}"/>
              </a:ext>
            </a:extLst>
          </p:cNvPr>
          <p:cNvSpPr>
            <a:spLocks noGrp="1"/>
          </p:cNvSpPr>
          <p:nvPr/>
        </p:nvSpPr>
        <p:spPr>
          <a:xfrm>
            <a:off x="609600" y="647700"/>
            <a:ext cx="10953750" cy="647700"/>
          </a:xfrm>
          <a:prstGeom prst="rect">
            <a:avLst/>
          </a:prstGeom>
          <a:noFill/>
          <a:ln w="0">
            <a:noFill/>
            <a:prstDash val="solid"/>
          </a:ln>
        </p:spPr>
        <p:txBody>
          <a:bodyPr wrap="square" lIns="0" tIns="0" rIns="0" bIns="0" anchor="t">
            <a:normAutofit/>
          </a:bodyPr>
          <a:lstStyle>
            <a:defPPr algn="l">
              <a:defRPr sz="3075" b="1">
                <a:solidFill>
                  <a:srgbClr val="172532"/>
                </a:solidFill>
                <a:latin typeface="Segoe UI"/>
                <a:ea typeface="Segoe UI"/>
                <a:cs typeface="Segoe UI"/>
              </a:defRPr>
            </a:defPPr>
          </a:lstStyle>
          <a:p>
            <a:pPr algn="l">
              <a:lnSpc>
                <a:spcPct val="108000"/>
              </a:lnSpc>
              <a:buNone/>
              <a:defRPr sz="3075" b="1">
                <a:solidFill>
                  <a:srgbClr val="172532"/>
                </a:solidFill>
                <a:latin typeface="Segoe UI"/>
                <a:ea typeface="Segoe UI"/>
                <a:cs typeface="Segoe UI"/>
              </a:defRPr>
            </a:pPr>
            <a:r>
              <a:rPr sz="3075" b="1">
                <a:solidFill>
                  <a:srgbClr val="172532"/>
                </a:solidFill>
                <a:latin typeface="Segoe UI"/>
                <a:ea typeface="Segoe UI"/>
                <a:cs typeface="Segoe UI"/>
              </a:rPr>
              <a:t>Cleaning produces a usable feature set</a:t>
            </a:r>
          </a:p>
        </p:txBody>
      </p:sp>
      <p:sp>
        <p:nvSpPr>
          <p:cNvPr id="3" name="Rectangle 2">
            <a:extLst>
              <a:ext uri="{FF2B5EF4-FFF2-40B4-BE49-F238E27FC236}">
                <a16:creationId xmlns:a16="http://schemas.microsoft.com/office/drawing/2014/main" id="{F29B76EA-0BA7-4543-8A09-9A1002EE95DC}"/>
              </a:ext>
            </a:extLst>
          </p:cNvPr>
          <p:cNvSpPr>
            <a:spLocks noGrp="1"/>
          </p:cNvSpPr>
          <p:nvPr/>
        </p:nvSpPr>
        <p:spPr>
          <a:xfrm>
            <a:off x="609600" y="1381125"/>
            <a:ext cx="10972800" cy="19050"/>
          </a:xfrm>
          <a:prstGeom prst="rect">
            <a:avLst/>
          </a:prstGeom>
          <a:solidFill>
            <a:srgbClr val="E8EAE7"/>
          </a:solidFill>
          <a:ln w="0">
            <a:noFill/>
            <a:prstDash val="solid"/>
          </a:ln>
        </p:spPr>
      </p:sp>
      <p:sp>
        <p:nvSpPr>
          <p:cNvPr id="4" name="Rectangle 3">
            <a:extLst>
              <a:ext uri="{FF2B5EF4-FFF2-40B4-BE49-F238E27FC236}">
                <a16:creationId xmlns:a16="http://schemas.microsoft.com/office/drawing/2014/main" id="{AD3F37CF-5057-4FD1-83EB-8E200F6D541B}"/>
              </a:ext>
            </a:extLst>
          </p:cNvPr>
          <p:cNvSpPr>
            <a:spLocks noGrp="1"/>
          </p:cNvSpPr>
          <p:nvPr/>
        </p:nvSpPr>
        <p:spPr>
          <a:xfrm>
            <a:off x="609600" y="6448425"/>
            <a:ext cx="4762500" cy="171450"/>
          </a:xfrm>
          <a:prstGeom prst="rect">
            <a:avLst/>
          </a:prstGeom>
          <a:noFill/>
          <a:ln w="0">
            <a:noFill/>
            <a:prstDash val="solid"/>
          </a:ln>
        </p:spPr>
        <p:txBody>
          <a:bodyPr wrap="square" lIns="0" tIns="0" rIns="0" bIns="0" anchor="t">
            <a:normAutofit/>
          </a:bodyPr>
          <a:lstStyle>
            <a:defPPr algn="l">
              <a:defRPr sz="975" b="0">
                <a:solidFill>
                  <a:srgbClr val="53616A"/>
                </a:solidFill>
                <a:latin typeface="Segoe UI"/>
                <a:ea typeface="Segoe UI"/>
                <a:cs typeface="Segoe UI"/>
              </a:defRPr>
            </a:defPPr>
          </a:lstStyle>
          <a:p>
            <a:pPr algn="l">
              <a:lnSpc>
                <a:spcPct val="108000"/>
              </a:lnSpc>
              <a:buNone/>
              <a:defRPr sz="975" b="0">
                <a:solidFill>
                  <a:srgbClr val="53616A"/>
                </a:solidFill>
                <a:latin typeface="Segoe UI"/>
                <a:ea typeface="Segoe UI"/>
                <a:cs typeface="Segoe UI"/>
              </a:defRPr>
            </a:pPr>
            <a:r>
              <a:rPr sz="975" b="0">
                <a:solidFill>
                  <a:srgbClr val="53616A"/>
                </a:solidFill>
                <a:latin typeface="Segoe UI"/>
                <a:ea typeface="Segoe UI"/>
                <a:cs typeface="Segoe UI"/>
              </a:rPr>
              <a:t>AI Academy  /  MLE-AI-201</a:t>
            </a:r>
          </a:p>
        </p:txBody>
      </p:sp>
      <p:sp>
        <p:nvSpPr>
          <p:cNvPr id="5" name="Rectangle 4">
            <a:extLst>
              <a:ext uri="{FF2B5EF4-FFF2-40B4-BE49-F238E27FC236}">
                <a16:creationId xmlns:a16="http://schemas.microsoft.com/office/drawing/2014/main" id="{E75C9B81-263E-4EBE-98E3-8067C477D467}"/>
              </a:ext>
            </a:extLst>
          </p:cNvPr>
          <p:cNvSpPr>
            <a:spLocks noGrp="1"/>
          </p:cNvSpPr>
          <p:nvPr/>
        </p:nvSpPr>
        <p:spPr>
          <a:xfrm>
            <a:off x="11049000" y="6429375"/>
            <a:ext cx="571500" cy="209550"/>
          </a:xfrm>
          <a:prstGeom prst="rect">
            <a:avLst/>
          </a:prstGeom>
          <a:noFill/>
          <a:ln w="0">
            <a:noFill/>
            <a:prstDash val="solid"/>
          </a:ln>
        </p:spPr>
        <p:txBody>
          <a:bodyPr wrap="square" lIns="0" tIns="0" rIns="0" bIns="0" anchor="t">
            <a:normAutofit/>
          </a:bodyPr>
          <a:lstStyle>
            <a:defPPr algn="r">
              <a:defRPr sz="1050" b="1">
                <a:solidFill>
                  <a:srgbClr val="53616A"/>
                </a:solidFill>
                <a:latin typeface="Segoe UI"/>
                <a:ea typeface="Segoe UI"/>
                <a:cs typeface="Segoe UI"/>
              </a:defRPr>
            </a:defPPr>
          </a:lstStyle>
          <a:p>
            <a:pPr algn="r">
              <a:lnSpc>
                <a:spcPct val="108000"/>
              </a:lnSpc>
              <a:buNone/>
              <a:defRPr sz="1050" b="1">
                <a:solidFill>
                  <a:srgbClr val="53616A"/>
                </a:solidFill>
                <a:latin typeface="Segoe UI"/>
                <a:ea typeface="Segoe UI"/>
                <a:cs typeface="Segoe UI"/>
              </a:defRPr>
            </a:pPr>
            <a:r>
              <a:rPr sz="1050" b="1">
                <a:solidFill>
                  <a:srgbClr val="53616A"/>
                </a:solidFill>
                <a:latin typeface="Segoe UI"/>
                <a:ea typeface="Segoe UI"/>
                <a:cs typeface="Segoe UI"/>
              </a:rPr>
              <a:t>03</a:t>
            </a:r>
          </a:p>
        </p:txBody>
      </p:sp>
      <p:sp>
        <p:nvSpPr>
          <p:cNvPr id="6" name="Rectangle 5">
            <a:extLst>
              <a:ext uri="{FF2B5EF4-FFF2-40B4-BE49-F238E27FC236}">
                <a16:creationId xmlns:a16="http://schemas.microsoft.com/office/drawing/2014/main" id="{A129E3A2-9D39-4EB0-8355-DF3EFFC8B57E}"/>
              </a:ext>
            </a:extLst>
          </p:cNvPr>
          <p:cNvSpPr>
            <a:spLocks noGrp="1"/>
          </p:cNvSpPr>
          <p:nvPr/>
        </p:nvSpPr>
        <p:spPr>
          <a:xfrm>
            <a:off x="609600" y="1876425"/>
            <a:ext cx="2952750" cy="628650"/>
          </a:xfrm>
          <a:prstGeom prst="rect">
            <a:avLst/>
          </a:prstGeom>
          <a:noFill/>
          <a:ln w="0">
            <a:noFill/>
            <a:prstDash val="solid"/>
          </a:ln>
        </p:spPr>
        <p:txBody>
          <a:bodyPr wrap="square" lIns="0" tIns="0" rIns="0" bIns="0" anchor="t">
            <a:normAutofit fontScale="97934"/>
          </a:bodyPr>
          <a:lstStyle>
            <a:defPPr algn="l">
              <a:defRPr sz="3900" b="1">
                <a:solidFill>
                  <a:srgbClr val="087D76"/>
                </a:solidFill>
                <a:latin typeface="Segoe UI"/>
                <a:ea typeface="Segoe UI"/>
                <a:cs typeface="Segoe UI"/>
              </a:defRPr>
            </a:defPPr>
          </a:lstStyle>
          <a:p>
            <a:pPr algn="l">
              <a:lnSpc>
                <a:spcPct val="108000"/>
              </a:lnSpc>
              <a:buNone/>
              <a:defRPr sz="3900" b="1">
                <a:solidFill>
                  <a:srgbClr val="087D76"/>
                </a:solidFill>
                <a:latin typeface="Segoe UI"/>
                <a:ea typeface="Segoe UI"/>
                <a:cs typeface="Segoe UI"/>
              </a:defRPr>
            </a:pPr>
            <a:r>
              <a:rPr sz="3900" b="1">
                <a:solidFill>
                  <a:srgbClr val="087D76"/>
                </a:solidFill>
                <a:latin typeface="Segoe UI"/>
                <a:ea typeface="Segoe UI"/>
                <a:cs typeface="Segoe UI"/>
              </a:rPr>
              <a:t>100,775</a:t>
            </a:r>
          </a:p>
        </p:txBody>
      </p:sp>
      <p:sp>
        <p:nvSpPr>
          <p:cNvPr id="7" name="Rectangle 6">
            <a:extLst>
              <a:ext uri="{FF2B5EF4-FFF2-40B4-BE49-F238E27FC236}">
                <a16:creationId xmlns:a16="http://schemas.microsoft.com/office/drawing/2014/main" id="{FD5D4AC9-73B9-43BA-A994-DE86BD524E05}"/>
              </a:ext>
            </a:extLst>
          </p:cNvPr>
          <p:cNvSpPr>
            <a:spLocks noGrp="1"/>
          </p:cNvSpPr>
          <p:nvPr/>
        </p:nvSpPr>
        <p:spPr>
          <a:xfrm>
            <a:off x="609600" y="2495550"/>
            <a:ext cx="2952750" cy="523875"/>
          </a:xfrm>
          <a:prstGeom prst="rect">
            <a:avLst/>
          </a:prstGeom>
          <a:noFill/>
          <a:ln w="0">
            <a:noFill/>
            <a:prstDash val="solid"/>
          </a:ln>
        </p:spPr>
        <p:txBody>
          <a:bodyPr wrap="square" lIns="0" tIns="0" rIns="0" bIns="0" anchor="t">
            <a:normAutofit/>
          </a:bodyPr>
          <a:lstStyle>
            <a:defPPr algn="l">
              <a:defRPr sz="1500" b="0">
                <a:solidFill>
                  <a:srgbClr val="53616A"/>
                </a:solidFill>
                <a:latin typeface="Segoe UI"/>
                <a:ea typeface="Segoe UI"/>
                <a:cs typeface="Segoe UI"/>
              </a:defRPr>
            </a:defPPr>
          </a:lstStyle>
          <a:p>
            <a:pPr algn="l">
              <a:lnSpc>
                <a:spcPct val="108000"/>
              </a:lnSpc>
              <a:buNone/>
              <a:defRPr sz="1500" b="0">
                <a:solidFill>
                  <a:srgbClr val="53616A"/>
                </a:solidFill>
                <a:latin typeface="Segoe UI"/>
                <a:ea typeface="Segoe UI"/>
                <a:cs typeface="Segoe UI"/>
              </a:defRPr>
            </a:pPr>
            <a:r>
              <a:rPr sz="1500" b="0">
                <a:solidFill>
                  <a:srgbClr val="53616A"/>
                </a:solidFill>
                <a:latin typeface="Segoe UI"/>
                <a:ea typeface="Segoe UI"/>
                <a:cs typeface="Segoe UI"/>
              </a:rPr>
              <a:t>raw listings</a:t>
            </a:r>
          </a:p>
        </p:txBody>
      </p:sp>
      <p:sp>
        <p:nvSpPr>
          <p:cNvPr id="8" name="Rectangle 7">
            <a:extLst>
              <a:ext uri="{FF2B5EF4-FFF2-40B4-BE49-F238E27FC236}">
                <a16:creationId xmlns:a16="http://schemas.microsoft.com/office/drawing/2014/main" id="{760B69F1-AC6B-4AF8-9BA8-E3865D5B3B95}"/>
              </a:ext>
            </a:extLst>
          </p:cNvPr>
          <p:cNvSpPr>
            <a:spLocks noGrp="1"/>
          </p:cNvSpPr>
          <p:nvPr/>
        </p:nvSpPr>
        <p:spPr>
          <a:xfrm>
            <a:off x="4000500" y="1876425"/>
            <a:ext cx="2952750" cy="628650"/>
          </a:xfrm>
          <a:prstGeom prst="rect">
            <a:avLst/>
          </a:prstGeom>
          <a:noFill/>
          <a:ln w="0">
            <a:noFill/>
            <a:prstDash val="solid"/>
          </a:ln>
        </p:spPr>
        <p:txBody>
          <a:bodyPr wrap="square" lIns="0" tIns="0" rIns="0" bIns="0" anchor="t">
            <a:normAutofit fontScale="97934"/>
          </a:bodyPr>
          <a:lstStyle>
            <a:defPPr algn="l">
              <a:defRPr sz="3900" b="1">
                <a:solidFill>
                  <a:srgbClr val="087D76"/>
                </a:solidFill>
                <a:latin typeface="Segoe UI"/>
                <a:ea typeface="Segoe UI"/>
                <a:cs typeface="Segoe UI"/>
              </a:defRPr>
            </a:defPPr>
          </a:lstStyle>
          <a:p>
            <a:pPr algn="l">
              <a:lnSpc>
                <a:spcPct val="108000"/>
              </a:lnSpc>
              <a:buNone/>
              <a:defRPr sz="3900" b="1">
                <a:solidFill>
                  <a:srgbClr val="087D76"/>
                </a:solidFill>
                <a:latin typeface="Segoe UI"/>
                <a:ea typeface="Segoe UI"/>
                <a:cs typeface="Segoe UI"/>
              </a:defRPr>
            </a:pPr>
            <a:r>
              <a:rPr sz="3900" b="1">
                <a:solidFill>
                  <a:srgbClr val="087D76"/>
                </a:solidFill>
                <a:latin typeface="Segoe UI"/>
                <a:ea typeface="Segoe UI"/>
                <a:cs typeface="Segoe UI"/>
              </a:rPr>
              <a:t>64,128</a:t>
            </a:r>
          </a:p>
        </p:txBody>
      </p:sp>
      <p:sp>
        <p:nvSpPr>
          <p:cNvPr id="9" name="Rectangle 8">
            <a:extLst>
              <a:ext uri="{FF2B5EF4-FFF2-40B4-BE49-F238E27FC236}">
                <a16:creationId xmlns:a16="http://schemas.microsoft.com/office/drawing/2014/main" id="{A69A2E33-6859-4725-B455-61BBF7FBBD56}"/>
              </a:ext>
            </a:extLst>
          </p:cNvPr>
          <p:cNvSpPr>
            <a:spLocks noGrp="1"/>
          </p:cNvSpPr>
          <p:nvPr/>
        </p:nvSpPr>
        <p:spPr>
          <a:xfrm>
            <a:off x="4000500" y="2495550"/>
            <a:ext cx="2952750" cy="523875"/>
          </a:xfrm>
          <a:prstGeom prst="rect">
            <a:avLst/>
          </a:prstGeom>
          <a:noFill/>
          <a:ln w="0">
            <a:noFill/>
            <a:prstDash val="solid"/>
          </a:ln>
        </p:spPr>
        <p:txBody>
          <a:bodyPr wrap="square" lIns="0" tIns="0" rIns="0" bIns="0" anchor="t">
            <a:normAutofit/>
          </a:bodyPr>
          <a:lstStyle>
            <a:defPPr algn="l">
              <a:defRPr sz="1500" b="0">
                <a:solidFill>
                  <a:srgbClr val="53616A"/>
                </a:solidFill>
                <a:latin typeface="Segoe UI"/>
                <a:ea typeface="Segoe UI"/>
                <a:cs typeface="Segoe UI"/>
              </a:defRPr>
            </a:defPPr>
          </a:lstStyle>
          <a:p>
            <a:pPr algn="l">
              <a:lnSpc>
                <a:spcPct val="108000"/>
              </a:lnSpc>
              <a:buNone/>
              <a:defRPr sz="1500" b="0">
                <a:solidFill>
                  <a:srgbClr val="53616A"/>
                </a:solidFill>
                <a:latin typeface="Segoe UI"/>
                <a:ea typeface="Segoe UI"/>
                <a:cs typeface="Segoe UI"/>
              </a:defRPr>
            </a:pPr>
            <a:r>
              <a:rPr sz="1500" b="0">
                <a:solidFill>
                  <a:srgbClr val="53616A"/>
                </a:solidFill>
                <a:latin typeface="Segoe UI"/>
                <a:ea typeface="Segoe UI"/>
                <a:cs typeface="Segoe UI"/>
              </a:rPr>
              <a:t>cleaned listings</a:t>
            </a:r>
          </a:p>
        </p:txBody>
      </p:sp>
      <p:sp>
        <p:nvSpPr>
          <p:cNvPr id="10" name="Rectangle 9">
            <a:extLst>
              <a:ext uri="{FF2B5EF4-FFF2-40B4-BE49-F238E27FC236}">
                <a16:creationId xmlns:a16="http://schemas.microsoft.com/office/drawing/2014/main" id="{11604BB3-1B88-4466-BD6F-4769C2BDB47B}"/>
              </a:ext>
            </a:extLst>
          </p:cNvPr>
          <p:cNvSpPr>
            <a:spLocks noGrp="1"/>
          </p:cNvSpPr>
          <p:nvPr/>
        </p:nvSpPr>
        <p:spPr>
          <a:xfrm>
            <a:off x="7429500" y="1876425"/>
            <a:ext cx="2952750" cy="628650"/>
          </a:xfrm>
          <a:prstGeom prst="rect">
            <a:avLst/>
          </a:prstGeom>
          <a:noFill/>
          <a:ln w="0">
            <a:noFill/>
            <a:prstDash val="solid"/>
          </a:ln>
        </p:spPr>
        <p:txBody>
          <a:bodyPr wrap="square" lIns="0" tIns="0" rIns="0" bIns="0" anchor="t">
            <a:normAutofit fontScale="97934"/>
          </a:bodyPr>
          <a:lstStyle>
            <a:defPPr algn="l">
              <a:defRPr sz="3900" b="1">
                <a:solidFill>
                  <a:srgbClr val="087D76"/>
                </a:solidFill>
                <a:latin typeface="Segoe UI"/>
                <a:ea typeface="Segoe UI"/>
                <a:cs typeface="Segoe UI"/>
              </a:defRPr>
            </a:defPPr>
          </a:lstStyle>
          <a:p>
            <a:pPr algn="l">
              <a:lnSpc>
                <a:spcPct val="108000"/>
              </a:lnSpc>
              <a:buNone/>
              <a:defRPr sz="3900" b="1">
                <a:solidFill>
                  <a:srgbClr val="087D76"/>
                </a:solidFill>
                <a:latin typeface="Segoe UI"/>
                <a:ea typeface="Segoe UI"/>
                <a:cs typeface="Segoe UI"/>
              </a:defRPr>
            </a:pPr>
            <a:r>
              <a:rPr sz="3900" b="1">
                <a:solidFill>
                  <a:srgbClr val="087D76"/>
                </a:solidFill>
                <a:latin typeface="Segoe UI"/>
                <a:ea typeface="Segoe UI"/>
                <a:cs typeface="Segoe UI"/>
              </a:rPr>
              <a:t>29</a:t>
            </a:r>
          </a:p>
        </p:txBody>
      </p:sp>
      <p:sp>
        <p:nvSpPr>
          <p:cNvPr id="11" name="Rectangle 10">
            <a:extLst>
              <a:ext uri="{FF2B5EF4-FFF2-40B4-BE49-F238E27FC236}">
                <a16:creationId xmlns:a16="http://schemas.microsoft.com/office/drawing/2014/main" id="{59E6C1B0-45E2-4043-A3DE-CDA9E638A535}"/>
              </a:ext>
            </a:extLst>
          </p:cNvPr>
          <p:cNvSpPr>
            <a:spLocks noGrp="1"/>
          </p:cNvSpPr>
          <p:nvPr/>
        </p:nvSpPr>
        <p:spPr>
          <a:xfrm>
            <a:off x="7429500" y="2495550"/>
            <a:ext cx="2952750" cy="523875"/>
          </a:xfrm>
          <a:prstGeom prst="rect">
            <a:avLst/>
          </a:prstGeom>
          <a:noFill/>
          <a:ln w="0">
            <a:noFill/>
            <a:prstDash val="solid"/>
          </a:ln>
        </p:spPr>
        <p:txBody>
          <a:bodyPr wrap="square" lIns="0" tIns="0" rIns="0" bIns="0" anchor="t">
            <a:normAutofit/>
          </a:bodyPr>
          <a:lstStyle>
            <a:defPPr algn="l">
              <a:defRPr sz="1500" b="0">
                <a:solidFill>
                  <a:srgbClr val="53616A"/>
                </a:solidFill>
                <a:latin typeface="Segoe UI"/>
                <a:ea typeface="Segoe UI"/>
                <a:cs typeface="Segoe UI"/>
              </a:defRPr>
            </a:defPPr>
          </a:lstStyle>
          <a:p>
            <a:pPr algn="l">
              <a:lnSpc>
                <a:spcPct val="108000"/>
              </a:lnSpc>
              <a:buNone/>
              <a:defRPr sz="1500" b="0">
                <a:solidFill>
                  <a:srgbClr val="53616A"/>
                </a:solidFill>
                <a:latin typeface="Segoe UI"/>
                <a:ea typeface="Segoe UI"/>
                <a:cs typeface="Segoe UI"/>
              </a:defRPr>
            </a:pPr>
            <a:r>
              <a:rPr sz="1500" b="0">
                <a:solidFill>
                  <a:srgbClr val="53616A"/>
                </a:solidFill>
                <a:latin typeface="Segoe UI"/>
                <a:ea typeface="Segoe UI"/>
                <a:cs typeface="Segoe UI"/>
              </a:rPr>
              <a:t>model features</a:t>
            </a:r>
          </a:p>
        </p:txBody>
      </p:sp>
      <p:sp>
        <p:nvSpPr>
          <p:cNvPr id="12" name="Rectangle 11">
            <a:extLst>
              <a:ext uri="{FF2B5EF4-FFF2-40B4-BE49-F238E27FC236}">
                <a16:creationId xmlns:a16="http://schemas.microsoft.com/office/drawing/2014/main" id="{662C6268-A2D9-41E4-AE4F-AFD32F3184CC}"/>
              </a:ext>
            </a:extLst>
          </p:cNvPr>
          <p:cNvSpPr>
            <a:spLocks noGrp="1"/>
          </p:cNvSpPr>
          <p:nvPr/>
        </p:nvSpPr>
        <p:spPr>
          <a:xfrm>
            <a:off x="609600" y="3190875"/>
            <a:ext cx="10972800" cy="19050"/>
          </a:xfrm>
          <a:prstGeom prst="rect">
            <a:avLst/>
          </a:prstGeom>
          <a:solidFill>
            <a:srgbClr val="E8EAE7"/>
          </a:solidFill>
          <a:ln w="0">
            <a:noFill/>
            <a:prstDash val="solid"/>
          </a:ln>
        </p:spPr>
      </p:sp>
      <p:sp>
        <p:nvSpPr>
          <p:cNvPr id="13" name="Rectangle 12">
            <a:extLst>
              <a:ext uri="{FF2B5EF4-FFF2-40B4-BE49-F238E27FC236}">
                <a16:creationId xmlns:a16="http://schemas.microsoft.com/office/drawing/2014/main" id="{4F089378-A7BA-43E7-9A1A-6E5F8A2C0CDE}"/>
              </a:ext>
            </a:extLst>
          </p:cNvPr>
          <p:cNvSpPr>
            <a:spLocks noGrp="1"/>
          </p:cNvSpPr>
          <p:nvPr/>
        </p:nvSpPr>
        <p:spPr>
          <a:xfrm>
            <a:off x="609600" y="3486150"/>
            <a:ext cx="10382250" cy="666750"/>
          </a:xfrm>
          <a:prstGeom prst="rect">
            <a:avLst/>
          </a:prstGeom>
          <a:noFill/>
          <a:ln w="0">
            <a:noFill/>
            <a:prstDash val="solid"/>
          </a:ln>
        </p:spPr>
        <p:txBody>
          <a:bodyPr wrap="square" lIns="0" tIns="0" rIns="0" bIns="0" anchor="t">
            <a:normAutofit/>
          </a:bodyPr>
          <a:lstStyle>
            <a:defPPr algn="l">
              <a:defRPr sz="1875" b="0">
                <a:solidFill>
                  <a:srgbClr val="172532"/>
                </a:solidFill>
                <a:latin typeface="Segoe UI"/>
                <a:ea typeface="Segoe UI"/>
                <a:cs typeface="Segoe UI"/>
              </a:defRPr>
            </a:defPPr>
          </a:lstStyle>
          <a:p>
            <a:pPr algn="l">
              <a:lnSpc>
                <a:spcPct val="108000"/>
              </a:lnSpc>
              <a:buNone/>
              <a:defRPr sz="1875" b="0">
                <a:solidFill>
                  <a:srgbClr val="172532"/>
                </a:solidFill>
                <a:latin typeface="Segoe UI"/>
                <a:ea typeface="Segoe UI"/>
                <a:cs typeface="Segoe UI"/>
              </a:defRPr>
            </a:pPr>
            <a:r>
              <a:rPr sz="1875" b="0">
                <a:solidFill>
                  <a:srgbClr val="172532"/>
                </a:solidFill>
                <a:latin typeface="Segoe UI"/>
                <a:ea typeface="Segoe UI"/>
                <a:cs typeface="Segoe UI"/>
              </a:rPr>
              <a:t>We removed repeated listings and unusable rows, then encoded categorical fields.</a:t>
            </a:r>
          </a:p>
        </p:txBody>
      </p:sp>
      <p:sp>
        <p:nvSpPr>
          <p:cNvPr id="14" name="Rectangle: Rounded Corners 13">
            <a:extLst>
              <a:ext uri="{FF2B5EF4-FFF2-40B4-BE49-F238E27FC236}">
                <a16:creationId xmlns:a16="http://schemas.microsoft.com/office/drawing/2014/main" id="{5C5D9026-AAE1-4DF2-B72A-D9A2E31EF3B2}"/>
              </a:ext>
            </a:extLst>
          </p:cNvPr>
          <p:cNvSpPr>
            <a:spLocks noGrp="1"/>
          </p:cNvSpPr>
          <p:nvPr/>
        </p:nvSpPr>
        <p:spPr>
          <a:xfrm>
            <a:off x="609600" y="4495800"/>
            <a:ext cx="10953750" cy="1276350"/>
          </a:xfrm>
          <a:prstGeom prst="roundRect">
            <a:avLst>
              <a:gd name="adj" fmla="val 5970"/>
            </a:avLst>
          </a:prstGeom>
          <a:solidFill>
            <a:srgbClr val="DCECE7"/>
          </a:solidFill>
          <a:ln w="0">
            <a:noFill/>
            <a:prstDash val="solid"/>
          </a:ln>
        </p:spPr>
      </p:sp>
      <p:sp>
        <p:nvSpPr>
          <p:cNvPr id="15" name="Rectangle 14">
            <a:extLst>
              <a:ext uri="{FF2B5EF4-FFF2-40B4-BE49-F238E27FC236}">
                <a16:creationId xmlns:a16="http://schemas.microsoft.com/office/drawing/2014/main" id="{C5FA3BE9-2519-444C-8BCC-740B0D7051E7}"/>
              </a:ext>
            </a:extLst>
          </p:cNvPr>
          <p:cNvSpPr>
            <a:spLocks noGrp="1"/>
          </p:cNvSpPr>
          <p:nvPr/>
        </p:nvSpPr>
        <p:spPr>
          <a:xfrm>
            <a:off x="866775" y="4686300"/>
            <a:ext cx="2571750" cy="295275"/>
          </a:xfrm>
          <a:prstGeom prst="rect">
            <a:avLst/>
          </a:prstGeom>
          <a:noFill/>
          <a:ln w="0">
            <a:noFill/>
            <a:prstDash val="solid"/>
          </a:ln>
        </p:spPr>
        <p:txBody>
          <a:bodyPr wrap="square" lIns="0" tIns="0" rIns="0" bIns="0" anchor="t">
            <a:normAutofit/>
          </a:bodyPr>
          <a:lstStyle>
            <a:defPPr algn="l">
              <a:defRPr sz="1650" b="1">
                <a:solidFill>
                  <a:srgbClr val="087D76"/>
                </a:solidFill>
                <a:latin typeface="Segoe UI"/>
                <a:ea typeface="Segoe UI"/>
                <a:cs typeface="Segoe UI"/>
              </a:defRPr>
            </a:defPPr>
          </a:lstStyle>
          <a:p>
            <a:pPr algn="l">
              <a:lnSpc>
                <a:spcPct val="108000"/>
              </a:lnSpc>
              <a:buNone/>
              <a:defRPr sz="1650" b="1">
                <a:solidFill>
                  <a:srgbClr val="087D76"/>
                </a:solidFill>
                <a:latin typeface="Segoe UI"/>
                <a:ea typeface="Segoe UI"/>
                <a:cs typeface="Segoe UI"/>
              </a:defRPr>
            </a:pPr>
            <a:r>
              <a:rPr sz="1650" b="1">
                <a:solidFill>
                  <a:srgbClr val="087D76"/>
                </a:solidFill>
                <a:latin typeface="Segoe UI"/>
                <a:ea typeface="Segoe UI"/>
                <a:cs typeface="Segoe UI"/>
              </a:rPr>
              <a:t>Leakage check</a:t>
            </a:r>
          </a:p>
        </p:txBody>
      </p:sp>
      <p:sp>
        <p:nvSpPr>
          <p:cNvPr id="16" name="Rectangle 15">
            <a:extLst>
              <a:ext uri="{FF2B5EF4-FFF2-40B4-BE49-F238E27FC236}">
                <a16:creationId xmlns:a16="http://schemas.microsoft.com/office/drawing/2014/main" id="{E52BCF25-4185-4007-954D-4CDA34EB5775}"/>
              </a:ext>
            </a:extLst>
          </p:cNvPr>
          <p:cNvSpPr>
            <a:spLocks noGrp="1"/>
          </p:cNvSpPr>
          <p:nvPr/>
        </p:nvSpPr>
        <p:spPr>
          <a:xfrm>
            <a:off x="866775" y="5095875"/>
            <a:ext cx="10001250" cy="504825"/>
          </a:xfrm>
          <a:prstGeom prst="rect">
            <a:avLst/>
          </a:prstGeom>
          <a:noFill/>
          <a:ln w="0">
            <a:noFill/>
            <a:prstDash val="solid"/>
          </a:ln>
        </p:spPr>
        <p:txBody>
          <a:bodyPr wrap="square" lIns="0" tIns="0" rIns="0" bIns="0" anchor="t">
            <a:normAutofit/>
          </a:bodyPr>
          <a:lstStyle>
            <a:defPPr algn="l">
              <a:defRPr sz="1725" b="0">
                <a:solidFill>
                  <a:srgbClr val="172532"/>
                </a:solidFill>
                <a:latin typeface="Segoe UI"/>
                <a:ea typeface="Segoe UI"/>
                <a:cs typeface="Segoe UI"/>
              </a:defRPr>
            </a:defPPr>
          </a:lstStyle>
          <a:p>
            <a:pPr algn="l">
              <a:lnSpc>
                <a:spcPct val="108000"/>
              </a:lnSpc>
              <a:buNone/>
              <a:defRPr sz="1725" b="0">
                <a:solidFill>
                  <a:srgbClr val="172532"/>
                </a:solidFill>
                <a:latin typeface="Segoe UI"/>
                <a:ea typeface="Segoe UI"/>
                <a:cs typeface="Segoe UI"/>
              </a:defRPr>
            </a:pPr>
            <a:r>
              <a:rPr sz="1725" b="0">
                <a:solidFill>
                  <a:srgbClr val="172532"/>
                </a:solidFill>
                <a:latin typeface="Segoe UI"/>
                <a:ea typeface="Segoe UI"/>
                <a:cs typeface="Segoe UI"/>
              </a:rPr>
              <a:t>unit_price and total_price reveal the target and therefore cannot be used as predictors.</a:t>
            </a:r>
          </a:p>
        </p:txBody>
      </p:sp>
    </p:spTree>
    <p:extLst>
      <p:ext uri="{BB962C8B-B14F-4D97-AF65-F5344CB8AC3E}">
        <p14:creationId xmlns:p14="http://schemas.microsoft.com/office/powerpoint/2010/main" val="112989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7B82826-AE31-4B90-B892-AB7779F8AFDD}"/>
              </a:ext>
            </a:extLst>
          </p:cNvPr>
          <p:cNvSpPr>
            <a:spLocks noGrp="1"/>
          </p:cNvSpPr>
          <p:nvPr/>
        </p:nvSpPr>
        <p:spPr>
          <a:xfrm>
            <a:off x="609600" y="304800"/>
            <a:ext cx="7143750" cy="209550"/>
          </a:xfrm>
          <a:prstGeom prst="rect">
            <a:avLst/>
          </a:prstGeom>
          <a:noFill/>
          <a:ln w="0">
            <a:noFill/>
            <a:prstDash val="solid"/>
          </a:ln>
        </p:spPr>
        <p:txBody>
          <a:bodyPr wrap="square" lIns="0" tIns="0" rIns="0" bIns="0" anchor="t">
            <a:normAutofit/>
          </a:bodyPr>
          <a:lstStyle>
            <a:defPPr algn="l">
              <a:defRPr sz="1050" b="1">
                <a:solidFill>
                  <a:srgbClr val="087D76"/>
                </a:solidFill>
                <a:latin typeface="Segoe UI"/>
                <a:ea typeface="Segoe UI"/>
                <a:cs typeface="Segoe UI"/>
              </a:defRPr>
            </a:defPPr>
          </a:lstStyle>
          <a:p>
            <a:pPr algn="l">
              <a:lnSpc>
                <a:spcPct val="108000"/>
              </a:lnSpc>
              <a:buNone/>
              <a:defRPr sz="1050" b="1">
                <a:solidFill>
                  <a:srgbClr val="087D76"/>
                </a:solidFill>
                <a:latin typeface="Segoe UI"/>
                <a:ea typeface="Segoe UI"/>
                <a:cs typeface="Segoe UI"/>
              </a:defRPr>
            </a:pPr>
            <a:r>
              <a:rPr sz="1050" b="1">
                <a:solidFill>
                  <a:srgbClr val="087D76"/>
                </a:solidFill>
                <a:latin typeface="Segoe UI"/>
                <a:ea typeface="Segoe UI"/>
                <a:cs typeface="Segoe UI"/>
              </a:rPr>
              <a:t>EXPERIMENTAL SETUP</a:t>
            </a:r>
          </a:p>
        </p:txBody>
      </p:sp>
      <p:sp>
        <p:nvSpPr>
          <p:cNvPr id="2" name="Rectangle 1">
            <a:extLst>
              <a:ext uri="{FF2B5EF4-FFF2-40B4-BE49-F238E27FC236}">
                <a16:creationId xmlns:a16="http://schemas.microsoft.com/office/drawing/2014/main" id="{CFEEBA1B-FB88-4687-BB64-3349D6139D8E}"/>
              </a:ext>
            </a:extLst>
          </p:cNvPr>
          <p:cNvSpPr>
            <a:spLocks noGrp="1"/>
          </p:cNvSpPr>
          <p:nvPr/>
        </p:nvSpPr>
        <p:spPr>
          <a:xfrm>
            <a:off x="609600" y="647700"/>
            <a:ext cx="10953750" cy="647700"/>
          </a:xfrm>
          <a:prstGeom prst="rect">
            <a:avLst/>
          </a:prstGeom>
          <a:noFill/>
          <a:ln w="0">
            <a:noFill/>
            <a:prstDash val="solid"/>
          </a:ln>
        </p:spPr>
        <p:txBody>
          <a:bodyPr wrap="square" lIns="0" tIns="0" rIns="0" bIns="0" anchor="t">
            <a:normAutofit/>
          </a:bodyPr>
          <a:lstStyle>
            <a:defPPr algn="l">
              <a:defRPr sz="3075" b="1">
                <a:solidFill>
                  <a:srgbClr val="172532"/>
                </a:solidFill>
                <a:latin typeface="Segoe UI"/>
                <a:ea typeface="Segoe UI"/>
                <a:cs typeface="Segoe UI"/>
              </a:defRPr>
            </a:defPPr>
          </a:lstStyle>
          <a:p>
            <a:pPr algn="l">
              <a:lnSpc>
                <a:spcPct val="108000"/>
              </a:lnSpc>
              <a:buNone/>
              <a:defRPr sz="3075" b="1">
                <a:solidFill>
                  <a:srgbClr val="172532"/>
                </a:solidFill>
                <a:latin typeface="Segoe UI"/>
                <a:ea typeface="Segoe UI"/>
                <a:cs typeface="Segoe UI"/>
              </a:defRPr>
            </a:pPr>
            <a:r>
              <a:rPr sz="3075" b="1">
                <a:solidFill>
                  <a:srgbClr val="172532"/>
                </a:solidFill>
                <a:latin typeface="Segoe UI"/>
                <a:ea typeface="Segoe UI"/>
                <a:cs typeface="Segoe UI"/>
              </a:rPr>
              <a:t>Train-only decisions protect the test set</a:t>
            </a:r>
          </a:p>
        </p:txBody>
      </p:sp>
      <p:sp>
        <p:nvSpPr>
          <p:cNvPr id="3" name="Rectangle 2">
            <a:extLst>
              <a:ext uri="{FF2B5EF4-FFF2-40B4-BE49-F238E27FC236}">
                <a16:creationId xmlns:a16="http://schemas.microsoft.com/office/drawing/2014/main" id="{DE79C4BB-4A08-49A9-A9E7-9796EB5E34AE}"/>
              </a:ext>
            </a:extLst>
          </p:cNvPr>
          <p:cNvSpPr>
            <a:spLocks noGrp="1"/>
          </p:cNvSpPr>
          <p:nvPr/>
        </p:nvSpPr>
        <p:spPr>
          <a:xfrm>
            <a:off x="609600" y="1381125"/>
            <a:ext cx="10972800" cy="19050"/>
          </a:xfrm>
          <a:prstGeom prst="rect">
            <a:avLst/>
          </a:prstGeom>
          <a:solidFill>
            <a:srgbClr val="E8EAE7"/>
          </a:solidFill>
          <a:ln w="0">
            <a:noFill/>
            <a:prstDash val="solid"/>
          </a:ln>
        </p:spPr>
      </p:sp>
      <p:sp>
        <p:nvSpPr>
          <p:cNvPr id="4" name="Rectangle 3">
            <a:extLst>
              <a:ext uri="{FF2B5EF4-FFF2-40B4-BE49-F238E27FC236}">
                <a16:creationId xmlns:a16="http://schemas.microsoft.com/office/drawing/2014/main" id="{2162B8B6-86C2-46A3-9B62-29589AF9CDA7}"/>
              </a:ext>
            </a:extLst>
          </p:cNvPr>
          <p:cNvSpPr>
            <a:spLocks noGrp="1"/>
          </p:cNvSpPr>
          <p:nvPr/>
        </p:nvSpPr>
        <p:spPr>
          <a:xfrm>
            <a:off x="609600" y="6448425"/>
            <a:ext cx="4762500" cy="171450"/>
          </a:xfrm>
          <a:prstGeom prst="rect">
            <a:avLst/>
          </a:prstGeom>
          <a:noFill/>
          <a:ln w="0">
            <a:noFill/>
            <a:prstDash val="solid"/>
          </a:ln>
        </p:spPr>
        <p:txBody>
          <a:bodyPr wrap="square" lIns="0" tIns="0" rIns="0" bIns="0" anchor="t">
            <a:normAutofit/>
          </a:bodyPr>
          <a:lstStyle>
            <a:defPPr algn="l">
              <a:defRPr sz="975" b="0">
                <a:solidFill>
                  <a:srgbClr val="53616A"/>
                </a:solidFill>
                <a:latin typeface="Segoe UI"/>
                <a:ea typeface="Segoe UI"/>
                <a:cs typeface="Segoe UI"/>
              </a:defRPr>
            </a:defPPr>
          </a:lstStyle>
          <a:p>
            <a:pPr algn="l">
              <a:lnSpc>
                <a:spcPct val="108000"/>
              </a:lnSpc>
              <a:buNone/>
              <a:defRPr sz="975" b="0">
                <a:solidFill>
                  <a:srgbClr val="53616A"/>
                </a:solidFill>
                <a:latin typeface="Segoe UI"/>
                <a:ea typeface="Segoe UI"/>
                <a:cs typeface="Segoe UI"/>
              </a:defRPr>
            </a:pPr>
            <a:r>
              <a:rPr sz="975" b="0">
                <a:solidFill>
                  <a:srgbClr val="53616A"/>
                </a:solidFill>
                <a:latin typeface="Segoe UI"/>
                <a:ea typeface="Segoe UI"/>
                <a:cs typeface="Segoe UI"/>
              </a:rPr>
              <a:t>AI Academy  /  MLE-AI-201</a:t>
            </a:r>
          </a:p>
        </p:txBody>
      </p:sp>
      <p:sp>
        <p:nvSpPr>
          <p:cNvPr id="5" name="Rectangle 4">
            <a:extLst>
              <a:ext uri="{FF2B5EF4-FFF2-40B4-BE49-F238E27FC236}">
                <a16:creationId xmlns:a16="http://schemas.microsoft.com/office/drawing/2014/main" id="{655AEBE3-9672-478E-B0B6-5D384AE1034C}"/>
              </a:ext>
            </a:extLst>
          </p:cNvPr>
          <p:cNvSpPr>
            <a:spLocks noGrp="1"/>
          </p:cNvSpPr>
          <p:nvPr/>
        </p:nvSpPr>
        <p:spPr>
          <a:xfrm>
            <a:off x="11049000" y="6429375"/>
            <a:ext cx="571500" cy="209550"/>
          </a:xfrm>
          <a:prstGeom prst="rect">
            <a:avLst/>
          </a:prstGeom>
          <a:noFill/>
          <a:ln w="0">
            <a:noFill/>
            <a:prstDash val="solid"/>
          </a:ln>
        </p:spPr>
        <p:txBody>
          <a:bodyPr wrap="square" lIns="0" tIns="0" rIns="0" bIns="0" anchor="t">
            <a:normAutofit/>
          </a:bodyPr>
          <a:lstStyle>
            <a:defPPr algn="r">
              <a:defRPr sz="1050" b="1">
                <a:solidFill>
                  <a:srgbClr val="53616A"/>
                </a:solidFill>
                <a:latin typeface="Segoe UI"/>
                <a:ea typeface="Segoe UI"/>
                <a:cs typeface="Segoe UI"/>
              </a:defRPr>
            </a:defPPr>
          </a:lstStyle>
          <a:p>
            <a:pPr algn="r">
              <a:lnSpc>
                <a:spcPct val="108000"/>
              </a:lnSpc>
              <a:buNone/>
              <a:defRPr sz="1050" b="1">
                <a:solidFill>
                  <a:srgbClr val="53616A"/>
                </a:solidFill>
                <a:latin typeface="Segoe UI"/>
                <a:ea typeface="Segoe UI"/>
                <a:cs typeface="Segoe UI"/>
              </a:defRPr>
            </a:pPr>
            <a:r>
              <a:rPr sz="1050" b="1">
                <a:solidFill>
                  <a:srgbClr val="53616A"/>
                </a:solidFill>
                <a:latin typeface="Segoe UI"/>
                <a:ea typeface="Segoe UI"/>
                <a:cs typeface="Segoe UI"/>
              </a:rPr>
              <a:t>04</a:t>
            </a:r>
          </a:p>
        </p:txBody>
      </p:sp>
      <p:sp>
        <p:nvSpPr>
          <p:cNvPr id="6" name="Rectangle: Rounded Corners 5">
            <a:extLst>
              <a:ext uri="{FF2B5EF4-FFF2-40B4-BE49-F238E27FC236}">
                <a16:creationId xmlns:a16="http://schemas.microsoft.com/office/drawing/2014/main" id="{A2B6B244-FE99-4AA5-B871-A6ECA61E87BB}"/>
              </a:ext>
            </a:extLst>
          </p:cNvPr>
          <p:cNvSpPr>
            <a:spLocks noGrp="1"/>
          </p:cNvSpPr>
          <p:nvPr/>
        </p:nvSpPr>
        <p:spPr>
          <a:xfrm>
            <a:off x="609600" y="1847850"/>
            <a:ext cx="2343150" cy="304800"/>
          </a:xfrm>
          <a:prstGeom prst="roundRect">
            <a:avLst>
              <a:gd name="adj" fmla="val 25000"/>
            </a:avLst>
          </a:prstGeom>
          <a:solidFill>
            <a:srgbClr val="142539"/>
          </a:solidFill>
          <a:ln w="0">
            <a:noFill/>
            <a:prstDash val="solid"/>
          </a:ln>
        </p:spPr>
      </p:sp>
      <p:sp>
        <p:nvSpPr>
          <p:cNvPr id="7" name="Rectangle 6">
            <a:extLst>
              <a:ext uri="{FF2B5EF4-FFF2-40B4-BE49-F238E27FC236}">
                <a16:creationId xmlns:a16="http://schemas.microsoft.com/office/drawing/2014/main" id="{0623541A-4B7C-4510-AC15-157B14FF7EFD}"/>
              </a:ext>
            </a:extLst>
          </p:cNvPr>
          <p:cNvSpPr>
            <a:spLocks noGrp="1"/>
          </p:cNvSpPr>
          <p:nvPr/>
        </p:nvSpPr>
        <p:spPr>
          <a:xfrm>
            <a:off x="723900" y="1905000"/>
            <a:ext cx="2114550" cy="190500"/>
          </a:xfrm>
          <a:prstGeom prst="rect">
            <a:avLst/>
          </a:prstGeom>
          <a:noFill/>
          <a:ln w="0">
            <a:noFill/>
            <a:prstDash val="solid"/>
          </a:ln>
        </p:spPr>
        <p:txBody>
          <a:bodyPr wrap="square" lIns="0" tIns="0" rIns="0" bIns="0" anchor="t">
            <a:normAutofit/>
          </a:bodyPr>
          <a:lstStyle>
            <a:defPPr algn="l">
              <a:defRPr sz="1125" b="1">
                <a:solidFill>
                  <a:srgbClr val="FFFFFF"/>
                </a:solidFill>
                <a:latin typeface="Segoe UI"/>
                <a:ea typeface="Segoe UI"/>
                <a:cs typeface="Segoe UI"/>
              </a:defRPr>
            </a:defPPr>
          </a:lstStyle>
          <a:p>
            <a:pPr algn="l">
              <a:lnSpc>
                <a:spcPct val="108000"/>
              </a:lnSpc>
              <a:buNone/>
              <a:defRPr sz="1125" b="1">
                <a:solidFill>
                  <a:srgbClr val="FFFFFF"/>
                </a:solidFill>
                <a:latin typeface="Segoe UI"/>
                <a:ea typeface="Segoe UI"/>
                <a:cs typeface="Segoe UI"/>
              </a:defRPr>
            </a:pPr>
            <a:r>
              <a:rPr sz="1125" b="1">
                <a:solidFill>
                  <a:srgbClr val="FFFFFF"/>
                </a:solidFill>
                <a:latin typeface="Segoe UI"/>
                <a:ea typeface="Segoe UI"/>
                <a:cs typeface="Segoe UI"/>
              </a:rPr>
              <a:t>TRAIN  44,890</a:t>
            </a:r>
          </a:p>
        </p:txBody>
      </p:sp>
      <p:sp>
        <p:nvSpPr>
          <p:cNvPr id="8" name="Rectangle: Rounded Corners 7">
            <a:extLst>
              <a:ext uri="{FF2B5EF4-FFF2-40B4-BE49-F238E27FC236}">
                <a16:creationId xmlns:a16="http://schemas.microsoft.com/office/drawing/2014/main" id="{6C382638-4526-4926-8078-A6F7F3D87BCB}"/>
              </a:ext>
            </a:extLst>
          </p:cNvPr>
          <p:cNvSpPr>
            <a:spLocks noGrp="1"/>
          </p:cNvSpPr>
          <p:nvPr/>
        </p:nvSpPr>
        <p:spPr>
          <a:xfrm>
            <a:off x="3305175" y="1847850"/>
            <a:ext cx="2362200" cy="304800"/>
          </a:xfrm>
          <a:prstGeom prst="roundRect">
            <a:avLst>
              <a:gd name="adj" fmla="val 25000"/>
            </a:avLst>
          </a:prstGeom>
          <a:solidFill>
            <a:srgbClr val="DCECE7"/>
          </a:solidFill>
          <a:ln w="0">
            <a:noFill/>
            <a:prstDash val="solid"/>
          </a:ln>
        </p:spPr>
      </p:sp>
      <p:sp>
        <p:nvSpPr>
          <p:cNvPr id="9" name="Rectangle 8">
            <a:extLst>
              <a:ext uri="{FF2B5EF4-FFF2-40B4-BE49-F238E27FC236}">
                <a16:creationId xmlns:a16="http://schemas.microsoft.com/office/drawing/2014/main" id="{70AED14C-94F8-445A-9182-8B20CB2E10FA}"/>
              </a:ext>
            </a:extLst>
          </p:cNvPr>
          <p:cNvSpPr>
            <a:spLocks noGrp="1"/>
          </p:cNvSpPr>
          <p:nvPr/>
        </p:nvSpPr>
        <p:spPr>
          <a:xfrm>
            <a:off x="3419475" y="1905000"/>
            <a:ext cx="2133600" cy="190500"/>
          </a:xfrm>
          <a:prstGeom prst="rect">
            <a:avLst/>
          </a:prstGeom>
          <a:noFill/>
          <a:ln w="0">
            <a:noFill/>
            <a:prstDash val="solid"/>
          </a:ln>
        </p:spPr>
        <p:txBody>
          <a:bodyPr wrap="square" lIns="0" tIns="0" rIns="0" bIns="0" anchor="t">
            <a:normAutofit/>
          </a:bodyPr>
          <a:lstStyle>
            <a:defPPr algn="l">
              <a:defRPr sz="1125" b="1">
                <a:solidFill>
                  <a:srgbClr val="087D76"/>
                </a:solidFill>
                <a:latin typeface="Segoe UI"/>
                <a:ea typeface="Segoe UI"/>
                <a:cs typeface="Segoe UI"/>
              </a:defRPr>
            </a:defPPr>
          </a:lstStyle>
          <a:p>
            <a:pPr algn="l">
              <a:lnSpc>
                <a:spcPct val="108000"/>
              </a:lnSpc>
              <a:buNone/>
              <a:defRPr sz="1125" b="1">
                <a:solidFill>
                  <a:srgbClr val="087D76"/>
                </a:solidFill>
                <a:latin typeface="Segoe UI"/>
                <a:ea typeface="Segoe UI"/>
                <a:cs typeface="Segoe UI"/>
              </a:defRPr>
            </a:pPr>
            <a:r>
              <a:rPr sz="1125" b="1">
                <a:solidFill>
                  <a:srgbClr val="087D76"/>
                </a:solidFill>
                <a:latin typeface="Segoe UI"/>
                <a:ea typeface="Segoe UI"/>
                <a:cs typeface="Segoe UI"/>
              </a:rPr>
              <a:t>VALIDATION  9,619</a:t>
            </a:r>
          </a:p>
        </p:txBody>
      </p:sp>
      <p:sp>
        <p:nvSpPr>
          <p:cNvPr id="10" name="Rectangle: Rounded Corners 9">
            <a:extLst>
              <a:ext uri="{FF2B5EF4-FFF2-40B4-BE49-F238E27FC236}">
                <a16:creationId xmlns:a16="http://schemas.microsoft.com/office/drawing/2014/main" id="{40D5CC24-C05D-4E7E-A158-AAC3AFFB11EA}"/>
              </a:ext>
            </a:extLst>
          </p:cNvPr>
          <p:cNvSpPr>
            <a:spLocks noGrp="1"/>
          </p:cNvSpPr>
          <p:nvPr/>
        </p:nvSpPr>
        <p:spPr>
          <a:xfrm>
            <a:off x="6029325" y="1847850"/>
            <a:ext cx="1952625" cy="304800"/>
          </a:xfrm>
          <a:prstGeom prst="roundRect">
            <a:avLst>
              <a:gd name="adj" fmla="val 25000"/>
            </a:avLst>
          </a:prstGeom>
          <a:solidFill>
            <a:srgbClr val="DCECE7"/>
          </a:solidFill>
          <a:ln w="0">
            <a:noFill/>
            <a:prstDash val="solid"/>
          </a:ln>
        </p:spPr>
      </p:sp>
      <p:sp>
        <p:nvSpPr>
          <p:cNvPr id="11" name="Rectangle 10">
            <a:extLst>
              <a:ext uri="{FF2B5EF4-FFF2-40B4-BE49-F238E27FC236}">
                <a16:creationId xmlns:a16="http://schemas.microsoft.com/office/drawing/2014/main" id="{624816EC-6129-41C6-BC84-E70854D17A9A}"/>
              </a:ext>
            </a:extLst>
          </p:cNvPr>
          <p:cNvSpPr>
            <a:spLocks noGrp="1"/>
          </p:cNvSpPr>
          <p:nvPr/>
        </p:nvSpPr>
        <p:spPr>
          <a:xfrm>
            <a:off x="6143625" y="1905000"/>
            <a:ext cx="1724025" cy="190500"/>
          </a:xfrm>
          <a:prstGeom prst="rect">
            <a:avLst/>
          </a:prstGeom>
          <a:noFill/>
          <a:ln w="0">
            <a:noFill/>
            <a:prstDash val="solid"/>
          </a:ln>
        </p:spPr>
        <p:txBody>
          <a:bodyPr wrap="square" lIns="0" tIns="0" rIns="0" bIns="0" anchor="t">
            <a:normAutofit/>
          </a:bodyPr>
          <a:lstStyle>
            <a:defPPr algn="l">
              <a:defRPr sz="1125" b="1">
                <a:solidFill>
                  <a:srgbClr val="087D76"/>
                </a:solidFill>
                <a:latin typeface="Segoe UI"/>
                <a:ea typeface="Segoe UI"/>
                <a:cs typeface="Segoe UI"/>
              </a:defRPr>
            </a:defPPr>
          </a:lstStyle>
          <a:p>
            <a:pPr algn="l">
              <a:lnSpc>
                <a:spcPct val="108000"/>
              </a:lnSpc>
              <a:buNone/>
              <a:defRPr sz="1125" b="1">
                <a:solidFill>
                  <a:srgbClr val="087D76"/>
                </a:solidFill>
                <a:latin typeface="Segoe UI"/>
                <a:ea typeface="Segoe UI"/>
                <a:cs typeface="Segoe UI"/>
              </a:defRPr>
            </a:pPr>
            <a:r>
              <a:rPr sz="1125" b="1">
                <a:solidFill>
                  <a:srgbClr val="087D76"/>
                </a:solidFill>
                <a:latin typeface="Segoe UI"/>
                <a:ea typeface="Segoe UI"/>
                <a:cs typeface="Segoe UI"/>
              </a:rPr>
              <a:t>TEST  9,619</a:t>
            </a:r>
          </a:p>
        </p:txBody>
      </p:sp>
      <p:sp>
        <p:nvSpPr>
          <p:cNvPr id="12" name="Rectangle 11">
            <a:extLst>
              <a:ext uri="{FF2B5EF4-FFF2-40B4-BE49-F238E27FC236}">
                <a16:creationId xmlns:a16="http://schemas.microsoft.com/office/drawing/2014/main" id="{05D11547-0F61-4549-AE91-60711B88ACB8}"/>
              </a:ext>
            </a:extLst>
          </p:cNvPr>
          <p:cNvSpPr>
            <a:spLocks noGrp="1"/>
          </p:cNvSpPr>
          <p:nvPr/>
        </p:nvSpPr>
        <p:spPr>
          <a:xfrm>
            <a:off x="8353425" y="1857375"/>
            <a:ext cx="2857500" cy="266700"/>
          </a:xfrm>
          <a:prstGeom prst="rect">
            <a:avLst/>
          </a:prstGeom>
          <a:noFill/>
          <a:ln w="0">
            <a:noFill/>
            <a:prstDash val="solid"/>
          </a:ln>
        </p:spPr>
        <p:txBody>
          <a:bodyPr wrap="square" lIns="0" tIns="0" rIns="0" bIns="0" anchor="t">
            <a:normAutofit/>
          </a:bodyPr>
          <a:lstStyle>
            <a:defPPr algn="r">
              <a:defRPr sz="1500" b="1">
                <a:solidFill>
                  <a:srgbClr val="53616A"/>
                </a:solidFill>
                <a:latin typeface="Segoe UI"/>
                <a:ea typeface="Segoe UI"/>
                <a:cs typeface="Segoe UI"/>
              </a:defRPr>
            </a:defPPr>
          </a:lstStyle>
          <a:p>
            <a:pPr algn="r">
              <a:lnSpc>
                <a:spcPct val="108000"/>
              </a:lnSpc>
              <a:buNone/>
              <a:defRPr sz="1500" b="1">
                <a:solidFill>
                  <a:srgbClr val="53616A"/>
                </a:solidFill>
                <a:latin typeface="Segoe UI"/>
                <a:ea typeface="Segoe UI"/>
                <a:cs typeface="Segoe UI"/>
              </a:defRPr>
            </a:pPr>
            <a:r>
              <a:rPr sz="1500" b="1">
                <a:solidFill>
                  <a:srgbClr val="53616A"/>
                </a:solidFill>
                <a:latin typeface="Segoe UI"/>
                <a:ea typeface="Segoe UI"/>
                <a:cs typeface="Segoe UI"/>
              </a:rPr>
              <a:t>70%  /  15%  /  15%</a:t>
            </a:r>
          </a:p>
        </p:txBody>
      </p:sp>
      <p:sp>
        <p:nvSpPr>
          <p:cNvPr id="13" name="Rectangle 12">
            <a:extLst>
              <a:ext uri="{FF2B5EF4-FFF2-40B4-BE49-F238E27FC236}">
                <a16:creationId xmlns:a16="http://schemas.microsoft.com/office/drawing/2014/main" id="{C847C47D-D1EF-46F1-929F-F6C1D6FA16D9}"/>
              </a:ext>
            </a:extLst>
          </p:cNvPr>
          <p:cNvSpPr>
            <a:spLocks noGrp="1"/>
          </p:cNvSpPr>
          <p:nvPr/>
        </p:nvSpPr>
        <p:spPr>
          <a:xfrm>
            <a:off x="609600" y="2381250"/>
            <a:ext cx="10477500" cy="561975"/>
          </a:xfrm>
          <a:prstGeom prst="rect">
            <a:avLst/>
          </a:prstGeom>
          <a:noFill/>
          <a:ln w="0">
            <a:noFill/>
            <a:prstDash val="solid"/>
          </a:ln>
        </p:spPr>
        <p:txBody>
          <a:bodyPr wrap="square" lIns="0" tIns="0" rIns="0" bIns="0" anchor="t">
            <a:normAutofit/>
          </a:bodyPr>
          <a:lstStyle>
            <a:defPPr algn="l">
              <a:defRPr sz="1725" b="0">
                <a:solidFill>
                  <a:srgbClr val="172532"/>
                </a:solidFill>
                <a:latin typeface="Segoe UI"/>
                <a:ea typeface="Segoe UI"/>
                <a:cs typeface="Segoe UI"/>
              </a:defRPr>
            </a:defPPr>
          </a:lstStyle>
          <a:p>
            <a:pPr algn="l">
              <a:lnSpc>
                <a:spcPct val="108000"/>
              </a:lnSpc>
              <a:buNone/>
              <a:defRPr sz="1725" b="0">
                <a:solidFill>
                  <a:srgbClr val="172532"/>
                </a:solidFill>
                <a:latin typeface="Segoe UI"/>
                <a:ea typeface="Segoe UI"/>
                <a:cs typeface="Segoe UI"/>
              </a:defRPr>
            </a:pPr>
            <a:r>
              <a:rPr sz="1725" b="0">
                <a:solidFill>
                  <a:srgbClr val="172532"/>
                </a:solidFill>
                <a:latin typeface="Segoe UI"/>
                <a:ea typeface="Segoe UI"/>
                <a:cs typeface="Segoe UI"/>
              </a:rPr>
              <a:t>The Premium threshold and SVM scaling parameters come from training data only.</a:t>
            </a:r>
          </a:p>
        </p:txBody>
      </p:sp>
      <p:sp>
        <p:nvSpPr>
          <p:cNvPr id="14" name="Rectangle 13">
            <a:extLst>
              <a:ext uri="{FF2B5EF4-FFF2-40B4-BE49-F238E27FC236}">
                <a16:creationId xmlns:a16="http://schemas.microsoft.com/office/drawing/2014/main" id="{5BB8082F-FDA5-44C8-8457-0D32FB5A6CF2}"/>
              </a:ext>
            </a:extLst>
          </p:cNvPr>
          <p:cNvSpPr>
            <a:spLocks noGrp="1"/>
          </p:cNvSpPr>
          <p:nvPr/>
        </p:nvSpPr>
        <p:spPr>
          <a:xfrm>
            <a:off x="609600" y="3190875"/>
            <a:ext cx="5381625" cy="2752725"/>
          </a:xfrm>
          <a:prstGeom prst="rect">
            <a:avLst/>
          </a:prstGeom>
          <a:solidFill>
            <a:srgbClr val="FFFFFF"/>
          </a:solidFill>
          <a:ln w="9525">
            <a:solidFill>
              <a:srgbClr val="E8EAE7"/>
            </a:solidFill>
            <a:prstDash val="solid"/>
          </a:ln>
        </p:spPr>
      </p:sp>
      <p:pic>
        <p:nvPicPr>
          <p:cNvPr id="15" name="Picture 14">
            <a:extLst>
              <a:ext uri="{FF2B5EF4-FFF2-40B4-BE49-F238E27FC236}">
                <a16:creationId xmlns:a16="http://schemas.microsoft.com/office/drawing/2014/main" id="{A6D3CF84-657B-4C0A-B524-02ADC93F6359}"/>
              </a:ext>
            </a:extLst>
          </p:cNvPr>
          <p:cNvPicPr>
            <a:picLocks noChangeAspect="1"/>
          </p:cNvPicPr>
          <p:nvPr/>
        </p:nvPicPr>
        <p:blipFill>
          <a:blip r:embed="rId3"/>
          <a:stretch/>
        </p:blipFill>
        <p:spPr>
          <a:xfrm>
            <a:off x="1075134" y="3305175"/>
            <a:ext cx="4450556" cy="2543175"/>
          </a:xfrm>
          <a:prstGeom prst="rect">
            <a:avLst/>
          </a:prstGeom>
        </p:spPr>
      </p:pic>
      <p:sp>
        <p:nvSpPr>
          <p:cNvPr id="16" name="Rectangle: Rounded Corners 15">
            <a:extLst>
              <a:ext uri="{FF2B5EF4-FFF2-40B4-BE49-F238E27FC236}">
                <a16:creationId xmlns:a16="http://schemas.microsoft.com/office/drawing/2014/main" id="{58D49505-C694-4968-BE8C-A258E22D370E}"/>
              </a:ext>
            </a:extLst>
          </p:cNvPr>
          <p:cNvSpPr>
            <a:spLocks noGrp="1"/>
          </p:cNvSpPr>
          <p:nvPr/>
        </p:nvSpPr>
        <p:spPr>
          <a:xfrm>
            <a:off x="6372225" y="3190875"/>
            <a:ext cx="4905375" cy="2752725"/>
          </a:xfrm>
          <a:prstGeom prst="roundRect">
            <a:avLst>
              <a:gd name="adj" fmla="val 2768"/>
            </a:avLst>
          </a:prstGeom>
          <a:solidFill>
            <a:srgbClr val="142539"/>
          </a:solidFill>
          <a:ln w="0">
            <a:noFill/>
            <a:prstDash val="solid"/>
          </a:ln>
        </p:spPr>
      </p:sp>
      <p:sp>
        <p:nvSpPr>
          <p:cNvPr id="17" name="Rectangle 16">
            <a:extLst>
              <a:ext uri="{FF2B5EF4-FFF2-40B4-BE49-F238E27FC236}">
                <a16:creationId xmlns:a16="http://schemas.microsoft.com/office/drawing/2014/main" id="{531B55E5-1593-4F5A-9E44-A9532728A499}"/>
              </a:ext>
            </a:extLst>
          </p:cNvPr>
          <p:cNvSpPr>
            <a:spLocks noGrp="1"/>
          </p:cNvSpPr>
          <p:nvPr/>
        </p:nvSpPr>
        <p:spPr>
          <a:xfrm>
            <a:off x="6629400" y="3467100"/>
            <a:ext cx="4095750" cy="333375"/>
          </a:xfrm>
          <a:prstGeom prst="rect">
            <a:avLst/>
          </a:prstGeom>
          <a:noFill/>
          <a:ln w="0">
            <a:noFill/>
            <a:prstDash val="solid"/>
          </a:ln>
        </p:spPr>
        <p:txBody>
          <a:bodyPr wrap="square" lIns="0" tIns="0" rIns="0" bIns="0" anchor="t">
            <a:normAutofit/>
          </a:bodyPr>
          <a:lstStyle>
            <a:defPPr algn="l">
              <a:defRPr sz="2025" b="1">
                <a:solidFill>
                  <a:srgbClr val="FFFFFF"/>
                </a:solidFill>
                <a:latin typeface="Segoe UI"/>
                <a:ea typeface="Segoe UI"/>
                <a:cs typeface="Segoe UI"/>
              </a:defRPr>
            </a:defPPr>
          </a:lstStyle>
          <a:p>
            <a:pPr algn="l">
              <a:lnSpc>
                <a:spcPct val="108000"/>
              </a:lnSpc>
              <a:buNone/>
              <a:defRPr sz="2025" b="1">
                <a:solidFill>
                  <a:srgbClr val="FFFFFF"/>
                </a:solidFill>
                <a:latin typeface="Segoe UI"/>
                <a:ea typeface="Segoe UI"/>
                <a:cs typeface="Segoe UI"/>
              </a:defRPr>
            </a:pPr>
            <a:r>
              <a:rPr sz="2025" b="1">
                <a:solidFill>
                  <a:srgbClr val="FFFFFF"/>
                </a:solidFill>
                <a:latin typeface="Segoe UI"/>
                <a:ea typeface="Segoe UI"/>
                <a:cs typeface="Segoe UI"/>
              </a:rPr>
              <a:t>What the data shows</a:t>
            </a:r>
          </a:p>
        </p:txBody>
      </p:sp>
      <p:sp>
        <p:nvSpPr>
          <p:cNvPr id="18" name="Rectangle 17">
            <a:extLst>
              <a:ext uri="{FF2B5EF4-FFF2-40B4-BE49-F238E27FC236}">
                <a16:creationId xmlns:a16="http://schemas.microsoft.com/office/drawing/2014/main" id="{AA45182F-E8C0-4D14-9A47-B60786623BB3}"/>
              </a:ext>
            </a:extLst>
          </p:cNvPr>
          <p:cNvSpPr>
            <a:spLocks noGrp="1"/>
          </p:cNvSpPr>
          <p:nvPr/>
        </p:nvSpPr>
        <p:spPr>
          <a:xfrm>
            <a:off x="6629400" y="4057650"/>
            <a:ext cx="4076700" cy="790575"/>
          </a:xfrm>
          <a:prstGeom prst="rect">
            <a:avLst/>
          </a:prstGeom>
          <a:noFill/>
          <a:ln w="0">
            <a:noFill/>
            <a:prstDash val="solid"/>
          </a:ln>
        </p:spPr>
        <p:txBody>
          <a:bodyPr wrap="square" lIns="0" tIns="0" rIns="0" bIns="0" anchor="t">
            <a:normAutofit/>
          </a:bodyPr>
          <a:lstStyle>
            <a:defPPr algn="l">
              <a:defRPr sz="1875" b="0">
                <a:solidFill>
                  <a:srgbClr val="FFFFFF"/>
                </a:solidFill>
                <a:latin typeface="Segoe UI"/>
                <a:ea typeface="Segoe UI"/>
                <a:cs typeface="Segoe UI"/>
              </a:defRPr>
            </a:defPPr>
          </a:lstStyle>
          <a:p>
            <a:pPr algn="l">
              <a:lnSpc>
                <a:spcPct val="108000"/>
              </a:lnSpc>
              <a:buNone/>
              <a:defRPr sz="1875" b="0">
                <a:solidFill>
                  <a:srgbClr val="FFFFFF"/>
                </a:solidFill>
                <a:latin typeface="Segoe UI"/>
                <a:ea typeface="Segoe UI"/>
                <a:cs typeface="Segoe UI"/>
              </a:defRPr>
            </a:pPr>
            <a:r>
              <a:rPr sz="1875" b="0">
                <a:solidFill>
                  <a:srgbClr val="FFFFFF"/>
                </a:solidFill>
                <a:latin typeface="Segoe UI"/>
                <a:ea typeface="Segoe UI"/>
                <a:cs typeface="Segoe UI"/>
              </a:rPr>
              <a:t>Area rises with price, but listings vary widely at the same area.</a:t>
            </a:r>
          </a:p>
        </p:txBody>
      </p:sp>
      <p:sp>
        <p:nvSpPr>
          <p:cNvPr id="19" name="Rectangle 18">
            <a:extLst>
              <a:ext uri="{FF2B5EF4-FFF2-40B4-BE49-F238E27FC236}">
                <a16:creationId xmlns:a16="http://schemas.microsoft.com/office/drawing/2014/main" id="{FDE71138-AB40-4E0B-9B46-697B045C3F8A}"/>
              </a:ext>
            </a:extLst>
          </p:cNvPr>
          <p:cNvSpPr>
            <a:spLocks noGrp="1"/>
          </p:cNvSpPr>
          <p:nvPr/>
        </p:nvSpPr>
        <p:spPr>
          <a:xfrm>
            <a:off x="6629400" y="5067300"/>
            <a:ext cx="4048125" cy="609600"/>
          </a:xfrm>
          <a:prstGeom prst="rect">
            <a:avLst/>
          </a:prstGeom>
          <a:noFill/>
          <a:ln w="0">
            <a:noFill/>
            <a:prstDash val="solid"/>
          </a:ln>
        </p:spPr>
        <p:txBody>
          <a:bodyPr wrap="square" lIns="0" tIns="0" rIns="0" bIns="0" anchor="t">
            <a:normAutofit/>
          </a:bodyPr>
          <a:lstStyle>
            <a:defPPr algn="l">
              <a:defRPr sz="1575" b="0">
                <a:solidFill>
                  <a:srgbClr val="BFD7D8"/>
                </a:solidFill>
                <a:latin typeface="Segoe UI"/>
                <a:ea typeface="Segoe UI"/>
                <a:cs typeface="Segoe UI"/>
              </a:defRPr>
            </a:defPPr>
          </a:lstStyle>
          <a:p>
            <a:pPr algn="l">
              <a:lnSpc>
                <a:spcPct val="108000"/>
              </a:lnSpc>
              <a:buNone/>
              <a:defRPr sz="1575" b="0">
                <a:solidFill>
                  <a:srgbClr val="BFD7D8"/>
                </a:solidFill>
                <a:latin typeface="Segoe UI"/>
                <a:ea typeface="Segoe UI"/>
                <a:cs typeface="Segoe UI"/>
              </a:defRPr>
            </a:pPr>
            <a:r>
              <a:rPr sz="1575" b="0">
                <a:solidFill>
                  <a:srgbClr val="BFD7D8"/>
                </a:solidFill>
                <a:latin typeface="Segoe UI"/>
                <a:ea typeface="Segoe UI"/>
                <a:cs typeface="Segoe UI"/>
              </a:rPr>
              <a:t>This helps explain why price regression remains difficult.</a:t>
            </a:r>
          </a:p>
        </p:txBody>
      </p:sp>
    </p:spTree>
    <p:extLst>
      <p:ext uri="{BB962C8B-B14F-4D97-AF65-F5344CB8AC3E}">
        <p14:creationId xmlns:p14="http://schemas.microsoft.com/office/powerpoint/2010/main" val="1242665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F051FD8-21AB-48CB-A187-D7659F226D73}"/>
              </a:ext>
            </a:extLst>
          </p:cNvPr>
          <p:cNvSpPr>
            <a:spLocks noGrp="1"/>
          </p:cNvSpPr>
          <p:nvPr/>
        </p:nvSpPr>
        <p:spPr>
          <a:xfrm>
            <a:off x="609600" y="304800"/>
            <a:ext cx="7143750" cy="209550"/>
          </a:xfrm>
          <a:prstGeom prst="rect">
            <a:avLst/>
          </a:prstGeom>
          <a:noFill/>
          <a:ln w="0">
            <a:noFill/>
            <a:prstDash val="solid"/>
          </a:ln>
        </p:spPr>
        <p:txBody>
          <a:bodyPr wrap="square" lIns="0" tIns="0" rIns="0" bIns="0" anchor="t">
            <a:normAutofit/>
          </a:bodyPr>
          <a:lstStyle>
            <a:defPPr algn="l">
              <a:defRPr sz="1050" b="1">
                <a:solidFill>
                  <a:srgbClr val="087D76"/>
                </a:solidFill>
                <a:latin typeface="Segoe UI"/>
                <a:ea typeface="Segoe UI"/>
                <a:cs typeface="Segoe UI"/>
              </a:defRPr>
            </a:defPPr>
          </a:lstStyle>
          <a:p>
            <a:pPr algn="l">
              <a:lnSpc>
                <a:spcPct val="108000"/>
              </a:lnSpc>
              <a:buNone/>
              <a:defRPr sz="1050" b="1">
                <a:solidFill>
                  <a:srgbClr val="087D76"/>
                </a:solidFill>
                <a:latin typeface="Segoe UI"/>
                <a:ea typeface="Segoe UI"/>
                <a:cs typeface="Segoe UI"/>
              </a:defRPr>
            </a:pPr>
            <a:r>
              <a:rPr sz="1050" b="1">
                <a:solidFill>
                  <a:srgbClr val="087D76"/>
                </a:solidFill>
                <a:latin typeface="Segoe UI"/>
                <a:ea typeface="Segoe UI"/>
                <a:cs typeface="Segoe UI"/>
              </a:rPr>
              <a:t>DECISION TREE  /  SAMIR</a:t>
            </a:r>
          </a:p>
        </p:txBody>
      </p:sp>
      <p:sp>
        <p:nvSpPr>
          <p:cNvPr id="2" name="Rectangle 1">
            <a:extLst>
              <a:ext uri="{FF2B5EF4-FFF2-40B4-BE49-F238E27FC236}">
                <a16:creationId xmlns:a16="http://schemas.microsoft.com/office/drawing/2014/main" id="{F082ED3C-4D07-4BFD-95AD-5FD59FEEF9CB}"/>
              </a:ext>
            </a:extLst>
          </p:cNvPr>
          <p:cNvSpPr>
            <a:spLocks noGrp="1"/>
          </p:cNvSpPr>
          <p:nvPr/>
        </p:nvSpPr>
        <p:spPr>
          <a:xfrm>
            <a:off x="609600" y="647700"/>
            <a:ext cx="10953750" cy="647700"/>
          </a:xfrm>
          <a:prstGeom prst="rect">
            <a:avLst/>
          </a:prstGeom>
          <a:noFill/>
          <a:ln w="0">
            <a:noFill/>
            <a:prstDash val="solid"/>
          </a:ln>
        </p:spPr>
        <p:txBody>
          <a:bodyPr wrap="square" lIns="0" tIns="0" rIns="0" bIns="0" anchor="t">
            <a:normAutofit/>
          </a:bodyPr>
          <a:lstStyle>
            <a:defPPr algn="l">
              <a:defRPr sz="3075" b="1">
                <a:solidFill>
                  <a:srgbClr val="172532"/>
                </a:solidFill>
                <a:latin typeface="Segoe UI"/>
                <a:ea typeface="Segoe UI"/>
                <a:cs typeface="Segoe UI"/>
              </a:defRPr>
            </a:defPPr>
          </a:lstStyle>
          <a:p>
            <a:pPr algn="l">
              <a:lnSpc>
                <a:spcPct val="108000"/>
              </a:lnSpc>
              <a:buNone/>
              <a:defRPr sz="3075" b="1">
                <a:solidFill>
                  <a:srgbClr val="172532"/>
                </a:solidFill>
                <a:latin typeface="Segoe UI"/>
                <a:ea typeface="Segoe UI"/>
                <a:cs typeface="Segoe UI"/>
              </a:defRPr>
            </a:pPr>
            <a:r>
              <a:rPr sz="3075" b="1">
                <a:solidFill>
                  <a:srgbClr val="172532"/>
                </a:solidFill>
                <a:latin typeface="Segoe UI"/>
                <a:ea typeface="Segoe UI"/>
                <a:cs typeface="Segoe UI"/>
              </a:rPr>
              <a:t>A tree learns one split at a time</a:t>
            </a:r>
          </a:p>
        </p:txBody>
      </p:sp>
      <p:sp>
        <p:nvSpPr>
          <p:cNvPr id="3" name="Rectangle 2">
            <a:extLst>
              <a:ext uri="{FF2B5EF4-FFF2-40B4-BE49-F238E27FC236}">
                <a16:creationId xmlns:a16="http://schemas.microsoft.com/office/drawing/2014/main" id="{E46CAB1E-C28D-4309-96D9-EE49DC22F519}"/>
              </a:ext>
            </a:extLst>
          </p:cNvPr>
          <p:cNvSpPr>
            <a:spLocks noGrp="1"/>
          </p:cNvSpPr>
          <p:nvPr/>
        </p:nvSpPr>
        <p:spPr>
          <a:xfrm>
            <a:off x="609600" y="1381125"/>
            <a:ext cx="10972800" cy="19050"/>
          </a:xfrm>
          <a:prstGeom prst="rect">
            <a:avLst/>
          </a:prstGeom>
          <a:solidFill>
            <a:srgbClr val="E8EAE7"/>
          </a:solidFill>
          <a:ln w="0">
            <a:noFill/>
            <a:prstDash val="solid"/>
          </a:ln>
        </p:spPr>
      </p:sp>
      <p:sp>
        <p:nvSpPr>
          <p:cNvPr id="4" name="Rectangle 3">
            <a:extLst>
              <a:ext uri="{FF2B5EF4-FFF2-40B4-BE49-F238E27FC236}">
                <a16:creationId xmlns:a16="http://schemas.microsoft.com/office/drawing/2014/main" id="{4D82FF43-3267-4302-85F1-25059F6914EC}"/>
              </a:ext>
            </a:extLst>
          </p:cNvPr>
          <p:cNvSpPr>
            <a:spLocks noGrp="1"/>
          </p:cNvSpPr>
          <p:nvPr/>
        </p:nvSpPr>
        <p:spPr>
          <a:xfrm>
            <a:off x="609600" y="6448425"/>
            <a:ext cx="4762500" cy="171450"/>
          </a:xfrm>
          <a:prstGeom prst="rect">
            <a:avLst/>
          </a:prstGeom>
          <a:noFill/>
          <a:ln w="0">
            <a:noFill/>
            <a:prstDash val="solid"/>
          </a:ln>
        </p:spPr>
        <p:txBody>
          <a:bodyPr wrap="square" lIns="0" tIns="0" rIns="0" bIns="0" anchor="t">
            <a:normAutofit/>
          </a:bodyPr>
          <a:lstStyle>
            <a:defPPr algn="l">
              <a:defRPr sz="975" b="0">
                <a:solidFill>
                  <a:srgbClr val="53616A"/>
                </a:solidFill>
                <a:latin typeface="Segoe UI"/>
                <a:ea typeface="Segoe UI"/>
                <a:cs typeface="Segoe UI"/>
              </a:defRPr>
            </a:defPPr>
          </a:lstStyle>
          <a:p>
            <a:pPr algn="l">
              <a:lnSpc>
                <a:spcPct val="108000"/>
              </a:lnSpc>
              <a:buNone/>
              <a:defRPr sz="975" b="0">
                <a:solidFill>
                  <a:srgbClr val="53616A"/>
                </a:solidFill>
                <a:latin typeface="Segoe UI"/>
                <a:ea typeface="Segoe UI"/>
                <a:cs typeface="Segoe UI"/>
              </a:defRPr>
            </a:pPr>
            <a:r>
              <a:rPr sz="975" b="0">
                <a:solidFill>
                  <a:srgbClr val="53616A"/>
                </a:solidFill>
                <a:latin typeface="Segoe UI"/>
                <a:ea typeface="Segoe UI"/>
                <a:cs typeface="Segoe UI"/>
              </a:rPr>
              <a:t>AI Academy  /  MLE-AI-201</a:t>
            </a:r>
          </a:p>
        </p:txBody>
      </p:sp>
      <p:sp>
        <p:nvSpPr>
          <p:cNvPr id="5" name="Rectangle 4">
            <a:extLst>
              <a:ext uri="{FF2B5EF4-FFF2-40B4-BE49-F238E27FC236}">
                <a16:creationId xmlns:a16="http://schemas.microsoft.com/office/drawing/2014/main" id="{3F360777-615D-4DFD-8B60-CD15E5ABFD84}"/>
              </a:ext>
            </a:extLst>
          </p:cNvPr>
          <p:cNvSpPr>
            <a:spLocks noGrp="1"/>
          </p:cNvSpPr>
          <p:nvPr/>
        </p:nvSpPr>
        <p:spPr>
          <a:xfrm>
            <a:off x="11049000" y="6429375"/>
            <a:ext cx="571500" cy="209550"/>
          </a:xfrm>
          <a:prstGeom prst="rect">
            <a:avLst/>
          </a:prstGeom>
          <a:noFill/>
          <a:ln w="0">
            <a:noFill/>
            <a:prstDash val="solid"/>
          </a:ln>
        </p:spPr>
        <p:txBody>
          <a:bodyPr wrap="square" lIns="0" tIns="0" rIns="0" bIns="0" anchor="t">
            <a:normAutofit/>
          </a:bodyPr>
          <a:lstStyle>
            <a:defPPr algn="r">
              <a:defRPr sz="1050" b="1">
                <a:solidFill>
                  <a:srgbClr val="53616A"/>
                </a:solidFill>
                <a:latin typeface="Segoe UI"/>
                <a:ea typeface="Segoe UI"/>
                <a:cs typeface="Segoe UI"/>
              </a:defRPr>
            </a:defPPr>
          </a:lstStyle>
          <a:p>
            <a:pPr algn="r">
              <a:lnSpc>
                <a:spcPct val="108000"/>
              </a:lnSpc>
              <a:buNone/>
              <a:defRPr sz="1050" b="1">
                <a:solidFill>
                  <a:srgbClr val="53616A"/>
                </a:solidFill>
                <a:latin typeface="Segoe UI"/>
                <a:ea typeface="Segoe UI"/>
                <a:cs typeface="Segoe UI"/>
              </a:defRPr>
            </a:pPr>
            <a:r>
              <a:rPr sz="1050" b="1">
                <a:solidFill>
                  <a:srgbClr val="53616A"/>
                </a:solidFill>
                <a:latin typeface="Segoe UI"/>
                <a:ea typeface="Segoe UI"/>
                <a:cs typeface="Segoe UI"/>
              </a:rPr>
              <a:t>05</a:t>
            </a:r>
          </a:p>
        </p:txBody>
      </p:sp>
      <p:sp>
        <p:nvSpPr>
          <p:cNvPr id="6" name="Rectangle 5">
            <a:extLst>
              <a:ext uri="{FF2B5EF4-FFF2-40B4-BE49-F238E27FC236}">
                <a16:creationId xmlns:a16="http://schemas.microsoft.com/office/drawing/2014/main" id="{40852F42-CAF0-4E12-BB45-7FE3F089276A}"/>
              </a:ext>
            </a:extLst>
          </p:cNvPr>
          <p:cNvSpPr>
            <a:spLocks noGrp="1"/>
          </p:cNvSpPr>
          <p:nvPr/>
        </p:nvSpPr>
        <p:spPr>
          <a:xfrm>
            <a:off x="609600" y="1733550"/>
            <a:ext cx="10239375" cy="638175"/>
          </a:xfrm>
          <a:prstGeom prst="rect">
            <a:avLst/>
          </a:prstGeom>
          <a:noFill/>
          <a:ln w="0">
            <a:noFill/>
            <a:prstDash val="solid"/>
          </a:ln>
        </p:spPr>
        <p:txBody>
          <a:bodyPr wrap="square" lIns="0" tIns="0" rIns="0" bIns="0" anchor="t">
            <a:normAutofit/>
          </a:bodyPr>
          <a:lstStyle>
            <a:defPPr algn="l">
              <a:defRPr sz="1950" b="0">
                <a:solidFill>
                  <a:srgbClr val="172532"/>
                </a:solidFill>
                <a:latin typeface="Segoe UI"/>
                <a:ea typeface="Segoe UI"/>
                <a:cs typeface="Segoe UI"/>
              </a:defRPr>
            </a:defPPr>
          </a:lstStyle>
          <a:p>
            <a:pPr algn="l">
              <a:lnSpc>
                <a:spcPct val="108000"/>
              </a:lnSpc>
              <a:buNone/>
              <a:defRPr sz="1950" b="0">
                <a:solidFill>
                  <a:srgbClr val="172532"/>
                </a:solidFill>
                <a:latin typeface="Segoe UI"/>
                <a:ea typeface="Segoe UI"/>
                <a:cs typeface="Segoe UI"/>
              </a:defRPr>
            </a:pPr>
            <a:r>
              <a:rPr sz="1950" b="0">
                <a:solidFill>
                  <a:srgbClr val="172532"/>
                </a:solidFill>
                <a:latin typeface="Segoe UI"/>
                <a:ea typeface="Segoe UI"/>
                <a:cs typeface="Segoe UI"/>
              </a:rPr>
              <a:t>At each node, search feature values for the split with the largest impurity reduction.</a:t>
            </a:r>
          </a:p>
        </p:txBody>
      </p:sp>
      <p:sp>
        <p:nvSpPr>
          <p:cNvPr id="7" name="Rectangle: Rounded Corners 6">
            <a:extLst>
              <a:ext uri="{FF2B5EF4-FFF2-40B4-BE49-F238E27FC236}">
                <a16:creationId xmlns:a16="http://schemas.microsoft.com/office/drawing/2014/main" id="{70A63D15-F30B-456F-A3CF-84B980F1A942}"/>
              </a:ext>
            </a:extLst>
          </p:cNvPr>
          <p:cNvSpPr>
            <a:spLocks noGrp="1"/>
          </p:cNvSpPr>
          <p:nvPr/>
        </p:nvSpPr>
        <p:spPr>
          <a:xfrm>
            <a:off x="4314825" y="2590800"/>
            <a:ext cx="3543300" cy="723900"/>
          </a:xfrm>
          <a:prstGeom prst="roundRect">
            <a:avLst>
              <a:gd name="adj" fmla="val 10526"/>
            </a:avLst>
          </a:prstGeom>
          <a:solidFill>
            <a:srgbClr val="142539"/>
          </a:solidFill>
          <a:ln w="0">
            <a:noFill/>
            <a:prstDash val="solid"/>
          </a:ln>
        </p:spPr>
      </p:sp>
      <p:sp>
        <p:nvSpPr>
          <p:cNvPr id="8" name="Rectangle 7">
            <a:extLst>
              <a:ext uri="{FF2B5EF4-FFF2-40B4-BE49-F238E27FC236}">
                <a16:creationId xmlns:a16="http://schemas.microsoft.com/office/drawing/2014/main" id="{298871CE-5F4F-49C5-A1FB-68719C17E904}"/>
              </a:ext>
            </a:extLst>
          </p:cNvPr>
          <p:cNvSpPr>
            <a:spLocks noGrp="1"/>
          </p:cNvSpPr>
          <p:nvPr/>
        </p:nvSpPr>
        <p:spPr>
          <a:xfrm>
            <a:off x="4514850" y="2781300"/>
            <a:ext cx="3143250" cy="371475"/>
          </a:xfrm>
          <a:prstGeom prst="rect">
            <a:avLst/>
          </a:prstGeom>
          <a:noFill/>
          <a:ln w="0">
            <a:noFill/>
            <a:prstDash val="solid"/>
          </a:ln>
        </p:spPr>
        <p:txBody>
          <a:bodyPr wrap="square" lIns="0" tIns="0" rIns="0" bIns="0" anchor="t">
            <a:normAutofit/>
          </a:bodyPr>
          <a:lstStyle>
            <a:defPPr algn="ctr">
              <a:defRPr sz="1725" b="1">
                <a:solidFill>
                  <a:srgbClr val="FFFFFF"/>
                </a:solidFill>
                <a:latin typeface="Segoe UI"/>
                <a:ea typeface="Segoe UI"/>
                <a:cs typeface="Segoe UI"/>
              </a:defRPr>
            </a:defPPr>
          </a:lstStyle>
          <a:p>
            <a:pPr algn="ctr">
              <a:lnSpc>
                <a:spcPct val="108000"/>
              </a:lnSpc>
              <a:buNone/>
              <a:defRPr sz="1725" b="1">
                <a:solidFill>
                  <a:srgbClr val="FFFFFF"/>
                </a:solidFill>
                <a:latin typeface="Segoe UI"/>
                <a:ea typeface="Segoe UI"/>
                <a:cs typeface="Segoe UI"/>
              </a:defRPr>
            </a:pPr>
            <a:r>
              <a:rPr sz="1725" b="1">
                <a:solidFill>
                  <a:srgbClr val="FFFFFF"/>
                </a:solidFill>
                <a:latin typeface="Segoe UI"/>
                <a:ea typeface="Segoe UI"/>
                <a:cs typeface="Segoe UI"/>
              </a:rPr>
              <a:t>Best feature + threshold?</a:t>
            </a:r>
          </a:p>
        </p:txBody>
      </p:sp>
      <p:sp>
        <p:nvSpPr>
          <p:cNvPr id="9" name="Rectangle 8">
            <a:extLst>
              <a:ext uri="{FF2B5EF4-FFF2-40B4-BE49-F238E27FC236}">
                <a16:creationId xmlns:a16="http://schemas.microsoft.com/office/drawing/2014/main" id="{434235BA-6B89-41BE-9788-8DE329EEF64B}"/>
              </a:ext>
            </a:extLst>
          </p:cNvPr>
          <p:cNvSpPr>
            <a:spLocks noGrp="1"/>
          </p:cNvSpPr>
          <p:nvPr/>
        </p:nvSpPr>
        <p:spPr>
          <a:xfrm>
            <a:off x="5581650" y="3314700"/>
            <a:ext cx="19050" cy="504825"/>
          </a:xfrm>
          <a:prstGeom prst="rect">
            <a:avLst/>
          </a:prstGeom>
          <a:solidFill>
            <a:srgbClr val="087D76"/>
          </a:solidFill>
          <a:ln w="0">
            <a:noFill/>
            <a:prstDash val="solid"/>
          </a:ln>
        </p:spPr>
      </p:sp>
      <p:sp>
        <p:nvSpPr>
          <p:cNvPr id="10" name="Rectangle 9">
            <a:extLst>
              <a:ext uri="{FF2B5EF4-FFF2-40B4-BE49-F238E27FC236}">
                <a16:creationId xmlns:a16="http://schemas.microsoft.com/office/drawing/2014/main" id="{8C3F05F2-ACAB-42CD-97AD-8EC3D01B0D66}"/>
              </a:ext>
            </a:extLst>
          </p:cNvPr>
          <p:cNvSpPr>
            <a:spLocks noGrp="1"/>
          </p:cNvSpPr>
          <p:nvPr/>
        </p:nvSpPr>
        <p:spPr>
          <a:xfrm>
            <a:off x="6591300" y="3314700"/>
            <a:ext cx="19050" cy="504825"/>
          </a:xfrm>
          <a:prstGeom prst="rect">
            <a:avLst/>
          </a:prstGeom>
          <a:solidFill>
            <a:srgbClr val="087D76"/>
          </a:solidFill>
          <a:ln w="0">
            <a:noFill/>
            <a:prstDash val="solid"/>
          </a:ln>
        </p:spPr>
      </p:sp>
      <p:sp>
        <p:nvSpPr>
          <p:cNvPr id="11" name="Rectangle: Rounded Corners 10">
            <a:extLst>
              <a:ext uri="{FF2B5EF4-FFF2-40B4-BE49-F238E27FC236}">
                <a16:creationId xmlns:a16="http://schemas.microsoft.com/office/drawing/2014/main" id="{0EEA4C1D-4F43-4D76-8472-827E2E8909EB}"/>
              </a:ext>
            </a:extLst>
          </p:cNvPr>
          <p:cNvSpPr>
            <a:spLocks noGrp="1"/>
          </p:cNvSpPr>
          <p:nvPr/>
        </p:nvSpPr>
        <p:spPr>
          <a:xfrm>
            <a:off x="2286000" y="3838575"/>
            <a:ext cx="3295650" cy="1095375"/>
          </a:xfrm>
          <a:prstGeom prst="roundRect">
            <a:avLst>
              <a:gd name="adj" fmla="val 6957"/>
            </a:avLst>
          </a:prstGeom>
          <a:solidFill>
            <a:srgbClr val="DCECE7"/>
          </a:solidFill>
          <a:ln w="0">
            <a:noFill/>
            <a:prstDash val="solid"/>
          </a:ln>
        </p:spPr>
      </p:sp>
      <p:sp>
        <p:nvSpPr>
          <p:cNvPr id="12" name="Rectangle: Rounded Corners 11">
            <a:extLst>
              <a:ext uri="{FF2B5EF4-FFF2-40B4-BE49-F238E27FC236}">
                <a16:creationId xmlns:a16="http://schemas.microsoft.com/office/drawing/2014/main" id="{B6635C15-F505-42B5-A513-591213822785}"/>
              </a:ext>
            </a:extLst>
          </p:cNvPr>
          <p:cNvSpPr>
            <a:spLocks noGrp="1"/>
          </p:cNvSpPr>
          <p:nvPr/>
        </p:nvSpPr>
        <p:spPr>
          <a:xfrm>
            <a:off x="6610350" y="3838575"/>
            <a:ext cx="3295650" cy="1095375"/>
          </a:xfrm>
          <a:prstGeom prst="roundRect">
            <a:avLst>
              <a:gd name="adj" fmla="val 6957"/>
            </a:avLst>
          </a:prstGeom>
          <a:solidFill>
            <a:srgbClr val="DCECE7"/>
          </a:solidFill>
          <a:ln w="0">
            <a:noFill/>
            <a:prstDash val="solid"/>
          </a:ln>
        </p:spPr>
      </p:sp>
      <p:sp>
        <p:nvSpPr>
          <p:cNvPr id="13" name="Rectangle 12">
            <a:extLst>
              <a:ext uri="{FF2B5EF4-FFF2-40B4-BE49-F238E27FC236}">
                <a16:creationId xmlns:a16="http://schemas.microsoft.com/office/drawing/2014/main" id="{11D4EC7F-BE7D-415F-B983-241C683EF563}"/>
              </a:ext>
            </a:extLst>
          </p:cNvPr>
          <p:cNvSpPr>
            <a:spLocks noGrp="1"/>
          </p:cNvSpPr>
          <p:nvPr/>
        </p:nvSpPr>
        <p:spPr>
          <a:xfrm>
            <a:off x="2571750" y="4076700"/>
            <a:ext cx="2762250" cy="323850"/>
          </a:xfrm>
          <a:prstGeom prst="rect">
            <a:avLst/>
          </a:prstGeom>
          <a:noFill/>
          <a:ln w="0">
            <a:noFill/>
            <a:prstDash val="solid"/>
          </a:ln>
        </p:spPr>
        <p:txBody>
          <a:bodyPr wrap="square" lIns="0" tIns="0" rIns="0" bIns="0" anchor="t">
            <a:normAutofit/>
          </a:bodyPr>
          <a:lstStyle>
            <a:defPPr algn="ctr">
              <a:defRPr sz="1800" b="1">
                <a:solidFill>
                  <a:srgbClr val="087D76"/>
                </a:solidFill>
                <a:latin typeface="Segoe UI"/>
                <a:ea typeface="Segoe UI"/>
                <a:cs typeface="Segoe UI"/>
              </a:defRPr>
            </a:defPPr>
          </a:lstStyle>
          <a:p>
            <a:pPr algn="ctr">
              <a:lnSpc>
                <a:spcPct val="108000"/>
              </a:lnSpc>
              <a:buNone/>
              <a:defRPr sz="1800" b="1">
                <a:solidFill>
                  <a:srgbClr val="087D76"/>
                </a:solidFill>
                <a:latin typeface="Segoe UI"/>
                <a:ea typeface="Segoe UI"/>
                <a:cs typeface="Segoe UI"/>
              </a:defRPr>
            </a:pPr>
            <a:r>
              <a:rPr sz="1800" b="1">
                <a:solidFill>
                  <a:srgbClr val="087D76"/>
                </a:solidFill>
                <a:latin typeface="Segoe UI"/>
                <a:ea typeface="Segoe UI"/>
                <a:cs typeface="Segoe UI"/>
              </a:rPr>
              <a:t>Left branch</a:t>
            </a:r>
          </a:p>
        </p:txBody>
      </p:sp>
      <p:sp>
        <p:nvSpPr>
          <p:cNvPr id="14" name="Rectangle 13">
            <a:extLst>
              <a:ext uri="{FF2B5EF4-FFF2-40B4-BE49-F238E27FC236}">
                <a16:creationId xmlns:a16="http://schemas.microsoft.com/office/drawing/2014/main" id="{65C0A336-D349-4973-85CC-86AAAFFC7F1C}"/>
              </a:ext>
            </a:extLst>
          </p:cNvPr>
          <p:cNvSpPr>
            <a:spLocks noGrp="1"/>
          </p:cNvSpPr>
          <p:nvPr/>
        </p:nvSpPr>
        <p:spPr>
          <a:xfrm>
            <a:off x="2571750" y="4448175"/>
            <a:ext cx="2762250" cy="247650"/>
          </a:xfrm>
          <a:prstGeom prst="rect">
            <a:avLst/>
          </a:prstGeom>
          <a:noFill/>
          <a:ln w="0">
            <a:noFill/>
            <a:prstDash val="solid"/>
          </a:ln>
        </p:spPr>
        <p:txBody>
          <a:bodyPr wrap="square" lIns="0" tIns="0" rIns="0" bIns="0" anchor="t">
            <a:normAutofit/>
          </a:bodyPr>
          <a:lstStyle>
            <a:defPPr algn="ctr">
              <a:defRPr sz="1425" b="0">
                <a:solidFill>
                  <a:srgbClr val="172532"/>
                </a:solidFill>
                <a:latin typeface="Segoe UI"/>
                <a:ea typeface="Segoe UI"/>
                <a:cs typeface="Segoe UI"/>
              </a:defRPr>
            </a:defPPr>
          </a:lstStyle>
          <a:p>
            <a:pPr algn="ctr">
              <a:lnSpc>
                <a:spcPct val="108000"/>
              </a:lnSpc>
              <a:buNone/>
              <a:defRPr sz="1425" b="0">
                <a:solidFill>
                  <a:srgbClr val="172532"/>
                </a:solidFill>
                <a:latin typeface="Segoe UI"/>
                <a:ea typeface="Segoe UI"/>
                <a:cs typeface="Segoe UI"/>
              </a:defRPr>
            </a:pPr>
            <a:r>
              <a:rPr sz="1425" b="0">
                <a:solidFill>
                  <a:srgbClr val="172532"/>
                </a:solidFill>
                <a:latin typeface="Segoe UI"/>
                <a:ea typeface="Segoe UI"/>
                <a:cs typeface="Segoe UI"/>
              </a:rPr>
              <a:t>feature ≤ threshold</a:t>
            </a:r>
          </a:p>
        </p:txBody>
      </p:sp>
      <p:sp>
        <p:nvSpPr>
          <p:cNvPr id="15" name="Rectangle 14">
            <a:extLst>
              <a:ext uri="{FF2B5EF4-FFF2-40B4-BE49-F238E27FC236}">
                <a16:creationId xmlns:a16="http://schemas.microsoft.com/office/drawing/2014/main" id="{A64670F5-A6E7-4E9D-9526-D1DA171837D5}"/>
              </a:ext>
            </a:extLst>
          </p:cNvPr>
          <p:cNvSpPr>
            <a:spLocks noGrp="1"/>
          </p:cNvSpPr>
          <p:nvPr/>
        </p:nvSpPr>
        <p:spPr>
          <a:xfrm>
            <a:off x="6877050" y="4076700"/>
            <a:ext cx="2762250" cy="323850"/>
          </a:xfrm>
          <a:prstGeom prst="rect">
            <a:avLst/>
          </a:prstGeom>
          <a:noFill/>
          <a:ln w="0">
            <a:noFill/>
            <a:prstDash val="solid"/>
          </a:ln>
        </p:spPr>
        <p:txBody>
          <a:bodyPr wrap="square" lIns="0" tIns="0" rIns="0" bIns="0" anchor="t">
            <a:normAutofit/>
          </a:bodyPr>
          <a:lstStyle>
            <a:defPPr algn="ctr">
              <a:defRPr sz="1800" b="1">
                <a:solidFill>
                  <a:srgbClr val="087D76"/>
                </a:solidFill>
                <a:latin typeface="Segoe UI"/>
                <a:ea typeface="Segoe UI"/>
                <a:cs typeface="Segoe UI"/>
              </a:defRPr>
            </a:defPPr>
          </a:lstStyle>
          <a:p>
            <a:pPr algn="ctr">
              <a:lnSpc>
                <a:spcPct val="108000"/>
              </a:lnSpc>
              <a:buNone/>
              <a:defRPr sz="1800" b="1">
                <a:solidFill>
                  <a:srgbClr val="087D76"/>
                </a:solidFill>
                <a:latin typeface="Segoe UI"/>
                <a:ea typeface="Segoe UI"/>
                <a:cs typeface="Segoe UI"/>
              </a:defRPr>
            </a:pPr>
            <a:r>
              <a:rPr sz="1800" b="1">
                <a:solidFill>
                  <a:srgbClr val="087D76"/>
                </a:solidFill>
                <a:latin typeface="Segoe UI"/>
                <a:ea typeface="Segoe UI"/>
                <a:cs typeface="Segoe UI"/>
              </a:rPr>
              <a:t>Right branch</a:t>
            </a:r>
          </a:p>
        </p:txBody>
      </p:sp>
      <p:sp>
        <p:nvSpPr>
          <p:cNvPr id="16" name="Rectangle 15">
            <a:extLst>
              <a:ext uri="{FF2B5EF4-FFF2-40B4-BE49-F238E27FC236}">
                <a16:creationId xmlns:a16="http://schemas.microsoft.com/office/drawing/2014/main" id="{D7204324-9F5B-4291-A1B7-9360AC420E17}"/>
              </a:ext>
            </a:extLst>
          </p:cNvPr>
          <p:cNvSpPr>
            <a:spLocks noGrp="1"/>
          </p:cNvSpPr>
          <p:nvPr/>
        </p:nvSpPr>
        <p:spPr>
          <a:xfrm>
            <a:off x="6877050" y="4448175"/>
            <a:ext cx="2762250" cy="247650"/>
          </a:xfrm>
          <a:prstGeom prst="rect">
            <a:avLst/>
          </a:prstGeom>
          <a:noFill/>
          <a:ln w="0">
            <a:noFill/>
            <a:prstDash val="solid"/>
          </a:ln>
        </p:spPr>
        <p:txBody>
          <a:bodyPr wrap="square" lIns="0" tIns="0" rIns="0" bIns="0" anchor="t">
            <a:normAutofit/>
          </a:bodyPr>
          <a:lstStyle>
            <a:defPPr algn="ctr">
              <a:defRPr sz="1425" b="0">
                <a:solidFill>
                  <a:srgbClr val="172532"/>
                </a:solidFill>
                <a:latin typeface="Segoe UI"/>
                <a:ea typeface="Segoe UI"/>
                <a:cs typeface="Segoe UI"/>
              </a:defRPr>
            </a:defPPr>
          </a:lstStyle>
          <a:p>
            <a:pPr algn="ctr">
              <a:lnSpc>
                <a:spcPct val="108000"/>
              </a:lnSpc>
              <a:buNone/>
              <a:defRPr sz="1425" b="0">
                <a:solidFill>
                  <a:srgbClr val="172532"/>
                </a:solidFill>
                <a:latin typeface="Segoe UI"/>
                <a:ea typeface="Segoe UI"/>
                <a:cs typeface="Segoe UI"/>
              </a:defRPr>
            </a:pPr>
            <a:r>
              <a:rPr sz="1425" b="0">
                <a:solidFill>
                  <a:srgbClr val="172532"/>
                </a:solidFill>
                <a:latin typeface="Segoe UI"/>
                <a:ea typeface="Segoe UI"/>
                <a:cs typeface="Segoe UI"/>
              </a:rPr>
              <a:t>feature &gt; threshold</a:t>
            </a:r>
          </a:p>
        </p:txBody>
      </p:sp>
      <p:sp>
        <p:nvSpPr>
          <p:cNvPr id="17" name="Rectangle 16">
            <a:extLst>
              <a:ext uri="{FF2B5EF4-FFF2-40B4-BE49-F238E27FC236}">
                <a16:creationId xmlns:a16="http://schemas.microsoft.com/office/drawing/2014/main" id="{793AF878-B83C-46FD-9A67-E58BCA068320}"/>
              </a:ext>
            </a:extLst>
          </p:cNvPr>
          <p:cNvSpPr>
            <a:spLocks noGrp="1"/>
          </p:cNvSpPr>
          <p:nvPr/>
        </p:nvSpPr>
        <p:spPr>
          <a:xfrm>
            <a:off x="609600" y="5410200"/>
            <a:ext cx="4857750" cy="419100"/>
          </a:xfrm>
          <a:prstGeom prst="rect">
            <a:avLst/>
          </a:prstGeom>
          <a:noFill/>
          <a:ln w="0">
            <a:noFill/>
            <a:prstDash val="solid"/>
          </a:ln>
        </p:spPr>
        <p:txBody>
          <a:bodyPr wrap="square" lIns="0" tIns="0" rIns="0" bIns="0" anchor="t">
            <a:normAutofit/>
          </a:bodyPr>
          <a:lstStyle>
            <a:defPPr algn="l">
              <a:defRPr sz="1650" b="1">
                <a:solidFill>
                  <a:srgbClr val="172532"/>
                </a:solidFill>
                <a:latin typeface="Segoe UI"/>
                <a:ea typeface="Segoe UI"/>
                <a:cs typeface="Segoe UI"/>
              </a:defRPr>
            </a:defPPr>
          </a:lstStyle>
          <a:p>
            <a:pPr algn="l">
              <a:lnSpc>
                <a:spcPct val="108000"/>
              </a:lnSpc>
              <a:buNone/>
              <a:defRPr sz="1650" b="1">
                <a:solidFill>
                  <a:srgbClr val="172532"/>
                </a:solidFill>
                <a:latin typeface="Segoe UI"/>
                <a:ea typeface="Segoe UI"/>
                <a:cs typeface="Segoe UI"/>
              </a:defRPr>
            </a:pPr>
            <a:r>
              <a:rPr sz="1650" b="1">
                <a:solidFill>
                  <a:srgbClr val="172532"/>
                </a:solidFill>
                <a:latin typeface="Segoe UI"/>
                <a:ea typeface="Segoe UI"/>
                <a:cs typeface="Segoe UI"/>
              </a:rPr>
              <a:t>Classification: Gini or entropy</a:t>
            </a:r>
          </a:p>
        </p:txBody>
      </p:sp>
      <p:sp>
        <p:nvSpPr>
          <p:cNvPr id="18" name="Rectangle 17">
            <a:extLst>
              <a:ext uri="{FF2B5EF4-FFF2-40B4-BE49-F238E27FC236}">
                <a16:creationId xmlns:a16="http://schemas.microsoft.com/office/drawing/2014/main" id="{76382136-CA0A-4A94-B03B-7826ABAA0674}"/>
              </a:ext>
            </a:extLst>
          </p:cNvPr>
          <p:cNvSpPr>
            <a:spLocks noGrp="1"/>
          </p:cNvSpPr>
          <p:nvPr/>
        </p:nvSpPr>
        <p:spPr>
          <a:xfrm>
            <a:off x="6200775" y="5410200"/>
            <a:ext cx="5010150" cy="419100"/>
          </a:xfrm>
          <a:prstGeom prst="rect">
            <a:avLst/>
          </a:prstGeom>
          <a:noFill/>
          <a:ln w="0">
            <a:noFill/>
            <a:prstDash val="solid"/>
          </a:ln>
        </p:spPr>
        <p:txBody>
          <a:bodyPr wrap="square" lIns="0" tIns="0" rIns="0" bIns="0" anchor="t">
            <a:normAutofit/>
          </a:bodyPr>
          <a:lstStyle>
            <a:defPPr algn="l">
              <a:defRPr sz="1650" b="1">
                <a:solidFill>
                  <a:srgbClr val="172532"/>
                </a:solidFill>
                <a:latin typeface="Segoe UI"/>
                <a:ea typeface="Segoe UI"/>
                <a:cs typeface="Segoe UI"/>
              </a:defRPr>
            </a:defPPr>
          </a:lstStyle>
          <a:p>
            <a:pPr algn="l">
              <a:lnSpc>
                <a:spcPct val="108000"/>
              </a:lnSpc>
              <a:buNone/>
              <a:defRPr sz="1650" b="1">
                <a:solidFill>
                  <a:srgbClr val="172532"/>
                </a:solidFill>
                <a:latin typeface="Segoe UI"/>
                <a:ea typeface="Segoe UI"/>
                <a:cs typeface="Segoe UI"/>
              </a:defRPr>
            </a:pPr>
            <a:r>
              <a:rPr sz="1650" b="1">
                <a:solidFill>
                  <a:srgbClr val="172532"/>
                </a:solidFill>
                <a:latin typeface="Segoe UI"/>
                <a:ea typeface="Segoe UI"/>
                <a:cs typeface="Segoe UI"/>
              </a:rPr>
              <a:t>Regression: MSE / variance reduction</a:t>
            </a:r>
          </a:p>
        </p:txBody>
      </p:sp>
    </p:spTree>
    <p:extLst>
      <p:ext uri="{BB962C8B-B14F-4D97-AF65-F5344CB8AC3E}">
        <p14:creationId xmlns:p14="http://schemas.microsoft.com/office/powerpoint/2010/main" val="16268693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A6DAC0B-2C0C-4D37-934D-AFB3D3733E53}"/>
              </a:ext>
            </a:extLst>
          </p:cNvPr>
          <p:cNvSpPr>
            <a:spLocks noGrp="1"/>
          </p:cNvSpPr>
          <p:nvPr/>
        </p:nvSpPr>
        <p:spPr>
          <a:xfrm>
            <a:off x="609600" y="304800"/>
            <a:ext cx="7143750" cy="209550"/>
          </a:xfrm>
          <a:prstGeom prst="rect">
            <a:avLst/>
          </a:prstGeom>
          <a:noFill/>
          <a:ln w="0">
            <a:noFill/>
            <a:prstDash val="solid"/>
          </a:ln>
        </p:spPr>
        <p:txBody>
          <a:bodyPr wrap="square" lIns="0" tIns="0" rIns="0" bIns="0" anchor="t">
            <a:normAutofit/>
          </a:bodyPr>
          <a:lstStyle>
            <a:defPPr algn="l">
              <a:defRPr sz="1050" b="1">
                <a:solidFill>
                  <a:srgbClr val="087D76"/>
                </a:solidFill>
                <a:latin typeface="Segoe UI"/>
                <a:ea typeface="Segoe UI"/>
                <a:cs typeface="Segoe UI"/>
              </a:defRPr>
            </a:defPPr>
          </a:lstStyle>
          <a:p>
            <a:pPr algn="l">
              <a:lnSpc>
                <a:spcPct val="108000"/>
              </a:lnSpc>
              <a:buNone/>
              <a:defRPr sz="1050" b="1">
                <a:solidFill>
                  <a:srgbClr val="087D76"/>
                </a:solidFill>
                <a:latin typeface="Segoe UI"/>
                <a:ea typeface="Segoe UI"/>
                <a:cs typeface="Segoe UI"/>
              </a:defRPr>
            </a:pPr>
            <a:r>
              <a:rPr sz="1050" b="1">
                <a:solidFill>
                  <a:srgbClr val="087D76"/>
                </a:solidFill>
                <a:latin typeface="Segoe UI"/>
                <a:ea typeface="Segoe UI"/>
                <a:cs typeface="Segoe UI"/>
              </a:rPr>
              <a:t>DECISION TREE RESULTS  /  SAMIR</a:t>
            </a:r>
          </a:p>
        </p:txBody>
      </p:sp>
      <p:sp>
        <p:nvSpPr>
          <p:cNvPr id="2" name="Rectangle 1">
            <a:extLst>
              <a:ext uri="{FF2B5EF4-FFF2-40B4-BE49-F238E27FC236}">
                <a16:creationId xmlns:a16="http://schemas.microsoft.com/office/drawing/2014/main" id="{CE3DB594-EA01-4E52-A8F7-25366A665F3B}"/>
              </a:ext>
            </a:extLst>
          </p:cNvPr>
          <p:cNvSpPr>
            <a:spLocks noGrp="1"/>
          </p:cNvSpPr>
          <p:nvPr/>
        </p:nvSpPr>
        <p:spPr>
          <a:xfrm>
            <a:off x="609600" y="647700"/>
            <a:ext cx="10953750" cy="647700"/>
          </a:xfrm>
          <a:prstGeom prst="rect">
            <a:avLst/>
          </a:prstGeom>
          <a:noFill/>
          <a:ln w="0">
            <a:noFill/>
            <a:prstDash val="solid"/>
          </a:ln>
        </p:spPr>
        <p:txBody>
          <a:bodyPr wrap="square" lIns="0" tIns="0" rIns="0" bIns="0" anchor="t">
            <a:normAutofit/>
          </a:bodyPr>
          <a:lstStyle>
            <a:defPPr algn="l">
              <a:defRPr sz="3075" b="1">
                <a:solidFill>
                  <a:srgbClr val="172532"/>
                </a:solidFill>
                <a:latin typeface="Segoe UI"/>
                <a:ea typeface="Segoe UI"/>
                <a:cs typeface="Segoe UI"/>
              </a:defRPr>
            </a:defPPr>
          </a:lstStyle>
          <a:p>
            <a:pPr algn="l">
              <a:lnSpc>
                <a:spcPct val="108000"/>
              </a:lnSpc>
              <a:buNone/>
              <a:defRPr sz="3075" b="1">
                <a:solidFill>
                  <a:srgbClr val="172532"/>
                </a:solidFill>
                <a:latin typeface="Segoe UI"/>
                <a:ea typeface="Segoe UI"/>
                <a:cs typeface="Segoe UI"/>
              </a:defRPr>
            </a:pPr>
            <a:r>
              <a:rPr sz="3075" b="1">
                <a:solidFill>
                  <a:srgbClr val="172532"/>
                </a:solidFill>
                <a:latin typeface="Segoe UI"/>
                <a:ea typeface="Segoe UI"/>
                <a:cs typeface="Segoe UI"/>
              </a:rPr>
              <a:t>Our tree closely matches sklearn</a:t>
            </a:r>
          </a:p>
        </p:txBody>
      </p:sp>
      <p:sp>
        <p:nvSpPr>
          <p:cNvPr id="3" name="Rectangle 2">
            <a:extLst>
              <a:ext uri="{FF2B5EF4-FFF2-40B4-BE49-F238E27FC236}">
                <a16:creationId xmlns:a16="http://schemas.microsoft.com/office/drawing/2014/main" id="{B01C0EF5-7D92-4BFE-BE41-084C867F74D8}"/>
              </a:ext>
            </a:extLst>
          </p:cNvPr>
          <p:cNvSpPr>
            <a:spLocks noGrp="1"/>
          </p:cNvSpPr>
          <p:nvPr/>
        </p:nvSpPr>
        <p:spPr>
          <a:xfrm>
            <a:off x="609600" y="1381125"/>
            <a:ext cx="10972800" cy="19050"/>
          </a:xfrm>
          <a:prstGeom prst="rect">
            <a:avLst/>
          </a:prstGeom>
          <a:solidFill>
            <a:srgbClr val="E8EAE7"/>
          </a:solidFill>
          <a:ln w="0">
            <a:noFill/>
            <a:prstDash val="solid"/>
          </a:ln>
        </p:spPr>
      </p:sp>
      <p:sp>
        <p:nvSpPr>
          <p:cNvPr id="4" name="Rectangle 3">
            <a:extLst>
              <a:ext uri="{FF2B5EF4-FFF2-40B4-BE49-F238E27FC236}">
                <a16:creationId xmlns:a16="http://schemas.microsoft.com/office/drawing/2014/main" id="{D760ACCF-773E-40BC-BEBC-80EBDA6C2432}"/>
              </a:ext>
            </a:extLst>
          </p:cNvPr>
          <p:cNvSpPr>
            <a:spLocks noGrp="1"/>
          </p:cNvSpPr>
          <p:nvPr/>
        </p:nvSpPr>
        <p:spPr>
          <a:xfrm>
            <a:off x="609600" y="6448425"/>
            <a:ext cx="4762500" cy="171450"/>
          </a:xfrm>
          <a:prstGeom prst="rect">
            <a:avLst/>
          </a:prstGeom>
          <a:noFill/>
          <a:ln w="0">
            <a:noFill/>
            <a:prstDash val="solid"/>
          </a:ln>
        </p:spPr>
        <p:txBody>
          <a:bodyPr wrap="square" lIns="0" tIns="0" rIns="0" bIns="0" anchor="t">
            <a:normAutofit/>
          </a:bodyPr>
          <a:lstStyle>
            <a:defPPr algn="l">
              <a:defRPr sz="975" b="0">
                <a:solidFill>
                  <a:srgbClr val="53616A"/>
                </a:solidFill>
                <a:latin typeface="Segoe UI"/>
                <a:ea typeface="Segoe UI"/>
                <a:cs typeface="Segoe UI"/>
              </a:defRPr>
            </a:defPPr>
          </a:lstStyle>
          <a:p>
            <a:pPr algn="l">
              <a:lnSpc>
                <a:spcPct val="108000"/>
              </a:lnSpc>
              <a:buNone/>
              <a:defRPr sz="975" b="0">
                <a:solidFill>
                  <a:srgbClr val="53616A"/>
                </a:solidFill>
                <a:latin typeface="Segoe UI"/>
                <a:ea typeface="Segoe UI"/>
                <a:cs typeface="Segoe UI"/>
              </a:defRPr>
            </a:pPr>
            <a:r>
              <a:rPr sz="975" b="0">
                <a:solidFill>
                  <a:srgbClr val="53616A"/>
                </a:solidFill>
                <a:latin typeface="Segoe UI"/>
                <a:ea typeface="Segoe UI"/>
                <a:cs typeface="Segoe UI"/>
              </a:rPr>
              <a:t>AI Academy  /  MLE-AI-201</a:t>
            </a:r>
          </a:p>
        </p:txBody>
      </p:sp>
      <p:sp>
        <p:nvSpPr>
          <p:cNvPr id="5" name="Rectangle 4">
            <a:extLst>
              <a:ext uri="{FF2B5EF4-FFF2-40B4-BE49-F238E27FC236}">
                <a16:creationId xmlns:a16="http://schemas.microsoft.com/office/drawing/2014/main" id="{0323572F-B248-4639-BA46-4A717FE1FE2E}"/>
              </a:ext>
            </a:extLst>
          </p:cNvPr>
          <p:cNvSpPr>
            <a:spLocks noGrp="1"/>
          </p:cNvSpPr>
          <p:nvPr/>
        </p:nvSpPr>
        <p:spPr>
          <a:xfrm>
            <a:off x="11049000" y="6429375"/>
            <a:ext cx="571500" cy="209550"/>
          </a:xfrm>
          <a:prstGeom prst="rect">
            <a:avLst/>
          </a:prstGeom>
          <a:noFill/>
          <a:ln w="0">
            <a:noFill/>
            <a:prstDash val="solid"/>
          </a:ln>
        </p:spPr>
        <p:txBody>
          <a:bodyPr wrap="square" lIns="0" tIns="0" rIns="0" bIns="0" anchor="t">
            <a:normAutofit/>
          </a:bodyPr>
          <a:lstStyle>
            <a:defPPr algn="r">
              <a:defRPr sz="1050" b="1">
                <a:solidFill>
                  <a:srgbClr val="53616A"/>
                </a:solidFill>
                <a:latin typeface="Segoe UI"/>
                <a:ea typeface="Segoe UI"/>
                <a:cs typeface="Segoe UI"/>
              </a:defRPr>
            </a:defPPr>
          </a:lstStyle>
          <a:p>
            <a:pPr algn="r">
              <a:lnSpc>
                <a:spcPct val="108000"/>
              </a:lnSpc>
              <a:buNone/>
              <a:defRPr sz="1050" b="1">
                <a:solidFill>
                  <a:srgbClr val="53616A"/>
                </a:solidFill>
                <a:latin typeface="Segoe UI"/>
                <a:ea typeface="Segoe UI"/>
                <a:cs typeface="Segoe UI"/>
              </a:defRPr>
            </a:pPr>
            <a:r>
              <a:rPr sz="1050" b="1">
                <a:solidFill>
                  <a:srgbClr val="53616A"/>
                </a:solidFill>
                <a:latin typeface="Segoe UI"/>
                <a:ea typeface="Segoe UI"/>
                <a:cs typeface="Segoe UI"/>
              </a:rPr>
              <a:t>06</a:t>
            </a:r>
          </a:p>
        </p:txBody>
      </p:sp>
      <p:sp>
        <p:nvSpPr>
          <p:cNvPr id="6" name="Rectangle 5">
            <a:extLst>
              <a:ext uri="{FF2B5EF4-FFF2-40B4-BE49-F238E27FC236}">
                <a16:creationId xmlns:a16="http://schemas.microsoft.com/office/drawing/2014/main" id="{B1A059BB-967F-4C0A-BED9-721C1442B9F9}"/>
              </a:ext>
            </a:extLst>
          </p:cNvPr>
          <p:cNvSpPr>
            <a:spLocks noGrp="1"/>
          </p:cNvSpPr>
          <p:nvPr/>
        </p:nvSpPr>
        <p:spPr>
          <a:xfrm>
            <a:off x="609600" y="1743075"/>
            <a:ext cx="5753100" cy="3686175"/>
          </a:xfrm>
          <a:prstGeom prst="rect">
            <a:avLst/>
          </a:prstGeom>
          <a:solidFill>
            <a:srgbClr val="FFFFFF"/>
          </a:solidFill>
          <a:ln w="9525">
            <a:solidFill>
              <a:srgbClr val="E8EAE7"/>
            </a:solidFill>
            <a:prstDash val="solid"/>
          </a:ln>
        </p:spPr>
      </p:sp>
      <p:pic>
        <p:nvPicPr>
          <p:cNvPr id="7" name="Picture 6">
            <a:extLst>
              <a:ext uri="{FF2B5EF4-FFF2-40B4-BE49-F238E27FC236}">
                <a16:creationId xmlns:a16="http://schemas.microsoft.com/office/drawing/2014/main" id="{E25AD3DB-4016-4C4C-BA60-F75D21B28F54}"/>
              </a:ext>
            </a:extLst>
          </p:cNvPr>
          <p:cNvPicPr>
            <a:picLocks noChangeAspect="1"/>
          </p:cNvPicPr>
          <p:nvPr/>
        </p:nvPicPr>
        <p:blipFill>
          <a:blip r:embed="rId3"/>
          <a:stretch/>
        </p:blipFill>
        <p:spPr>
          <a:xfrm>
            <a:off x="704850" y="1996848"/>
            <a:ext cx="5562600" cy="3178629"/>
          </a:xfrm>
          <a:prstGeom prst="rect">
            <a:avLst/>
          </a:prstGeom>
        </p:spPr>
      </p:pic>
      <p:sp>
        <p:nvSpPr>
          <p:cNvPr id="8" name="Rectangle 7">
            <a:extLst>
              <a:ext uri="{FF2B5EF4-FFF2-40B4-BE49-F238E27FC236}">
                <a16:creationId xmlns:a16="http://schemas.microsoft.com/office/drawing/2014/main" id="{F2318B8F-856F-4739-AEB2-AA479490A209}"/>
              </a:ext>
            </a:extLst>
          </p:cNvPr>
          <p:cNvSpPr>
            <a:spLocks noGrp="1"/>
          </p:cNvSpPr>
          <p:nvPr/>
        </p:nvSpPr>
        <p:spPr>
          <a:xfrm>
            <a:off x="6705600" y="1943100"/>
            <a:ext cx="4238625" cy="333375"/>
          </a:xfrm>
          <a:prstGeom prst="rect">
            <a:avLst/>
          </a:prstGeom>
          <a:noFill/>
          <a:ln w="0">
            <a:noFill/>
            <a:prstDash val="solid"/>
          </a:ln>
        </p:spPr>
        <p:txBody>
          <a:bodyPr wrap="square" lIns="0" tIns="0" rIns="0" bIns="0" anchor="t">
            <a:normAutofit/>
          </a:bodyPr>
          <a:lstStyle>
            <a:defPPr algn="l">
              <a:defRPr sz="1800" b="0">
                <a:solidFill>
                  <a:srgbClr val="53616A"/>
                </a:solidFill>
                <a:latin typeface="Segoe UI"/>
                <a:ea typeface="Segoe UI"/>
                <a:cs typeface="Segoe UI"/>
              </a:defRPr>
            </a:defPPr>
          </a:lstStyle>
          <a:p>
            <a:pPr algn="l">
              <a:lnSpc>
                <a:spcPct val="108000"/>
              </a:lnSpc>
              <a:buNone/>
              <a:defRPr sz="1800" b="0">
                <a:solidFill>
                  <a:srgbClr val="53616A"/>
                </a:solidFill>
                <a:latin typeface="Segoe UI"/>
                <a:ea typeface="Segoe UI"/>
                <a:cs typeface="Segoe UI"/>
              </a:defRPr>
            </a:pPr>
            <a:r>
              <a:rPr sz="1800" b="0">
                <a:solidFill>
                  <a:srgbClr val="53616A"/>
                </a:solidFill>
                <a:latin typeface="Segoe UI"/>
                <a:ea typeface="Segoe UI"/>
                <a:cs typeface="Segoe UI"/>
              </a:rPr>
              <a:t>Test classification F1</a:t>
            </a:r>
          </a:p>
        </p:txBody>
      </p:sp>
      <p:sp>
        <p:nvSpPr>
          <p:cNvPr id="9" name="Rectangle 8">
            <a:extLst>
              <a:ext uri="{FF2B5EF4-FFF2-40B4-BE49-F238E27FC236}">
                <a16:creationId xmlns:a16="http://schemas.microsoft.com/office/drawing/2014/main" id="{DD99597B-574C-445A-BE8F-4BC82F5A47D7}"/>
              </a:ext>
            </a:extLst>
          </p:cNvPr>
          <p:cNvSpPr>
            <a:spLocks noGrp="1"/>
          </p:cNvSpPr>
          <p:nvPr/>
        </p:nvSpPr>
        <p:spPr>
          <a:xfrm>
            <a:off x="6705600" y="2543175"/>
            <a:ext cx="4552950" cy="552450"/>
          </a:xfrm>
          <a:prstGeom prst="rect">
            <a:avLst/>
          </a:prstGeom>
          <a:solidFill>
            <a:srgbClr val="DCECE7"/>
          </a:solidFill>
          <a:ln w="14288">
            <a:solidFill>
              <a:srgbClr val="087D76"/>
            </a:solidFill>
            <a:prstDash val="solid"/>
          </a:ln>
        </p:spPr>
      </p:sp>
      <p:sp>
        <p:nvSpPr>
          <p:cNvPr id="10" name="Rectangle 9">
            <a:extLst>
              <a:ext uri="{FF2B5EF4-FFF2-40B4-BE49-F238E27FC236}">
                <a16:creationId xmlns:a16="http://schemas.microsoft.com/office/drawing/2014/main" id="{A7075A1D-8CC6-4CDD-ADB9-EA854C29492F}"/>
              </a:ext>
            </a:extLst>
          </p:cNvPr>
          <p:cNvSpPr>
            <a:spLocks noGrp="1"/>
          </p:cNvSpPr>
          <p:nvPr/>
        </p:nvSpPr>
        <p:spPr>
          <a:xfrm>
            <a:off x="6886575" y="2686050"/>
            <a:ext cx="2857500" cy="266700"/>
          </a:xfrm>
          <a:prstGeom prst="rect">
            <a:avLst/>
          </a:prstGeom>
          <a:noFill/>
          <a:ln w="0">
            <a:noFill/>
            <a:prstDash val="solid"/>
          </a:ln>
        </p:spPr>
        <p:txBody>
          <a:bodyPr wrap="square" lIns="0" tIns="0" rIns="0" bIns="0" anchor="t">
            <a:normAutofit/>
          </a:bodyPr>
          <a:lstStyle>
            <a:defPPr algn="l">
              <a:defRPr sz="1425" b="1">
                <a:solidFill>
                  <a:srgbClr val="172532"/>
                </a:solidFill>
                <a:latin typeface="Segoe UI"/>
                <a:ea typeface="Segoe UI"/>
                <a:cs typeface="Segoe UI"/>
              </a:defRPr>
            </a:defPPr>
          </a:lstStyle>
          <a:p>
            <a:pPr algn="l">
              <a:lnSpc>
                <a:spcPct val="108000"/>
              </a:lnSpc>
              <a:buNone/>
              <a:defRPr sz="1425" b="1">
                <a:solidFill>
                  <a:srgbClr val="172532"/>
                </a:solidFill>
                <a:latin typeface="Segoe UI"/>
                <a:ea typeface="Segoe UI"/>
                <a:cs typeface="Segoe UI"/>
              </a:defRPr>
            </a:pPr>
            <a:r>
              <a:rPr sz="1425" b="1">
                <a:solidFill>
                  <a:srgbClr val="172532"/>
                </a:solidFill>
                <a:latin typeface="Segoe UI"/>
                <a:ea typeface="Segoe UI"/>
                <a:cs typeface="Segoe UI"/>
              </a:rPr>
              <a:t>Our Decision Tree</a:t>
            </a:r>
          </a:p>
        </p:txBody>
      </p:sp>
      <p:sp>
        <p:nvSpPr>
          <p:cNvPr id="11" name="Rectangle 10">
            <a:extLst>
              <a:ext uri="{FF2B5EF4-FFF2-40B4-BE49-F238E27FC236}">
                <a16:creationId xmlns:a16="http://schemas.microsoft.com/office/drawing/2014/main" id="{E39DC257-C279-4AB2-9762-5F8EBDC42CDA}"/>
              </a:ext>
            </a:extLst>
          </p:cNvPr>
          <p:cNvSpPr>
            <a:spLocks noGrp="1"/>
          </p:cNvSpPr>
          <p:nvPr/>
        </p:nvSpPr>
        <p:spPr>
          <a:xfrm>
            <a:off x="10001250" y="2667000"/>
            <a:ext cx="1000125" cy="285750"/>
          </a:xfrm>
          <a:prstGeom prst="rect">
            <a:avLst/>
          </a:prstGeom>
          <a:noFill/>
          <a:ln w="0">
            <a:noFill/>
            <a:prstDash val="solid"/>
          </a:ln>
        </p:spPr>
        <p:txBody>
          <a:bodyPr wrap="square" lIns="0" tIns="0" rIns="0" bIns="0" anchor="t">
            <a:normAutofit/>
          </a:bodyPr>
          <a:lstStyle>
            <a:defPPr algn="r">
              <a:defRPr sz="1725" b="1">
                <a:solidFill>
                  <a:srgbClr val="087D76"/>
                </a:solidFill>
                <a:latin typeface="Segoe UI"/>
                <a:ea typeface="Segoe UI"/>
                <a:cs typeface="Segoe UI"/>
              </a:defRPr>
            </a:defPPr>
          </a:lstStyle>
          <a:p>
            <a:pPr algn="r">
              <a:lnSpc>
                <a:spcPct val="108000"/>
              </a:lnSpc>
              <a:buNone/>
              <a:defRPr sz="1725" b="1">
                <a:solidFill>
                  <a:srgbClr val="087D76"/>
                </a:solidFill>
                <a:latin typeface="Segoe UI"/>
                <a:ea typeface="Segoe UI"/>
                <a:cs typeface="Segoe UI"/>
              </a:defRPr>
            </a:pPr>
            <a:r>
              <a:rPr sz="1725" b="1">
                <a:solidFill>
                  <a:srgbClr val="087D76"/>
                </a:solidFill>
                <a:latin typeface="Segoe UI"/>
                <a:ea typeface="Segoe UI"/>
                <a:cs typeface="Segoe UI"/>
              </a:rPr>
              <a:t>0.910</a:t>
            </a:r>
          </a:p>
        </p:txBody>
      </p:sp>
      <p:sp>
        <p:nvSpPr>
          <p:cNvPr id="12" name="Rectangle 11">
            <a:extLst>
              <a:ext uri="{FF2B5EF4-FFF2-40B4-BE49-F238E27FC236}">
                <a16:creationId xmlns:a16="http://schemas.microsoft.com/office/drawing/2014/main" id="{7738DBC6-2B67-423A-BA71-D0C3C72E9343}"/>
              </a:ext>
            </a:extLst>
          </p:cNvPr>
          <p:cNvSpPr>
            <a:spLocks noGrp="1"/>
          </p:cNvSpPr>
          <p:nvPr/>
        </p:nvSpPr>
        <p:spPr>
          <a:xfrm>
            <a:off x="6705600" y="3219450"/>
            <a:ext cx="4552950" cy="552450"/>
          </a:xfrm>
          <a:prstGeom prst="rect">
            <a:avLst/>
          </a:prstGeom>
          <a:solidFill>
            <a:srgbClr val="FFFFFF"/>
          </a:solidFill>
          <a:ln w="9525">
            <a:solidFill>
              <a:srgbClr val="E8EAE7"/>
            </a:solidFill>
            <a:prstDash val="solid"/>
          </a:ln>
        </p:spPr>
      </p:sp>
      <p:sp>
        <p:nvSpPr>
          <p:cNvPr id="13" name="Rectangle 12">
            <a:extLst>
              <a:ext uri="{FF2B5EF4-FFF2-40B4-BE49-F238E27FC236}">
                <a16:creationId xmlns:a16="http://schemas.microsoft.com/office/drawing/2014/main" id="{DA21418E-EAAA-40FF-8DE4-2A47A610A971}"/>
              </a:ext>
            </a:extLst>
          </p:cNvPr>
          <p:cNvSpPr>
            <a:spLocks noGrp="1"/>
          </p:cNvSpPr>
          <p:nvPr/>
        </p:nvSpPr>
        <p:spPr>
          <a:xfrm>
            <a:off x="6886575" y="3362325"/>
            <a:ext cx="2857500" cy="266700"/>
          </a:xfrm>
          <a:prstGeom prst="rect">
            <a:avLst/>
          </a:prstGeom>
          <a:noFill/>
          <a:ln w="0">
            <a:noFill/>
            <a:prstDash val="solid"/>
          </a:ln>
        </p:spPr>
        <p:txBody>
          <a:bodyPr wrap="square" lIns="0" tIns="0" rIns="0" bIns="0" anchor="t">
            <a:normAutofit/>
          </a:bodyPr>
          <a:lstStyle>
            <a:defPPr algn="l">
              <a:defRPr sz="1425" b="0">
                <a:solidFill>
                  <a:srgbClr val="172532"/>
                </a:solidFill>
                <a:latin typeface="Segoe UI"/>
                <a:ea typeface="Segoe UI"/>
                <a:cs typeface="Segoe UI"/>
              </a:defRPr>
            </a:defPPr>
          </a:lstStyle>
          <a:p>
            <a:pPr algn="l">
              <a:lnSpc>
                <a:spcPct val="108000"/>
              </a:lnSpc>
              <a:buNone/>
              <a:defRPr sz="1425" b="0">
                <a:solidFill>
                  <a:srgbClr val="172532"/>
                </a:solidFill>
                <a:latin typeface="Segoe UI"/>
                <a:ea typeface="Segoe UI"/>
                <a:cs typeface="Segoe UI"/>
              </a:defRPr>
            </a:pPr>
            <a:r>
              <a:rPr sz="1425" b="0">
                <a:solidFill>
                  <a:srgbClr val="172532"/>
                </a:solidFill>
                <a:latin typeface="Segoe UI"/>
                <a:ea typeface="Segoe UI"/>
                <a:cs typeface="Segoe UI"/>
              </a:rPr>
              <a:t>sklearn Decision Tree</a:t>
            </a:r>
          </a:p>
        </p:txBody>
      </p:sp>
      <p:sp>
        <p:nvSpPr>
          <p:cNvPr id="14" name="Rectangle 13">
            <a:extLst>
              <a:ext uri="{FF2B5EF4-FFF2-40B4-BE49-F238E27FC236}">
                <a16:creationId xmlns:a16="http://schemas.microsoft.com/office/drawing/2014/main" id="{42C7155C-1F20-48F8-BEC4-64B2C6921841}"/>
              </a:ext>
            </a:extLst>
          </p:cNvPr>
          <p:cNvSpPr>
            <a:spLocks noGrp="1"/>
          </p:cNvSpPr>
          <p:nvPr/>
        </p:nvSpPr>
        <p:spPr>
          <a:xfrm>
            <a:off x="10001250" y="3343275"/>
            <a:ext cx="1000125" cy="285750"/>
          </a:xfrm>
          <a:prstGeom prst="rect">
            <a:avLst/>
          </a:prstGeom>
          <a:noFill/>
          <a:ln w="0">
            <a:noFill/>
            <a:prstDash val="solid"/>
          </a:ln>
        </p:spPr>
        <p:txBody>
          <a:bodyPr wrap="square" lIns="0" tIns="0" rIns="0" bIns="0" anchor="t">
            <a:normAutofit/>
          </a:bodyPr>
          <a:lstStyle>
            <a:defPPr algn="r">
              <a:defRPr sz="1725" b="1">
                <a:solidFill>
                  <a:srgbClr val="172532"/>
                </a:solidFill>
                <a:latin typeface="Segoe UI"/>
                <a:ea typeface="Segoe UI"/>
                <a:cs typeface="Segoe UI"/>
              </a:defRPr>
            </a:defPPr>
          </a:lstStyle>
          <a:p>
            <a:pPr algn="r">
              <a:lnSpc>
                <a:spcPct val="108000"/>
              </a:lnSpc>
              <a:buNone/>
              <a:defRPr sz="1725" b="1">
                <a:solidFill>
                  <a:srgbClr val="172532"/>
                </a:solidFill>
                <a:latin typeface="Segoe UI"/>
                <a:ea typeface="Segoe UI"/>
                <a:cs typeface="Segoe UI"/>
              </a:defRPr>
            </a:pPr>
            <a:r>
              <a:rPr sz="1725" b="1">
                <a:solidFill>
                  <a:srgbClr val="172532"/>
                </a:solidFill>
                <a:latin typeface="Segoe UI"/>
                <a:ea typeface="Segoe UI"/>
                <a:cs typeface="Segoe UI"/>
              </a:rPr>
              <a:t>0.910</a:t>
            </a:r>
          </a:p>
        </p:txBody>
      </p:sp>
      <p:sp>
        <p:nvSpPr>
          <p:cNvPr id="15" name="Rectangle 14">
            <a:extLst>
              <a:ext uri="{FF2B5EF4-FFF2-40B4-BE49-F238E27FC236}">
                <a16:creationId xmlns:a16="http://schemas.microsoft.com/office/drawing/2014/main" id="{BBCF0644-D889-4BE8-82D4-A670F6A80037}"/>
              </a:ext>
            </a:extLst>
          </p:cNvPr>
          <p:cNvSpPr>
            <a:spLocks noGrp="1"/>
          </p:cNvSpPr>
          <p:nvPr/>
        </p:nvSpPr>
        <p:spPr>
          <a:xfrm>
            <a:off x="6705600" y="4095750"/>
            <a:ext cx="4438650" cy="400050"/>
          </a:xfrm>
          <a:prstGeom prst="rect">
            <a:avLst/>
          </a:prstGeom>
          <a:noFill/>
          <a:ln w="0">
            <a:noFill/>
            <a:prstDash val="solid"/>
          </a:ln>
        </p:spPr>
        <p:txBody>
          <a:bodyPr wrap="square" lIns="0" tIns="0" rIns="0" bIns="0" anchor="t">
            <a:normAutofit/>
          </a:bodyPr>
          <a:lstStyle>
            <a:defPPr algn="l">
              <a:defRPr sz="1650" b="1">
                <a:solidFill>
                  <a:srgbClr val="172532"/>
                </a:solidFill>
                <a:latin typeface="Segoe UI"/>
                <a:ea typeface="Segoe UI"/>
                <a:cs typeface="Segoe UI"/>
              </a:defRPr>
            </a:defPPr>
          </a:lstStyle>
          <a:p>
            <a:pPr algn="l">
              <a:lnSpc>
                <a:spcPct val="108000"/>
              </a:lnSpc>
              <a:buNone/>
              <a:defRPr sz="1650" b="1">
                <a:solidFill>
                  <a:srgbClr val="172532"/>
                </a:solidFill>
                <a:latin typeface="Segoe UI"/>
                <a:ea typeface="Segoe UI"/>
                <a:cs typeface="Segoe UI"/>
              </a:defRPr>
            </a:pPr>
            <a:r>
              <a:rPr sz="1650" b="1">
                <a:solidFill>
                  <a:srgbClr val="172532"/>
                </a:solidFill>
                <a:latin typeface="Segoe UI"/>
                <a:ea typeface="Segoe UI"/>
                <a:cs typeface="Segoe UI"/>
              </a:rPr>
              <a:t>ROC-AUC: 0.963 for both models</a:t>
            </a:r>
          </a:p>
        </p:txBody>
      </p:sp>
      <p:sp>
        <p:nvSpPr>
          <p:cNvPr id="16" name="Rectangle 15">
            <a:extLst>
              <a:ext uri="{FF2B5EF4-FFF2-40B4-BE49-F238E27FC236}">
                <a16:creationId xmlns:a16="http://schemas.microsoft.com/office/drawing/2014/main" id="{8522CEE7-97F3-4D49-92DF-F496B41BF3C8}"/>
              </a:ext>
            </a:extLst>
          </p:cNvPr>
          <p:cNvSpPr>
            <a:spLocks noGrp="1"/>
          </p:cNvSpPr>
          <p:nvPr/>
        </p:nvSpPr>
        <p:spPr>
          <a:xfrm>
            <a:off x="6705600" y="4733925"/>
            <a:ext cx="4286250" cy="742950"/>
          </a:xfrm>
          <a:prstGeom prst="rect">
            <a:avLst/>
          </a:prstGeom>
          <a:noFill/>
          <a:ln w="0">
            <a:noFill/>
            <a:prstDash val="solid"/>
          </a:ln>
        </p:spPr>
        <p:txBody>
          <a:bodyPr wrap="square" lIns="0" tIns="0" rIns="0" bIns="0" anchor="t">
            <a:normAutofit/>
          </a:bodyPr>
          <a:lstStyle>
            <a:defPPr algn="l">
              <a:defRPr sz="1650" b="0">
                <a:solidFill>
                  <a:srgbClr val="53616A"/>
                </a:solidFill>
                <a:latin typeface="Segoe UI"/>
                <a:ea typeface="Segoe UI"/>
                <a:cs typeface="Segoe UI"/>
              </a:defRPr>
            </a:defPPr>
          </a:lstStyle>
          <a:p>
            <a:pPr algn="l">
              <a:lnSpc>
                <a:spcPct val="108000"/>
              </a:lnSpc>
              <a:buNone/>
              <a:defRPr sz="1650" b="0">
                <a:solidFill>
                  <a:srgbClr val="53616A"/>
                </a:solidFill>
                <a:latin typeface="Segoe UI"/>
                <a:ea typeface="Segoe UI"/>
                <a:cs typeface="Segoe UI"/>
              </a:defRPr>
            </a:pPr>
            <a:r>
              <a:rPr sz="1650" b="0">
                <a:solidFill>
                  <a:srgbClr val="53616A"/>
                </a:solidFill>
                <a:latin typeface="Segoe UI"/>
                <a:ea typeface="Segoe UI"/>
                <a:cs typeface="Segoe UI"/>
              </a:rPr>
              <a:t>Deeper trees improved validation F1 within the tested range.</a:t>
            </a:r>
          </a:p>
        </p:txBody>
      </p:sp>
      <p:sp>
        <p:nvSpPr>
          <p:cNvPr id="17" name="Rectangle 16">
            <a:extLst>
              <a:ext uri="{FF2B5EF4-FFF2-40B4-BE49-F238E27FC236}">
                <a16:creationId xmlns:a16="http://schemas.microsoft.com/office/drawing/2014/main" id="{B5389922-CD4C-4679-BA58-5C7D53F8C2F8}"/>
              </a:ext>
            </a:extLst>
          </p:cNvPr>
          <p:cNvSpPr>
            <a:spLocks noGrp="1"/>
          </p:cNvSpPr>
          <p:nvPr/>
        </p:nvSpPr>
        <p:spPr>
          <a:xfrm>
            <a:off x="609600" y="5734050"/>
            <a:ext cx="10668000" cy="400050"/>
          </a:xfrm>
          <a:prstGeom prst="rect">
            <a:avLst/>
          </a:prstGeom>
          <a:noFill/>
          <a:ln w="0">
            <a:noFill/>
            <a:prstDash val="solid"/>
          </a:ln>
        </p:spPr>
        <p:txBody>
          <a:bodyPr wrap="square" lIns="0" tIns="0" rIns="0" bIns="0" anchor="t">
            <a:normAutofit/>
          </a:bodyPr>
          <a:lstStyle>
            <a:defPPr algn="l">
              <a:defRPr sz="1725" b="1">
                <a:solidFill>
                  <a:srgbClr val="172532"/>
                </a:solidFill>
                <a:latin typeface="Segoe UI"/>
                <a:ea typeface="Segoe UI"/>
                <a:cs typeface="Segoe UI"/>
              </a:defRPr>
            </a:defPPr>
          </a:lstStyle>
          <a:p>
            <a:pPr algn="l">
              <a:lnSpc>
                <a:spcPct val="108000"/>
              </a:lnSpc>
              <a:buNone/>
              <a:defRPr sz="1725" b="1">
                <a:solidFill>
                  <a:srgbClr val="172532"/>
                </a:solidFill>
                <a:latin typeface="Segoe UI"/>
                <a:ea typeface="Segoe UI"/>
                <a:cs typeface="Segoe UI"/>
              </a:defRPr>
            </a:pPr>
            <a:r>
              <a:rPr sz="1725" b="1">
                <a:solidFill>
                  <a:srgbClr val="172532"/>
                </a:solidFill>
                <a:latin typeface="Segoe UI"/>
                <a:ea typeface="Segoe UI"/>
                <a:cs typeface="Segoe UI"/>
              </a:rPr>
              <a:t>Tree regression: R² = 0.592 and MAE = 87,181 AZN.</a:t>
            </a:r>
          </a:p>
        </p:txBody>
      </p:sp>
    </p:spTree>
    <p:extLst>
      <p:ext uri="{BB962C8B-B14F-4D97-AF65-F5344CB8AC3E}">
        <p14:creationId xmlns:p14="http://schemas.microsoft.com/office/powerpoint/2010/main" val="1126061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A93CDF2-4C35-424D-BF3A-0047EB29132D}"/>
              </a:ext>
            </a:extLst>
          </p:cNvPr>
          <p:cNvSpPr>
            <a:spLocks noGrp="1"/>
          </p:cNvSpPr>
          <p:nvPr/>
        </p:nvSpPr>
        <p:spPr>
          <a:xfrm>
            <a:off x="609600" y="304800"/>
            <a:ext cx="7143750" cy="209550"/>
          </a:xfrm>
          <a:prstGeom prst="rect">
            <a:avLst/>
          </a:prstGeom>
          <a:noFill/>
          <a:ln w="0">
            <a:noFill/>
            <a:prstDash val="solid"/>
          </a:ln>
        </p:spPr>
        <p:txBody>
          <a:bodyPr wrap="square" lIns="0" tIns="0" rIns="0" bIns="0" anchor="t">
            <a:normAutofit/>
          </a:bodyPr>
          <a:lstStyle>
            <a:defPPr algn="l">
              <a:defRPr sz="1050" b="1">
                <a:solidFill>
                  <a:srgbClr val="087D76"/>
                </a:solidFill>
                <a:latin typeface="Segoe UI"/>
                <a:ea typeface="Segoe UI"/>
                <a:cs typeface="Segoe UI"/>
              </a:defRPr>
            </a:defPPr>
          </a:lstStyle>
          <a:p>
            <a:pPr algn="l">
              <a:lnSpc>
                <a:spcPct val="108000"/>
              </a:lnSpc>
              <a:buNone/>
              <a:defRPr sz="1050" b="1">
                <a:solidFill>
                  <a:srgbClr val="087D76"/>
                </a:solidFill>
                <a:latin typeface="Segoe UI"/>
                <a:ea typeface="Segoe UI"/>
                <a:cs typeface="Segoe UI"/>
              </a:defRPr>
            </a:pPr>
            <a:r>
              <a:rPr sz="1050" b="1">
                <a:solidFill>
                  <a:srgbClr val="087D76"/>
                </a:solidFill>
                <a:latin typeface="Segoe UI"/>
                <a:ea typeface="Segoe UI"/>
                <a:cs typeface="Segoe UI"/>
              </a:rPr>
              <a:t>SVM  /  RAMIL</a:t>
            </a:r>
          </a:p>
        </p:txBody>
      </p:sp>
      <p:sp>
        <p:nvSpPr>
          <p:cNvPr id="2" name="Rectangle 1">
            <a:extLst>
              <a:ext uri="{FF2B5EF4-FFF2-40B4-BE49-F238E27FC236}">
                <a16:creationId xmlns:a16="http://schemas.microsoft.com/office/drawing/2014/main" id="{38B676AE-2692-4D7C-B2DB-BE84C3689B58}"/>
              </a:ext>
            </a:extLst>
          </p:cNvPr>
          <p:cNvSpPr>
            <a:spLocks noGrp="1"/>
          </p:cNvSpPr>
          <p:nvPr/>
        </p:nvSpPr>
        <p:spPr>
          <a:xfrm>
            <a:off x="609600" y="647700"/>
            <a:ext cx="10953750" cy="647700"/>
          </a:xfrm>
          <a:prstGeom prst="rect">
            <a:avLst/>
          </a:prstGeom>
          <a:noFill/>
          <a:ln w="0">
            <a:noFill/>
            <a:prstDash val="solid"/>
          </a:ln>
        </p:spPr>
        <p:txBody>
          <a:bodyPr wrap="square" lIns="0" tIns="0" rIns="0" bIns="0" anchor="t">
            <a:normAutofit/>
          </a:bodyPr>
          <a:lstStyle>
            <a:defPPr algn="l">
              <a:defRPr sz="3075" b="1">
                <a:solidFill>
                  <a:srgbClr val="172532"/>
                </a:solidFill>
                <a:latin typeface="Segoe UI"/>
                <a:ea typeface="Segoe UI"/>
                <a:cs typeface="Segoe UI"/>
              </a:defRPr>
            </a:defPPr>
          </a:lstStyle>
          <a:p>
            <a:pPr algn="l">
              <a:lnSpc>
                <a:spcPct val="108000"/>
              </a:lnSpc>
              <a:buNone/>
              <a:defRPr sz="3075" b="1">
                <a:solidFill>
                  <a:srgbClr val="172532"/>
                </a:solidFill>
                <a:latin typeface="Segoe UI"/>
                <a:ea typeface="Segoe UI"/>
                <a:cs typeface="Segoe UI"/>
              </a:defRPr>
            </a:pPr>
            <a:r>
              <a:rPr sz="3075" b="1">
                <a:solidFill>
                  <a:srgbClr val="172532"/>
                </a:solidFill>
                <a:latin typeface="Segoe UI"/>
                <a:ea typeface="Segoe UI"/>
                <a:cs typeface="Segoe UI"/>
              </a:rPr>
              <a:t>Pegasos learns a separating margin</a:t>
            </a:r>
          </a:p>
        </p:txBody>
      </p:sp>
      <p:sp>
        <p:nvSpPr>
          <p:cNvPr id="3" name="Rectangle 2">
            <a:extLst>
              <a:ext uri="{FF2B5EF4-FFF2-40B4-BE49-F238E27FC236}">
                <a16:creationId xmlns:a16="http://schemas.microsoft.com/office/drawing/2014/main" id="{C366D12C-1B91-4639-82F7-07EB3109E3BC}"/>
              </a:ext>
            </a:extLst>
          </p:cNvPr>
          <p:cNvSpPr>
            <a:spLocks noGrp="1"/>
          </p:cNvSpPr>
          <p:nvPr/>
        </p:nvSpPr>
        <p:spPr>
          <a:xfrm>
            <a:off x="609600" y="1381125"/>
            <a:ext cx="10972800" cy="19050"/>
          </a:xfrm>
          <a:prstGeom prst="rect">
            <a:avLst/>
          </a:prstGeom>
          <a:solidFill>
            <a:srgbClr val="E8EAE7"/>
          </a:solidFill>
          <a:ln w="0">
            <a:noFill/>
            <a:prstDash val="solid"/>
          </a:ln>
        </p:spPr>
      </p:sp>
      <p:sp>
        <p:nvSpPr>
          <p:cNvPr id="4" name="Rectangle 3">
            <a:extLst>
              <a:ext uri="{FF2B5EF4-FFF2-40B4-BE49-F238E27FC236}">
                <a16:creationId xmlns:a16="http://schemas.microsoft.com/office/drawing/2014/main" id="{D7610FFD-5987-4CB6-A6D4-0E0B0B8DB0A0}"/>
              </a:ext>
            </a:extLst>
          </p:cNvPr>
          <p:cNvSpPr>
            <a:spLocks noGrp="1"/>
          </p:cNvSpPr>
          <p:nvPr/>
        </p:nvSpPr>
        <p:spPr>
          <a:xfrm>
            <a:off x="609600" y="6448425"/>
            <a:ext cx="4762500" cy="171450"/>
          </a:xfrm>
          <a:prstGeom prst="rect">
            <a:avLst/>
          </a:prstGeom>
          <a:noFill/>
          <a:ln w="0">
            <a:noFill/>
            <a:prstDash val="solid"/>
          </a:ln>
        </p:spPr>
        <p:txBody>
          <a:bodyPr wrap="square" lIns="0" tIns="0" rIns="0" bIns="0" anchor="t">
            <a:normAutofit/>
          </a:bodyPr>
          <a:lstStyle>
            <a:defPPr algn="l">
              <a:defRPr sz="975" b="0">
                <a:solidFill>
                  <a:srgbClr val="53616A"/>
                </a:solidFill>
                <a:latin typeface="Segoe UI"/>
                <a:ea typeface="Segoe UI"/>
                <a:cs typeface="Segoe UI"/>
              </a:defRPr>
            </a:defPPr>
          </a:lstStyle>
          <a:p>
            <a:pPr algn="l">
              <a:lnSpc>
                <a:spcPct val="108000"/>
              </a:lnSpc>
              <a:buNone/>
              <a:defRPr sz="975" b="0">
                <a:solidFill>
                  <a:srgbClr val="53616A"/>
                </a:solidFill>
                <a:latin typeface="Segoe UI"/>
                <a:ea typeface="Segoe UI"/>
                <a:cs typeface="Segoe UI"/>
              </a:defRPr>
            </a:pPr>
            <a:r>
              <a:rPr sz="975" b="0">
                <a:solidFill>
                  <a:srgbClr val="53616A"/>
                </a:solidFill>
                <a:latin typeface="Segoe UI"/>
                <a:ea typeface="Segoe UI"/>
                <a:cs typeface="Segoe UI"/>
              </a:rPr>
              <a:t>AI Academy  /  MLE-AI-201</a:t>
            </a:r>
          </a:p>
        </p:txBody>
      </p:sp>
      <p:sp>
        <p:nvSpPr>
          <p:cNvPr id="5" name="Rectangle 4">
            <a:extLst>
              <a:ext uri="{FF2B5EF4-FFF2-40B4-BE49-F238E27FC236}">
                <a16:creationId xmlns:a16="http://schemas.microsoft.com/office/drawing/2014/main" id="{40E0D4A0-0E72-4537-93A0-0B0A023A890B}"/>
              </a:ext>
            </a:extLst>
          </p:cNvPr>
          <p:cNvSpPr>
            <a:spLocks noGrp="1"/>
          </p:cNvSpPr>
          <p:nvPr/>
        </p:nvSpPr>
        <p:spPr>
          <a:xfrm>
            <a:off x="11049000" y="6429375"/>
            <a:ext cx="571500" cy="209550"/>
          </a:xfrm>
          <a:prstGeom prst="rect">
            <a:avLst/>
          </a:prstGeom>
          <a:noFill/>
          <a:ln w="0">
            <a:noFill/>
            <a:prstDash val="solid"/>
          </a:ln>
        </p:spPr>
        <p:txBody>
          <a:bodyPr wrap="square" lIns="0" tIns="0" rIns="0" bIns="0" anchor="t">
            <a:normAutofit/>
          </a:bodyPr>
          <a:lstStyle>
            <a:defPPr algn="r">
              <a:defRPr sz="1050" b="1">
                <a:solidFill>
                  <a:srgbClr val="53616A"/>
                </a:solidFill>
                <a:latin typeface="Segoe UI"/>
                <a:ea typeface="Segoe UI"/>
                <a:cs typeface="Segoe UI"/>
              </a:defRPr>
            </a:defPPr>
          </a:lstStyle>
          <a:p>
            <a:pPr algn="r">
              <a:lnSpc>
                <a:spcPct val="108000"/>
              </a:lnSpc>
              <a:buNone/>
              <a:defRPr sz="1050" b="1">
                <a:solidFill>
                  <a:srgbClr val="53616A"/>
                </a:solidFill>
                <a:latin typeface="Segoe UI"/>
                <a:ea typeface="Segoe UI"/>
                <a:cs typeface="Segoe UI"/>
              </a:defRPr>
            </a:pPr>
            <a:r>
              <a:rPr sz="1050" b="1">
                <a:solidFill>
                  <a:srgbClr val="53616A"/>
                </a:solidFill>
                <a:latin typeface="Segoe UI"/>
                <a:ea typeface="Segoe UI"/>
                <a:cs typeface="Segoe UI"/>
              </a:rPr>
              <a:t>07</a:t>
            </a:r>
          </a:p>
        </p:txBody>
      </p:sp>
      <p:sp>
        <p:nvSpPr>
          <p:cNvPr id="6" name="Rectangle 5">
            <a:extLst>
              <a:ext uri="{FF2B5EF4-FFF2-40B4-BE49-F238E27FC236}">
                <a16:creationId xmlns:a16="http://schemas.microsoft.com/office/drawing/2014/main" id="{F5E33B38-A7EA-4792-A501-B733837AA905}"/>
              </a:ext>
            </a:extLst>
          </p:cNvPr>
          <p:cNvSpPr>
            <a:spLocks noGrp="1"/>
          </p:cNvSpPr>
          <p:nvPr/>
        </p:nvSpPr>
        <p:spPr>
          <a:xfrm>
            <a:off x="609600" y="1714500"/>
            <a:ext cx="10382250" cy="571500"/>
          </a:xfrm>
          <a:prstGeom prst="rect">
            <a:avLst/>
          </a:prstGeom>
          <a:noFill/>
          <a:ln w="0">
            <a:noFill/>
            <a:prstDash val="solid"/>
          </a:ln>
        </p:spPr>
        <p:txBody>
          <a:bodyPr wrap="square" lIns="0" tIns="0" rIns="0" bIns="0" anchor="t">
            <a:normAutofit/>
          </a:bodyPr>
          <a:lstStyle>
            <a:defPPr algn="l">
              <a:defRPr sz="1875" b="0">
                <a:solidFill>
                  <a:srgbClr val="172532"/>
                </a:solidFill>
                <a:latin typeface="Segoe UI"/>
                <a:ea typeface="Segoe UI"/>
                <a:cs typeface="Segoe UI"/>
              </a:defRPr>
            </a:defPPr>
          </a:lstStyle>
          <a:p>
            <a:pPr algn="l">
              <a:lnSpc>
                <a:spcPct val="108000"/>
              </a:lnSpc>
              <a:buNone/>
              <a:defRPr sz="1875" b="0">
                <a:solidFill>
                  <a:srgbClr val="172532"/>
                </a:solidFill>
                <a:latin typeface="Segoe UI"/>
                <a:ea typeface="Segoe UI"/>
                <a:cs typeface="Segoe UI"/>
              </a:defRPr>
            </a:pPr>
            <a:r>
              <a:rPr sz="1875" b="0">
                <a:solidFill>
                  <a:srgbClr val="172532"/>
                </a:solidFill>
                <a:latin typeface="Segoe UI"/>
                <a:ea typeface="Segoe UI"/>
                <a:cs typeface="Segoe UI"/>
              </a:rPr>
              <a:t>The linear SVM separates Premium and Standard listings with a score.</a:t>
            </a:r>
          </a:p>
        </p:txBody>
      </p:sp>
      <p:sp>
        <p:nvSpPr>
          <p:cNvPr id="7" name="Rectangle: Rounded Corners 6">
            <a:extLst>
              <a:ext uri="{FF2B5EF4-FFF2-40B4-BE49-F238E27FC236}">
                <a16:creationId xmlns:a16="http://schemas.microsoft.com/office/drawing/2014/main" id="{3EE90A24-E53F-4BEE-BAB8-31C5DC4A3621}"/>
              </a:ext>
            </a:extLst>
          </p:cNvPr>
          <p:cNvSpPr>
            <a:spLocks noGrp="1"/>
          </p:cNvSpPr>
          <p:nvPr/>
        </p:nvSpPr>
        <p:spPr>
          <a:xfrm>
            <a:off x="609600" y="2600325"/>
            <a:ext cx="5181600" cy="2524125"/>
          </a:xfrm>
          <a:prstGeom prst="roundRect">
            <a:avLst>
              <a:gd name="adj" fmla="val 3019"/>
            </a:avLst>
          </a:prstGeom>
          <a:solidFill>
            <a:srgbClr val="142539"/>
          </a:solidFill>
          <a:ln w="0">
            <a:noFill/>
            <a:prstDash val="solid"/>
          </a:ln>
        </p:spPr>
      </p:sp>
      <p:sp>
        <p:nvSpPr>
          <p:cNvPr id="8" name="Rectangle 7">
            <a:extLst>
              <a:ext uri="{FF2B5EF4-FFF2-40B4-BE49-F238E27FC236}">
                <a16:creationId xmlns:a16="http://schemas.microsoft.com/office/drawing/2014/main" id="{DC90A4F9-FD76-491C-B14E-6F9631A3D06D}"/>
              </a:ext>
            </a:extLst>
          </p:cNvPr>
          <p:cNvSpPr>
            <a:spLocks noGrp="1"/>
          </p:cNvSpPr>
          <p:nvPr/>
        </p:nvSpPr>
        <p:spPr>
          <a:xfrm>
            <a:off x="885825" y="2828925"/>
            <a:ext cx="4467225" cy="457200"/>
          </a:xfrm>
          <a:prstGeom prst="rect">
            <a:avLst/>
          </a:prstGeom>
          <a:noFill/>
          <a:ln w="0">
            <a:noFill/>
            <a:prstDash val="solid"/>
          </a:ln>
        </p:spPr>
        <p:txBody>
          <a:bodyPr wrap="square" lIns="0" tIns="0" rIns="0" bIns="0" anchor="t">
            <a:normAutofit/>
          </a:bodyPr>
          <a:lstStyle>
            <a:defPPr algn="l">
              <a:defRPr sz="2475" b="1">
                <a:solidFill>
                  <a:srgbClr val="FFFFFF"/>
                </a:solidFill>
                <a:latin typeface="Segoe UI"/>
                <a:ea typeface="Segoe UI"/>
                <a:cs typeface="Segoe UI"/>
              </a:defRPr>
            </a:defPPr>
          </a:lstStyle>
          <a:p>
            <a:pPr algn="l">
              <a:lnSpc>
                <a:spcPct val="108000"/>
              </a:lnSpc>
              <a:buNone/>
              <a:defRPr sz="2475" b="1">
                <a:solidFill>
                  <a:srgbClr val="FFFFFF"/>
                </a:solidFill>
                <a:latin typeface="Segoe UI"/>
                <a:ea typeface="Segoe UI"/>
                <a:cs typeface="Segoe UI"/>
              </a:defRPr>
            </a:pPr>
            <a:r>
              <a:rPr sz="2475" b="1">
                <a:solidFill>
                  <a:srgbClr val="FFFFFF"/>
                </a:solidFill>
                <a:latin typeface="Segoe UI"/>
                <a:ea typeface="Segoe UI"/>
                <a:cs typeface="Segoe UI"/>
              </a:rPr>
              <a:t>Hinge loss</a:t>
            </a:r>
          </a:p>
        </p:txBody>
      </p:sp>
      <p:sp>
        <p:nvSpPr>
          <p:cNvPr id="9" name="Rectangle 8">
            <a:extLst>
              <a:ext uri="{FF2B5EF4-FFF2-40B4-BE49-F238E27FC236}">
                <a16:creationId xmlns:a16="http://schemas.microsoft.com/office/drawing/2014/main" id="{11118FDA-61D3-4173-9768-B96513EF3399}"/>
              </a:ext>
            </a:extLst>
          </p:cNvPr>
          <p:cNvSpPr>
            <a:spLocks noGrp="1"/>
          </p:cNvSpPr>
          <p:nvPr/>
        </p:nvSpPr>
        <p:spPr>
          <a:xfrm>
            <a:off x="885825" y="3495675"/>
            <a:ext cx="4467225" cy="438150"/>
          </a:xfrm>
          <a:prstGeom prst="rect">
            <a:avLst/>
          </a:prstGeom>
          <a:noFill/>
          <a:ln w="0">
            <a:noFill/>
            <a:prstDash val="solid"/>
          </a:ln>
        </p:spPr>
        <p:txBody>
          <a:bodyPr wrap="square" lIns="0" tIns="0" rIns="0" bIns="0" anchor="t">
            <a:normAutofit/>
          </a:bodyPr>
          <a:lstStyle>
            <a:defPPr algn="l">
              <a:defRPr sz="2325" b="1">
                <a:solidFill>
                  <a:srgbClr val="96DACC"/>
                </a:solidFill>
                <a:latin typeface="Segoe UI"/>
                <a:ea typeface="Segoe UI"/>
                <a:cs typeface="Segoe UI"/>
              </a:defRPr>
            </a:defPPr>
          </a:lstStyle>
          <a:p>
            <a:pPr algn="l">
              <a:lnSpc>
                <a:spcPct val="108000"/>
              </a:lnSpc>
              <a:buNone/>
              <a:defRPr sz="2325" b="1">
                <a:solidFill>
                  <a:srgbClr val="96DACC"/>
                </a:solidFill>
                <a:latin typeface="Segoe UI"/>
                <a:ea typeface="Segoe UI"/>
                <a:cs typeface="Segoe UI"/>
              </a:defRPr>
            </a:pPr>
            <a:r>
              <a:rPr sz="2325" b="1">
                <a:solidFill>
                  <a:srgbClr val="96DACC"/>
                </a:solidFill>
                <a:latin typeface="Segoe UI"/>
                <a:ea typeface="Segoe UI"/>
                <a:cs typeface="Segoe UI"/>
              </a:rPr>
              <a:t>max(0, 1 − y · score)</a:t>
            </a:r>
          </a:p>
        </p:txBody>
      </p:sp>
      <p:sp>
        <p:nvSpPr>
          <p:cNvPr id="10" name="Rectangle 9">
            <a:extLst>
              <a:ext uri="{FF2B5EF4-FFF2-40B4-BE49-F238E27FC236}">
                <a16:creationId xmlns:a16="http://schemas.microsoft.com/office/drawing/2014/main" id="{BC15E07C-ED9D-4959-B4B7-9E5FB843803F}"/>
              </a:ext>
            </a:extLst>
          </p:cNvPr>
          <p:cNvSpPr>
            <a:spLocks noGrp="1"/>
          </p:cNvSpPr>
          <p:nvPr/>
        </p:nvSpPr>
        <p:spPr>
          <a:xfrm>
            <a:off x="885825" y="4229100"/>
            <a:ext cx="4438650" cy="714375"/>
          </a:xfrm>
          <a:prstGeom prst="rect">
            <a:avLst/>
          </a:prstGeom>
          <a:noFill/>
          <a:ln w="0">
            <a:noFill/>
            <a:prstDash val="solid"/>
          </a:ln>
        </p:spPr>
        <p:txBody>
          <a:bodyPr wrap="square" lIns="0" tIns="0" rIns="0" bIns="0" anchor="t">
            <a:normAutofit/>
          </a:bodyPr>
          <a:lstStyle>
            <a:defPPr algn="l">
              <a:defRPr sz="1650" b="0">
                <a:solidFill>
                  <a:srgbClr val="FFFFFF"/>
                </a:solidFill>
                <a:latin typeface="Segoe UI"/>
                <a:ea typeface="Segoe UI"/>
                <a:cs typeface="Segoe UI"/>
              </a:defRPr>
            </a:defPPr>
          </a:lstStyle>
          <a:p>
            <a:pPr algn="l">
              <a:lnSpc>
                <a:spcPct val="108000"/>
              </a:lnSpc>
              <a:buNone/>
              <a:defRPr sz="1650" b="0">
                <a:solidFill>
                  <a:srgbClr val="FFFFFF"/>
                </a:solidFill>
                <a:latin typeface="Segoe UI"/>
                <a:ea typeface="Segoe UI"/>
                <a:cs typeface="Segoe UI"/>
              </a:defRPr>
            </a:pPr>
            <a:r>
              <a:rPr sz="1650" b="0">
                <a:solidFill>
                  <a:srgbClr val="FFFFFF"/>
                </a:solidFill>
                <a:latin typeface="Segoe UI"/>
                <a:ea typeface="Segoe UI"/>
                <a:cs typeface="Segoe UI"/>
              </a:rPr>
              <a:t>Wrong or low-margin predictions receive a penalty.</a:t>
            </a:r>
          </a:p>
        </p:txBody>
      </p:sp>
      <p:sp>
        <p:nvSpPr>
          <p:cNvPr id="11" name="Rectangle: Rounded Corners 10">
            <a:extLst>
              <a:ext uri="{FF2B5EF4-FFF2-40B4-BE49-F238E27FC236}">
                <a16:creationId xmlns:a16="http://schemas.microsoft.com/office/drawing/2014/main" id="{0371A7FD-852D-4613-A9C0-B2A1726E635F}"/>
              </a:ext>
            </a:extLst>
          </p:cNvPr>
          <p:cNvSpPr>
            <a:spLocks noGrp="1"/>
          </p:cNvSpPr>
          <p:nvPr/>
        </p:nvSpPr>
        <p:spPr>
          <a:xfrm>
            <a:off x="6115050" y="2600325"/>
            <a:ext cx="5162550" cy="2524125"/>
          </a:xfrm>
          <a:prstGeom prst="roundRect">
            <a:avLst>
              <a:gd name="adj" fmla="val 3019"/>
            </a:avLst>
          </a:prstGeom>
          <a:solidFill>
            <a:srgbClr val="FFFFFF"/>
          </a:solidFill>
          <a:ln w="9525">
            <a:solidFill>
              <a:srgbClr val="E8EAE7"/>
            </a:solidFill>
            <a:prstDash val="solid"/>
          </a:ln>
        </p:spPr>
      </p:sp>
      <p:sp>
        <p:nvSpPr>
          <p:cNvPr id="12" name="Rectangle 11">
            <a:extLst>
              <a:ext uri="{FF2B5EF4-FFF2-40B4-BE49-F238E27FC236}">
                <a16:creationId xmlns:a16="http://schemas.microsoft.com/office/drawing/2014/main" id="{AB076C03-01ED-41B9-8D63-58EF996E7962}"/>
              </a:ext>
            </a:extLst>
          </p:cNvPr>
          <p:cNvSpPr>
            <a:spLocks noGrp="1"/>
          </p:cNvSpPr>
          <p:nvPr/>
        </p:nvSpPr>
        <p:spPr>
          <a:xfrm>
            <a:off x="6391275" y="2828925"/>
            <a:ext cx="4429125" cy="457200"/>
          </a:xfrm>
          <a:prstGeom prst="rect">
            <a:avLst/>
          </a:prstGeom>
          <a:noFill/>
          <a:ln w="0">
            <a:noFill/>
            <a:prstDash val="solid"/>
          </a:ln>
        </p:spPr>
        <p:txBody>
          <a:bodyPr wrap="square" lIns="0" tIns="0" rIns="0" bIns="0" anchor="t">
            <a:normAutofit/>
          </a:bodyPr>
          <a:lstStyle>
            <a:defPPr algn="l">
              <a:defRPr sz="2400" b="1">
                <a:solidFill>
                  <a:srgbClr val="172532"/>
                </a:solidFill>
                <a:latin typeface="Segoe UI"/>
                <a:ea typeface="Segoe UI"/>
                <a:cs typeface="Segoe UI"/>
              </a:defRPr>
            </a:defPPr>
          </a:lstStyle>
          <a:p>
            <a:pPr algn="l">
              <a:lnSpc>
                <a:spcPct val="108000"/>
              </a:lnSpc>
              <a:buNone/>
              <a:defRPr sz="2400" b="1">
                <a:solidFill>
                  <a:srgbClr val="172532"/>
                </a:solidFill>
                <a:latin typeface="Segoe UI"/>
                <a:ea typeface="Segoe UI"/>
                <a:cs typeface="Segoe UI"/>
              </a:defRPr>
            </a:pPr>
            <a:r>
              <a:rPr sz="2400" b="1">
                <a:solidFill>
                  <a:srgbClr val="172532"/>
                </a:solidFill>
                <a:latin typeface="Segoe UI"/>
                <a:ea typeface="Segoe UI"/>
                <a:cs typeface="Segoe UI"/>
              </a:rPr>
              <a:t>Pegasos update</a:t>
            </a:r>
          </a:p>
        </p:txBody>
      </p:sp>
      <p:sp>
        <p:nvSpPr>
          <p:cNvPr id="13" name="Rectangle 12">
            <a:extLst>
              <a:ext uri="{FF2B5EF4-FFF2-40B4-BE49-F238E27FC236}">
                <a16:creationId xmlns:a16="http://schemas.microsoft.com/office/drawing/2014/main" id="{9258A85B-0F8F-4701-9592-426F4DAB36F6}"/>
              </a:ext>
            </a:extLst>
          </p:cNvPr>
          <p:cNvSpPr>
            <a:spLocks noGrp="1"/>
          </p:cNvSpPr>
          <p:nvPr/>
        </p:nvSpPr>
        <p:spPr>
          <a:xfrm>
            <a:off x="6391275" y="3419475"/>
            <a:ext cx="4457700" cy="914400"/>
          </a:xfrm>
          <a:prstGeom prst="rect">
            <a:avLst/>
          </a:prstGeom>
          <a:noFill/>
          <a:ln w="0">
            <a:noFill/>
            <a:prstDash val="solid"/>
          </a:ln>
        </p:spPr>
        <p:txBody>
          <a:bodyPr wrap="square" lIns="0" tIns="0" rIns="0" bIns="0" anchor="t">
            <a:normAutofit/>
          </a:bodyPr>
          <a:lstStyle>
            <a:defPPr algn="l">
              <a:defRPr sz="1875" b="0">
                <a:solidFill>
                  <a:srgbClr val="172532"/>
                </a:solidFill>
                <a:latin typeface="Segoe UI"/>
                <a:ea typeface="Segoe UI"/>
                <a:cs typeface="Segoe UI"/>
              </a:defRPr>
            </a:defPPr>
          </a:lstStyle>
          <a:p>
            <a:pPr algn="l">
              <a:lnSpc>
                <a:spcPct val="108000"/>
              </a:lnSpc>
              <a:buNone/>
              <a:defRPr sz="1875" b="0">
                <a:solidFill>
                  <a:srgbClr val="172532"/>
                </a:solidFill>
                <a:latin typeface="Segoe UI"/>
                <a:ea typeface="Segoe UI"/>
                <a:cs typeface="Segoe UI"/>
              </a:defRPr>
            </a:pPr>
            <a:r>
              <a:rPr sz="1875" b="0">
                <a:solidFill>
                  <a:srgbClr val="172532"/>
                </a:solidFill>
                <a:latin typeface="Segoe UI"/>
                <a:ea typeface="Segoe UI"/>
                <a:cs typeface="Segoe UI"/>
              </a:rPr>
              <a:t>Repeated weight updates minimize hinge loss with L2 regularization.</a:t>
            </a:r>
          </a:p>
        </p:txBody>
      </p:sp>
      <p:sp>
        <p:nvSpPr>
          <p:cNvPr id="14" name="Rectangle 13">
            <a:extLst>
              <a:ext uri="{FF2B5EF4-FFF2-40B4-BE49-F238E27FC236}">
                <a16:creationId xmlns:a16="http://schemas.microsoft.com/office/drawing/2014/main" id="{F52F45F0-4EA7-4DC4-B1DE-325FD68C2BA7}"/>
              </a:ext>
            </a:extLst>
          </p:cNvPr>
          <p:cNvSpPr>
            <a:spLocks noGrp="1"/>
          </p:cNvSpPr>
          <p:nvPr/>
        </p:nvSpPr>
        <p:spPr>
          <a:xfrm>
            <a:off x="6391275" y="4543425"/>
            <a:ext cx="4429125" cy="428625"/>
          </a:xfrm>
          <a:prstGeom prst="rect">
            <a:avLst/>
          </a:prstGeom>
          <a:noFill/>
          <a:ln w="0">
            <a:noFill/>
            <a:prstDash val="solid"/>
          </a:ln>
        </p:spPr>
        <p:txBody>
          <a:bodyPr wrap="square" lIns="0" tIns="0" rIns="0" bIns="0" anchor="t">
            <a:normAutofit/>
          </a:bodyPr>
          <a:lstStyle>
            <a:defPPr algn="l">
              <a:defRPr sz="1575" b="0">
                <a:solidFill>
                  <a:srgbClr val="53616A"/>
                </a:solidFill>
                <a:latin typeface="Segoe UI"/>
                <a:ea typeface="Segoe UI"/>
                <a:cs typeface="Segoe UI"/>
              </a:defRPr>
            </a:defPPr>
          </a:lstStyle>
          <a:p>
            <a:pPr algn="l">
              <a:lnSpc>
                <a:spcPct val="108000"/>
              </a:lnSpc>
              <a:buNone/>
              <a:defRPr sz="1575" b="0">
                <a:solidFill>
                  <a:srgbClr val="53616A"/>
                </a:solidFill>
                <a:latin typeface="Segoe UI"/>
                <a:ea typeface="Segoe UI"/>
                <a:cs typeface="Segoe UI"/>
              </a:defRPr>
            </a:pPr>
            <a:r>
              <a:rPr sz="1575" b="0">
                <a:solidFill>
                  <a:srgbClr val="53616A"/>
                </a:solidFill>
                <a:latin typeface="Segoe UI"/>
                <a:ea typeface="Segoe UI"/>
                <a:cs typeface="Segoe UI"/>
              </a:rPr>
              <a:t>λ, epochs and learning schedule control training.</a:t>
            </a:r>
          </a:p>
        </p:txBody>
      </p:sp>
      <p:sp>
        <p:nvSpPr>
          <p:cNvPr id="15" name="Rectangle 14">
            <a:extLst>
              <a:ext uri="{FF2B5EF4-FFF2-40B4-BE49-F238E27FC236}">
                <a16:creationId xmlns:a16="http://schemas.microsoft.com/office/drawing/2014/main" id="{85BDD734-0AAB-4079-9A3F-0FDF5559785A}"/>
              </a:ext>
            </a:extLst>
          </p:cNvPr>
          <p:cNvSpPr>
            <a:spLocks noGrp="1"/>
          </p:cNvSpPr>
          <p:nvPr/>
        </p:nvSpPr>
        <p:spPr>
          <a:xfrm>
            <a:off x="609600" y="5486400"/>
            <a:ext cx="10382250" cy="428625"/>
          </a:xfrm>
          <a:prstGeom prst="rect">
            <a:avLst/>
          </a:prstGeom>
          <a:noFill/>
          <a:ln w="0">
            <a:noFill/>
            <a:prstDash val="solid"/>
          </a:ln>
        </p:spPr>
        <p:txBody>
          <a:bodyPr wrap="square" lIns="0" tIns="0" rIns="0" bIns="0" anchor="t">
            <a:normAutofit/>
          </a:bodyPr>
          <a:lstStyle>
            <a:defPPr algn="l">
              <a:defRPr sz="1725" b="1">
                <a:solidFill>
                  <a:srgbClr val="087D76"/>
                </a:solidFill>
                <a:latin typeface="Segoe UI"/>
                <a:ea typeface="Segoe UI"/>
                <a:cs typeface="Segoe UI"/>
              </a:defRPr>
            </a:defPPr>
          </a:lstStyle>
          <a:p>
            <a:pPr algn="l">
              <a:lnSpc>
                <a:spcPct val="108000"/>
              </a:lnSpc>
              <a:buNone/>
              <a:defRPr sz="1725" b="1">
                <a:solidFill>
                  <a:srgbClr val="087D76"/>
                </a:solidFill>
                <a:latin typeface="Segoe UI"/>
                <a:ea typeface="Segoe UI"/>
                <a:cs typeface="Segoe UI"/>
              </a:defRPr>
            </a:pPr>
            <a:r>
              <a:rPr sz="1725" b="1">
                <a:solidFill>
                  <a:srgbClr val="087D76"/>
                </a:solidFill>
                <a:latin typeface="Segoe UI"/>
                <a:ea typeface="Segoe UI"/>
                <a:cs typeface="Segoe UI"/>
              </a:rPr>
              <a:t>Support vectors are points close to, or inside, the margin.</a:t>
            </a:r>
          </a:p>
        </p:txBody>
      </p:sp>
    </p:spTree>
    <p:extLst>
      <p:ext uri="{BB962C8B-B14F-4D97-AF65-F5344CB8AC3E}">
        <p14:creationId xmlns:p14="http://schemas.microsoft.com/office/powerpoint/2010/main" val="418572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21B927C4-D9FA-4C75-9112-78BA8F3C009E}"/>
              </a:ext>
            </a:extLst>
          </p:cNvPr>
          <p:cNvSpPr>
            <a:spLocks noGrp="1"/>
          </p:cNvSpPr>
          <p:nvPr/>
        </p:nvSpPr>
        <p:spPr>
          <a:xfrm>
            <a:off x="609600" y="304800"/>
            <a:ext cx="7143750" cy="209550"/>
          </a:xfrm>
          <a:prstGeom prst="rect">
            <a:avLst/>
          </a:prstGeom>
          <a:noFill/>
          <a:ln w="0">
            <a:noFill/>
            <a:prstDash val="solid"/>
          </a:ln>
        </p:spPr>
        <p:txBody>
          <a:bodyPr wrap="square" lIns="0" tIns="0" rIns="0" bIns="0" anchor="t">
            <a:normAutofit/>
          </a:bodyPr>
          <a:lstStyle>
            <a:defPPr algn="l">
              <a:defRPr sz="1050" b="1">
                <a:solidFill>
                  <a:srgbClr val="087D76"/>
                </a:solidFill>
                <a:latin typeface="Segoe UI"/>
                <a:ea typeface="Segoe UI"/>
                <a:cs typeface="Segoe UI"/>
              </a:defRPr>
            </a:defPPr>
          </a:lstStyle>
          <a:p>
            <a:pPr algn="l">
              <a:lnSpc>
                <a:spcPct val="108000"/>
              </a:lnSpc>
              <a:buNone/>
              <a:defRPr sz="1050" b="1">
                <a:solidFill>
                  <a:srgbClr val="087D76"/>
                </a:solidFill>
                <a:latin typeface="Segoe UI"/>
                <a:ea typeface="Segoe UI"/>
                <a:cs typeface="Segoe UI"/>
              </a:defRPr>
            </a:pPr>
            <a:r>
              <a:rPr sz="1050" b="1">
                <a:solidFill>
                  <a:srgbClr val="087D76"/>
                </a:solidFill>
                <a:latin typeface="Segoe UI"/>
                <a:ea typeface="Segoe UI"/>
                <a:cs typeface="Segoe UI"/>
              </a:rPr>
              <a:t>SVM EXPERIMENTS  /  RAMIL</a:t>
            </a:r>
          </a:p>
        </p:txBody>
      </p:sp>
      <p:sp>
        <p:nvSpPr>
          <p:cNvPr id="2" name="Rectangle 1">
            <a:extLst>
              <a:ext uri="{FF2B5EF4-FFF2-40B4-BE49-F238E27FC236}">
                <a16:creationId xmlns:a16="http://schemas.microsoft.com/office/drawing/2014/main" id="{3AC6CFC4-608C-4418-BB7A-14F4218E303C}"/>
              </a:ext>
            </a:extLst>
          </p:cNvPr>
          <p:cNvSpPr>
            <a:spLocks noGrp="1"/>
          </p:cNvSpPr>
          <p:nvPr/>
        </p:nvSpPr>
        <p:spPr>
          <a:xfrm>
            <a:off x="609600" y="647700"/>
            <a:ext cx="10953750" cy="647700"/>
          </a:xfrm>
          <a:prstGeom prst="rect">
            <a:avLst/>
          </a:prstGeom>
          <a:noFill/>
          <a:ln w="0">
            <a:noFill/>
            <a:prstDash val="solid"/>
          </a:ln>
        </p:spPr>
        <p:txBody>
          <a:bodyPr wrap="square" lIns="0" tIns="0" rIns="0" bIns="0" anchor="t">
            <a:normAutofit/>
          </a:bodyPr>
          <a:lstStyle>
            <a:defPPr algn="l">
              <a:defRPr sz="3075" b="1">
                <a:solidFill>
                  <a:srgbClr val="172532"/>
                </a:solidFill>
                <a:latin typeface="Segoe UI"/>
                <a:ea typeface="Segoe UI"/>
                <a:cs typeface="Segoe UI"/>
              </a:defRPr>
            </a:defPPr>
          </a:lstStyle>
          <a:p>
            <a:pPr algn="l">
              <a:lnSpc>
                <a:spcPct val="108000"/>
              </a:lnSpc>
              <a:buNone/>
              <a:defRPr sz="3075" b="1">
                <a:solidFill>
                  <a:srgbClr val="172532"/>
                </a:solidFill>
                <a:latin typeface="Segoe UI"/>
                <a:ea typeface="Segoe UI"/>
                <a:cs typeface="Segoe UI"/>
              </a:defRPr>
            </a:pPr>
            <a:r>
              <a:rPr sz="3075" b="1">
                <a:solidFill>
                  <a:srgbClr val="172532"/>
                </a:solidFill>
                <a:latin typeface="Segoe UI"/>
                <a:ea typeface="Segoe UI"/>
                <a:cs typeface="Segoe UI"/>
              </a:rPr>
              <a:t>The nonlinear extension did not improve F1</a:t>
            </a:r>
          </a:p>
        </p:txBody>
      </p:sp>
      <p:sp>
        <p:nvSpPr>
          <p:cNvPr id="3" name="Rectangle 2">
            <a:extLst>
              <a:ext uri="{FF2B5EF4-FFF2-40B4-BE49-F238E27FC236}">
                <a16:creationId xmlns:a16="http://schemas.microsoft.com/office/drawing/2014/main" id="{376C4517-0A0D-435D-820A-C7224981BAF7}"/>
              </a:ext>
            </a:extLst>
          </p:cNvPr>
          <p:cNvSpPr>
            <a:spLocks noGrp="1"/>
          </p:cNvSpPr>
          <p:nvPr/>
        </p:nvSpPr>
        <p:spPr>
          <a:xfrm>
            <a:off x="609600" y="1381125"/>
            <a:ext cx="10972800" cy="19050"/>
          </a:xfrm>
          <a:prstGeom prst="rect">
            <a:avLst/>
          </a:prstGeom>
          <a:solidFill>
            <a:srgbClr val="E8EAE7"/>
          </a:solidFill>
          <a:ln w="0">
            <a:noFill/>
            <a:prstDash val="solid"/>
          </a:ln>
        </p:spPr>
      </p:sp>
      <p:sp>
        <p:nvSpPr>
          <p:cNvPr id="4" name="Rectangle 3">
            <a:extLst>
              <a:ext uri="{FF2B5EF4-FFF2-40B4-BE49-F238E27FC236}">
                <a16:creationId xmlns:a16="http://schemas.microsoft.com/office/drawing/2014/main" id="{28E2BCD9-7D5F-4E3A-8BE2-8DE709AB3931}"/>
              </a:ext>
            </a:extLst>
          </p:cNvPr>
          <p:cNvSpPr>
            <a:spLocks noGrp="1"/>
          </p:cNvSpPr>
          <p:nvPr/>
        </p:nvSpPr>
        <p:spPr>
          <a:xfrm>
            <a:off x="609600" y="6448425"/>
            <a:ext cx="4762500" cy="171450"/>
          </a:xfrm>
          <a:prstGeom prst="rect">
            <a:avLst/>
          </a:prstGeom>
          <a:noFill/>
          <a:ln w="0">
            <a:noFill/>
            <a:prstDash val="solid"/>
          </a:ln>
        </p:spPr>
        <p:txBody>
          <a:bodyPr wrap="square" lIns="0" tIns="0" rIns="0" bIns="0" anchor="t">
            <a:normAutofit/>
          </a:bodyPr>
          <a:lstStyle>
            <a:defPPr algn="l">
              <a:defRPr sz="975" b="0">
                <a:solidFill>
                  <a:srgbClr val="53616A"/>
                </a:solidFill>
                <a:latin typeface="Segoe UI"/>
                <a:ea typeface="Segoe UI"/>
                <a:cs typeface="Segoe UI"/>
              </a:defRPr>
            </a:defPPr>
          </a:lstStyle>
          <a:p>
            <a:pPr algn="l">
              <a:lnSpc>
                <a:spcPct val="108000"/>
              </a:lnSpc>
              <a:buNone/>
              <a:defRPr sz="975" b="0">
                <a:solidFill>
                  <a:srgbClr val="53616A"/>
                </a:solidFill>
                <a:latin typeface="Segoe UI"/>
                <a:ea typeface="Segoe UI"/>
                <a:cs typeface="Segoe UI"/>
              </a:defRPr>
            </a:pPr>
            <a:r>
              <a:rPr sz="975" b="0">
                <a:solidFill>
                  <a:srgbClr val="53616A"/>
                </a:solidFill>
                <a:latin typeface="Segoe UI"/>
                <a:ea typeface="Segoe UI"/>
                <a:cs typeface="Segoe UI"/>
              </a:rPr>
              <a:t>AI Academy  /  MLE-AI-201</a:t>
            </a:r>
          </a:p>
        </p:txBody>
      </p:sp>
      <p:sp>
        <p:nvSpPr>
          <p:cNvPr id="5" name="Rectangle 4">
            <a:extLst>
              <a:ext uri="{FF2B5EF4-FFF2-40B4-BE49-F238E27FC236}">
                <a16:creationId xmlns:a16="http://schemas.microsoft.com/office/drawing/2014/main" id="{3E596043-DEDC-4CA3-BED3-0A58BFEF9214}"/>
              </a:ext>
            </a:extLst>
          </p:cNvPr>
          <p:cNvSpPr>
            <a:spLocks noGrp="1"/>
          </p:cNvSpPr>
          <p:nvPr/>
        </p:nvSpPr>
        <p:spPr>
          <a:xfrm>
            <a:off x="11049000" y="6429375"/>
            <a:ext cx="571500" cy="209550"/>
          </a:xfrm>
          <a:prstGeom prst="rect">
            <a:avLst/>
          </a:prstGeom>
          <a:noFill/>
          <a:ln w="0">
            <a:noFill/>
            <a:prstDash val="solid"/>
          </a:ln>
        </p:spPr>
        <p:txBody>
          <a:bodyPr wrap="square" lIns="0" tIns="0" rIns="0" bIns="0" anchor="t">
            <a:normAutofit/>
          </a:bodyPr>
          <a:lstStyle>
            <a:defPPr algn="r">
              <a:defRPr sz="1050" b="1">
                <a:solidFill>
                  <a:srgbClr val="53616A"/>
                </a:solidFill>
                <a:latin typeface="Segoe UI"/>
                <a:ea typeface="Segoe UI"/>
                <a:cs typeface="Segoe UI"/>
              </a:defRPr>
            </a:defPPr>
          </a:lstStyle>
          <a:p>
            <a:pPr algn="r">
              <a:lnSpc>
                <a:spcPct val="108000"/>
              </a:lnSpc>
              <a:buNone/>
              <a:defRPr sz="1050" b="1">
                <a:solidFill>
                  <a:srgbClr val="53616A"/>
                </a:solidFill>
                <a:latin typeface="Segoe UI"/>
                <a:ea typeface="Segoe UI"/>
                <a:cs typeface="Segoe UI"/>
              </a:defRPr>
            </a:pPr>
            <a:r>
              <a:rPr sz="1050" b="1">
                <a:solidFill>
                  <a:srgbClr val="53616A"/>
                </a:solidFill>
                <a:latin typeface="Segoe UI"/>
                <a:ea typeface="Segoe UI"/>
                <a:cs typeface="Segoe UI"/>
              </a:rPr>
              <a:t>08</a:t>
            </a:r>
          </a:p>
        </p:txBody>
      </p:sp>
      <p:sp>
        <p:nvSpPr>
          <p:cNvPr id="6" name="Rectangle 5">
            <a:extLst>
              <a:ext uri="{FF2B5EF4-FFF2-40B4-BE49-F238E27FC236}">
                <a16:creationId xmlns:a16="http://schemas.microsoft.com/office/drawing/2014/main" id="{2315BE77-94B7-4FBD-99E5-CF810E73C575}"/>
              </a:ext>
            </a:extLst>
          </p:cNvPr>
          <p:cNvSpPr>
            <a:spLocks noGrp="1"/>
          </p:cNvSpPr>
          <p:nvPr/>
        </p:nvSpPr>
        <p:spPr>
          <a:xfrm>
            <a:off x="609600" y="1809750"/>
            <a:ext cx="5562600" cy="3400425"/>
          </a:xfrm>
          <a:prstGeom prst="rect">
            <a:avLst/>
          </a:prstGeom>
          <a:solidFill>
            <a:srgbClr val="FFFFFF"/>
          </a:solidFill>
          <a:ln w="9525">
            <a:solidFill>
              <a:srgbClr val="E8EAE7"/>
            </a:solidFill>
            <a:prstDash val="solid"/>
          </a:ln>
        </p:spPr>
      </p:sp>
      <p:pic>
        <p:nvPicPr>
          <p:cNvPr id="7" name="Picture 6">
            <a:extLst>
              <a:ext uri="{FF2B5EF4-FFF2-40B4-BE49-F238E27FC236}">
                <a16:creationId xmlns:a16="http://schemas.microsoft.com/office/drawing/2014/main" id="{B2A74ADF-C5A8-4AF3-9432-B21957455B72}"/>
              </a:ext>
            </a:extLst>
          </p:cNvPr>
          <p:cNvPicPr>
            <a:picLocks noChangeAspect="1"/>
          </p:cNvPicPr>
          <p:nvPr/>
        </p:nvPicPr>
        <p:blipFill>
          <a:blip r:embed="rId3"/>
          <a:stretch/>
        </p:blipFill>
        <p:spPr>
          <a:xfrm>
            <a:off x="704850" y="1975077"/>
            <a:ext cx="5372100" cy="3069771"/>
          </a:xfrm>
          <a:prstGeom prst="rect">
            <a:avLst/>
          </a:prstGeom>
        </p:spPr>
      </p:pic>
      <p:sp>
        <p:nvSpPr>
          <p:cNvPr id="8" name="Rectangle 7">
            <a:extLst>
              <a:ext uri="{FF2B5EF4-FFF2-40B4-BE49-F238E27FC236}">
                <a16:creationId xmlns:a16="http://schemas.microsoft.com/office/drawing/2014/main" id="{2090FBF0-E94F-470B-B628-CBB10822A259}"/>
              </a:ext>
            </a:extLst>
          </p:cNvPr>
          <p:cNvSpPr>
            <a:spLocks noGrp="1"/>
          </p:cNvSpPr>
          <p:nvPr/>
        </p:nvSpPr>
        <p:spPr>
          <a:xfrm>
            <a:off x="6553200" y="1866900"/>
            <a:ext cx="1428750" cy="285750"/>
          </a:xfrm>
          <a:prstGeom prst="rect">
            <a:avLst/>
          </a:prstGeom>
          <a:noFill/>
          <a:ln w="0">
            <a:noFill/>
            <a:prstDash val="solid"/>
          </a:ln>
        </p:spPr>
        <p:txBody>
          <a:bodyPr wrap="square" lIns="0" tIns="0" rIns="0" bIns="0" anchor="t">
            <a:normAutofit/>
          </a:bodyPr>
          <a:lstStyle>
            <a:defPPr algn="l">
              <a:defRPr sz="1725" b="0">
                <a:solidFill>
                  <a:srgbClr val="53616A"/>
                </a:solidFill>
                <a:latin typeface="Segoe UI"/>
                <a:ea typeface="Segoe UI"/>
                <a:cs typeface="Segoe UI"/>
              </a:defRPr>
            </a:defPPr>
          </a:lstStyle>
          <a:p>
            <a:pPr algn="l">
              <a:lnSpc>
                <a:spcPct val="108000"/>
              </a:lnSpc>
              <a:buNone/>
              <a:defRPr sz="1725" b="0">
                <a:solidFill>
                  <a:srgbClr val="53616A"/>
                </a:solidFill>
                <a:latin typeface="Segoe UI"/>
                <a:ea typeface="Segoe UI"/>
                <a:cs typeface="Segoe UI"/>
              </a:defRPr>
            </a:pPr>
            <a:r>
              <a:rPr sz="1725" b="0">
                <a:solidFill>
                  <a:srgbClr val="53616A"/>
                </a:solidFill>
                <a:latin typeface="Segoe UI"/>
                <a:ea typeface="Segoe UI"/>
                <a:cs typeface="Segoe UI"/>
              </a:rPr>
              <a:t>Test F1</a:t>
            </a:r>
          </a:p>
        </p:txBody>
      </p:sp>
      <p:sp>
        <p:nvSpPr>
          <p:cNvPr id="9" name="Rectangle 8">
            <a:extLst>
              <a:ext uri="{FF2B5EF4-FFF2-40B4-BE49-F238E27FC236}">
                <a16:creationId xmlns:a16="http://schemas.microsoft.com/office/drawing/2014/main" id="{C4A4B88A-74FE-457E-B6B0-FE1BA7F0173F}"/>
              </a:ext>
            </a:extLst>
          </p:cNvPr>
          <p:cNvSpPr>
            <a:spLocks noGrp="1"/>
          </p:cNvSpPr>
          <p:nvPr/>
        </p:nvSpPr>
        <p:spPr>
          <a:xfrm>
            <a:off x="6705600" y="2333625"/>
            <a:ext cx="4552950" cy="552450"/>
          </a:xfrm>
          <a:prstGeom prst="rect">
            <a:avLst/>
          </a:prstGeom>
          <a:solidFill>
            <a:srgbClr val="DCECE7"/>
          </a:solidFill>
          <a:ln w="14288">
            <a:solidFill>
              <a:srgbClr val="087D76"/>
            </a:solidFill>
            <a:prstDash val="solid"/>
          </a:ln>
        </p:spPr>
      </p:sp>
      <p:sp>
        <p:nvSpPr>
          <p:cNvPr id="10" name="Rectangle 9">
            <a:extLst>
              <a:ext uri="{FF2B5EF4-FFF2-40B4-BE49-F238E27FC236}">
                <a16:creationId xmlns:a16="http://schemas.microsoft.com/office/drawing/2014/main" id="{4AC2FC05-20CF-411B-BA15-E8494D83EEB5}"/>
              </a:ext>
            </a:extLst>
          </p:cNvPr>
          <p:cNvSpPr>
            <a:spLocks noGrp="1"/>
          </p:cNvSpPr>
          <p:nvPr/>
        </p:nvSpPr>
        <p:spPr>
          <a:xfrm>
            <a:off x="6886575" y="2476500"/>
            <a:ext cx="2857500" cy="266700"/>
          </a:xfrm>
          <a:prstGeom prst="rect">
            <a:avLst/>
          </a:prstGeom>
          <a:noFill/>
          <a:ln w="0">
            <a:noFill/>
            <a:prstDash val="solid"/>
          </a:ln>
        </p:spPr>
        <p:txBody>
          <a:bodyPr wrap="square" lIns="0" tIns="0" rIns="0" bIns="0" anchor="t">
            <a:normAutofit/>
          </a:bodyPr>
          <a:lstStyle>
            <a:defPPr algn="l">
              <a:defRPr sz="1425" b="1">
                <a:solidFill>
                  <a:srgbClr val="172532"/>
                </a:solidFill>
                <a:latin typeface="Segoe UI"/>
                <a:ea typeface="Segoe UI"/>
                <a:cs typeface="Segoe UI"/>
              </a:defRPr>
            </a:defPPr>
          </a:lstStyle>
          <a:p>
            <a:pPr algn="l">
              <a:lnSpc>
                <a:spcPct val="108000"/>
              </a:lnSpc>
              <a:buNone/>
              <a:defRPr sz="1425" b="1">
                <a:solidFill>
                  <a:srgbClr val="172532"/>
                </a:solidFill>
                <a:latin typeface="Segoe UI"/>
                <a:ea typeface="Segoe UI"/>
                <a:cs typeface="Segoe UI"/>
              </a:defRPr>
            </a:pPr>
            <a:r>
              <a:rPr sz="1425" b="1">
                <a:solidFill>
                  <a:srgbClr val="172532"/>
                </a:solidFill>
                <a:latin typeface="Segoe UI"/>
                <a:ea typeface="Segoe UI"/>
                <a:cs typeface="Segoe UI"/>
              </a:rPr>
              <a:t>Linear Pegasos</a:t>
            </a:r>
          </a:p>
        </p:txBody>
      </p:sp>
      <p:sp>
        <p:nvSpPr>
          <p:cNvPr id="11" name="Rectangle 10">
            <a:extLst>
              <a:ext uri="{FF2B5EF4-FFF2-40B4-BE49-F238E27FC236}">
                <a16:creationId xmlns:a16="http://schemas.microsoft.com/office/drawing/2014/main" id="{074D53A4-AC1E-4301-AE68-BEA3160609BD}"/>
              </a:ext>
            </a:extLst>
          </p:cNvPr>
          <p:cNvSpPr>
            <a:spLocks noGrp="1"/>
          </p:cNvSpPr>
          <p:nvPr/>
        </p:nvSpPr>
        <p:spPr>
          <a:xfrm>
            <a:off x="10001250" y="2457450"/>
            <a:ext cx="1000125" cy="285750"/>
          </a:xfrm>
          <a:prstGeom prst="rect">
            <a:avLst/>
          </a:prstGeom>
          <a:noFill/>
          <a:ln w="0">
            <a:noFill/>
            <a:prstDash val="solid"/>
          </a:ln>
        </p:spPr>
        <p:txBody>
          <a:bodyPr wrap="square" lIns="0" tIns="0" rIns="0" bIns="0" anchor="t">
            <a:normAutofit/>
          </a:bodyPr>
          <a:lstStyle>
            <a:defPPr algn="r">
              <a:defRPr sz="1725" b="1">
                <a:solidFill>
                  <a:srgbClr val="087D76"/>
                </a:solidFill>
                <a:latin typeface="Segoe UI"/>
                <a:ea typeface="Segoe UI"/>
                <a:cs typeface="Segoe UI"/>
              </a:defRPr>
            </a:defPPr>
          </a:lstStyle>
          <a:p>
            <a:pPr algn="r">
              <a:lnSpc>
                <a:spcPct val="108000"/>
              </a:lnSpc>
              <a:buNone/>
              <a:defRPr sz="1725" b="1">
                <a:solidFill>
                  <a:srgbClr val="087D76"/>
                </a:solidFill>
                <a:latin typeface="Segoe UI"/>
                <a:ea typeface="Segoe UI"/>
                <a:cs typeface="Segoe UI"/>
              </a:defRPr>
            </a:pPr>
            <a:r>
              <a:rPr sz="1725" b="1">
                <a:solidFill>
                  <a:srgbClr val="087D76"/>
                </a:solidFill>
                <a:latin typeface="Segoe UI"/>
                <a:ea typeface="Segoe UI"/>
                <a:cs typeface="Segoe UI"/>
              </a:rPr>
              <a:t>0.823</a:t>
            </a:r>
          </a:p>
        </p:txBody>
      </p:sp>
      <p:sp>
        <p:nvSpPr>
          <p:cNvPr id="12" name="Rectangle 11">
            <a:extLst>
              <a:ext uri="{FF2B5EF4-FFF2-40B4-BE49-F238E27FC236}">
                <a16:creationId xmlns:a16="http://schemas.microsoft.com/office/drawing/2014/main" id="{0EF4F0A6-BEED-41DD-ADFD-B9A927735FED}"/>
              </a:ext>
            </a:extLst>
          </p:cNvPr>
          <p:cNvSpPr>
            <a:spLocks noGrp="1"/>
          </p:cNvSpPr>
          <p:nvPr/>
        </p:nvSpPr>
        <p:spPr>
          <a:xfrm>
            <a:off x="6705600" y="3009900"/>
            <a:ext cx="4552950" cy="552450"/>
          </a:xfrm>
          <a:prstGeom prst="rect">
            <a:avLst/>
          </a:prstGeom>
          <a:solidFill>
            <a:srgbClr val="FFFFFF"/>
          </a:solidFill>
          <a:ln w="9525">
            <a:solidFill>
              <a:srgbClr val="E8EAE7"/>
            </a:solidFill>
            <a:prstDash val="solid"/>
          </a:ln>
        </p:spPr>
      </p:sp>
      <p:sp>
        <p:nvSpPr>
          <p:cNvPr id="13" name="Rectangle 12">
            <a:extLst>
              <a:ext uri="{FF2B5EF4-FFF2-40B4-BE49-F238E27FC236}">
                <a16:creationId xmlns:a16="http://schemas.microsoft.com/office/drawing/2014/main" id="{D4AAB47B-D62D-4C97-872A-AF65D9489F5B}"/>
              </a:ext>
            </a:extLst>
          </p:cNvPr>
          <p:cNvSpPr>
            <a:spLocks noGrp="1"/>
          </p:cNvSpPr>
          <p:nvPr/>
        </p:nvSpPr>
        <p:spPr>
          <a:xfrm>
            <a:off x="6886575" y="3152775"/>
            <a:ext cx="2857500" cy="266700"/>
          </a:xfrm>
          <a:prstGeom prst="rect">
            <a:avLst/>
          </a:prstGeom>
          <a:noFill/>
          <a:ln w="0">
            <a:noFill/>
            <a:prstDash val="solid"/>
          </a:ln>
        </p:spPr>
        <p:txBody>
          <a:bodyPr wrap="square" lIns="0" tIns="0" rIns="0" bIns="0" anchor="t">
            <a:normAutofit/>
          </a:bodyPr>
          <a:lstStyle>
            <a:defPPr algn="l">
              <a:defRPr sz="1425" b="0">
                <a:solidFill>
                  <a:srgbClr val="172532"/>
                </a:solidFill>
                <a:latin typeface="Segoe UI"/>
                <a:ea typeface="Segoe UI"/>
                <a:cs typeface="Segoe UI"/>
              </a:defRPr>
            </a:defPPr>
          </a:lstStyle>
          <a:p>
            <a:pPr algn="l">
              <a:lnSpc>
                <a:spcPct val="108000"/>
              </a:lnSpc>
              <a:buNone/>
              <a:defRPr sz="1425" b="0">
                <a:solidFill>
                  <a:srgbClr val="172532"/>
                </a:solidFill>
                <a:latin typeface="Segoe UI"/>
                <a:ea typeface="Segoe UI"/>
                <a:cs typeface="Segoe UI"/>
              </a:defRPr>
            </a:pPr>
            <a:r>
              <a:rPr sz="1425" b="0">
                <a:solidFill>
                  <a:srgbClr val="172532"/>
                </a:solidFill>
                <a:latin typeface="Segoe UI"/>
                <a:ea typeface="Segoe UI"/>
                <a:cs typeface="Segoe UI"/>
              </a:rPr>
              <a:t>sklearn SGD hinge</a:t>
            </a:r>
          </a:p>
        </p:txBody>
      </p:sp>
      <p:sp>
        <p:nvSpPr>
          <p:cNvPr id="14" name="Rectangle 13">
            <a:extLst>
              <a:ext uri="{FF2B5EF4-FFF2-40B4-BE49-F238E27FC236}">
                <a16:creationId xmlns:a16="http://schemas.microsoft.com/office/drawing/2014/main" id="{7A9A482C-AC29-4F6A-85D9-975F1A8B8C0B}"/>
              </a:ext>
            </a:extLst>
          </p:cNvPr>
          <p:cNvSpPr>
            <a:spLocks noGrp="1"/>
          </p:cNvSpPr>
          <p:nvPr/>
        </p:nvSpPr>
        <p:spPr>
          <a:xfrm>
            <a:off x="10001250" y="3133725"/>
            <a:ext cx="1000125" cy="285750"/>
          </a:xfrm>
          <a:prstGeom prst="rect">
            <a:avLst/>
          </a:prstGeom>
          <a:noFill/>
          <a:ln w="0">
            <a:noFill/>
            <a:prstDash val="solid"/>
          </a:ln>
        </p:spPr>
        <p:txBody>
          <a:bodyPr wrap="square" lIns="0" tIns="0" rIns="0" bIns="0" anchor="t">
            <a:normAutofit/>
          </a:bodyPr>
          <a:lstStyle>
            <a:defPPr algn="r">
              <a:defRPr sz="1725" b="1">
                <a:solidFill>
                  <a:srgbClr val="172532"/>
                </a:solidFill>
                <a:latin typeface="Segoe UI"/>
                <a:ea typeface="Segoe UI"/>
                <a:cs typeface="Segoe UI"/>
              </a:defRPr>
            </a:defPPr>
          </a:lstStyle>
          <a:p>
            <a:pPr algn="r">
              <a:lnSpc>
                <a:spcPct val="108000"/>
              </a:lnSpc>
              <a:buNone/>
              <a:defRPr sz="1725" b="1">
                <a:solidFill>
                  <a:srgbClr val="172532"/>
                </a:solidFill>
                <a:latin typeface="Segoe UI"/>
                <a:ea typeface="Segoe UI"/>
                <a:cs typeface="Segoe UI"/>
              </a:defRPr>
            </a:pPr>
            <a:r>
              <a:rPr sz="1725" b="1">
                <a:solidFill>
                  <a:srgbClr val="172532"/>
                </a:solidFill>
                <a:latin typeface="Segoe UI"/>
                <a:ea typeface="Segoe UI"/>
                <a:cs typeface="Segoe UI"/>
              </a:rPr>
              <a:t>0.826</a:t>
            </a:r>
          </a:p>
        </p:txBody>
      </p:sp>
      <p:sp>
        <p:nvSpPr>
          <p:cNvPr id="15" name="Rectangle 14">
            <a:extLst>
              <a:ext uri="{FF2B5EF4-FFF2-40B4-BE49-F238E27FC236}">
                <a16:creationId xmlns:a16="http://schemas.microsoft.com/office/drawing/2014/main" id="{0B7878B6-5C9F-4C5E-9CC9-8A9BDAAE146F}"/>
              </a:ext>
            </a:extLst>
          </p:cNvPr>
          <p:cNvSpPr>
            <a:spLocks noGrp="1"/>
          </p:cNvSpPr>
          <p:nvPr/>
        </p:nvSpPr>
        <p:spPr>
          <a:xfrm>
            <a:off x="6705600" y="3686175"/>
            <a:ext cx="4552950" cy="552450"/>
          </a:xfrm>
          <a:prstGeom prst="rect">
            <a:avLst/>
          </a:prstGeom>
          <a:solidFill>
            <a:srgbClr val="FFFFFF"/>
          </a:solidFill>
          <a:ln w="9525">
            <a:solidFill>
              <a:srgbClr val="E8EAE7"/>
            </a:solidFill>
            <a:prstDash val="solid"/>
          </a:ln>
        </p:spPr>
      </p:sp>
      <p:sp>
        <p:nvSpPr>
          <p:cNvPr id="16" name="Rectangle 15">
            <a:extLst>
              <a:ext uri="{FF2B5EF4-FFF2-40B4-BE49-F238E27FC236}">
                <a16:creationId xmlns:a16="http://schemas.microsoft.com/office/drawing/2014/main" id="{73B1DC8E-317C-465F-A935-D64A5A4A312C}"/>
              </a:ext>
            </a:extLst>
          </p:cNvPr>
          <p:cNvSpPr>
            <a:spLocks noGrp="1"/>
          </p:cNvSpPr>
          <p:nvPr/>
        </p:nvSpPr>
        <p:spPr>
          <a:xfrm>
            <a:off x="6886575" y="3829050"/>
            <a:ext cx="2857500" cy="266700"/>
          </a:xfrm>
          <a:prstGeom prst="rect">
            <a:avLst/>
          </a:prstGeom>
          <a:noFill/>
          <a:ln w="0">
            <a:noFill/>
            <a:prstDash val="solid"/>
          </a:ln>
        </p:spPr>
        <p:txBody>
          <a:bodyPr wrap="square" lIns="0" tIns="0" rIns="0" bIns="0" anchor="t">
            <a:normAutofit/>
          </a:bodyPr>
          <a:lstStyle>
            <a:defPPr algn="l">
              <a:defRPr sz="1425" b="0">
                <a:solidFill>
                  <a:srgbClr val="172532"/>
                </a:solidFill>
                <a:latin typeface="Segoe UI"/>
                <a:ea typeface="Segoe UI"/>
                <a:cs typeface="Segoe UI"/>
              </a:defRPr>
            </a:defPPr>
          </a:lstStyle>
          <a:p>
            <a:pPr algn="l">
              <a:lnSpc>
                <a:spcPct val="108000"/>
              </a:lnSpc>
              <a:buNone/>
              <a:defRPr sz="1425" b="0">
                <a:solidFill>
                  <a:srgbClr val="172532"/>
                </a:solidFill>
                <a:latin typeface="Segoe UI"/>
                <a:ea typeface="Segoe UI"/>
                <a:cs typeface="Segoe UI"/>
              </a:defRPr>
            </a:pPr>
            <a:r>
              <a:rPr sz="1425" b="0">
                <a:solidFill>
                  <a:srgbClr val="172532"/>
                </a:solidFill>
                <a:latin typeface="Segoe UI"/>
                <a:ea typeface="Segoe UI"/>
                <a:cs typeface="Segoe UI"/>
              </a:rPr>
              <a:t>RFF + Pegasos</a:t>
            </a:r>
          </a:p>
        </p:txBody>
      </p:sp>
      <p:sp>
        <p:nvSpPr>
          <p:cNvPr id="17" name="Rectangle 16">
            <a:extLst>
              <a:ext uri="{FF2B5EF4-FFF2-40B4-BE49-F238E27FC236}">
                <a16:creationId xmlns:a16="http://schemas.microsoft.com/office/drawing/2014/main" id="{A299B765-7666-47C9-B9DF-5F190FB93B7E}"/>
              </a:ext>
            </a:extLst>
          </p:cNvPr>
          <p:cNvSpPr>
            <a:spLocks noGrp="1"/>
          </p:cNvSpPr>
          <p:nvPr/>
        </p:nvSpPr>
        <p:spPr>
          <a:xfrm>
            <a:off x="10001250" y="3810000"/>
            <a:ext cx="1000125" cy="285750"/>
          </a:xfrm>
          <a:prstGeom prst="rect">
            <a:avLst/>
          </a:prstGeom>
          <a:noFill/>
          <a:ln w="0">
            <a:noFill/>
            <a:prstDash val="solid"/>
          </a:ln>
        </p:spPr>
        <p:txBody>
          <a:bodyPr wrap="square" lIns="0" tIns="0" rIns="0" bIns="0" anchor="t">
            <a:normAutofit/>
          </a:bodyPr>
          <a:lstStyle>
            <a:defPPr algn="r">
              <a:defRPr sz="1725" b="1">
                <a:solidFill>
                  <a:srgbClr val="172532"/>
                </a:solidFill>
                <a:latin typeface="Segoe UI"/>
                <a:ea typeface="Segoe UI"/>
                <a:cs typeface="Segoe UI"/>
              </a:defRPr>
            </a:defPPr>
          </a:lstStyle>
          <a:p>
            <a:pPr algn="r">
              <a:lnSpc>
                <a:spcPct val="108000"/>
              </a:lnSpc>
              <a:buNone/>
              <a:defRPr sz="1725" b="1">
                <a:solidFill>
                  <a:srgbClr val="172532"/>
                </a:solidFill>
                <a:latin typeface="Segoe UI"/>
                <a:ea typeface="Segoe UI"/>
                <a:cs typeface="Segoe UI"/>
              </a:defRPr>
            </a:pPr>
            <a:r>
              <a:rPr sz="1725" b="1">
                <a:solidFill>
                  <a:srgbClr val="172532"/>
                </a:solidFill>
                <a:latin typeface="Segoe UI"/>
                <a:ea typeface="Segoe UI"/>
                <a:cs typeface="Segoe UI"/>
              </a:rPr>
              <a:t>0.810</a:t>
            </a:r>
          </a:p>
        </p:txBody>
      </p:sp>
      <p:sp>
        <p:nvSpPr>
          <p:cNvPr id="18" name="Rectangle: Rounded Corners 17">
            <a:extLst>
              <a:ext uri="{FF2B5EF4-FFF2-40B4-BE49-F238E27FC236}">
                <a16:creationId xmlns:a16="http://schemas.microsoft.com/office/drawing/2014/main" id="{687902D5-EE05-47EA-B782-18E0D9DA7DA9}"/>
              </a:ext>
            </a:extLst>
          </p:cNvPr>
          <p:cNvSpPr>
            <a:spLocks noGrp="1"/>
          </p:cNvSpPr>
          <p:nvPr/>
        </p:nvSpPr>
        <p:spPr>
          <a:xfrm>
            <a:off x="6553200" y="4610100"/>
            <a:ext cx="4714875" cy="876300"/>
          </a:xfrm>
          <a:prstGeom prst="roundRect">
            <a:avLst>
              <a:gd name="adj" fmla="val 8696"/>
            </a:avLst>
          </a:prstGeom>
          <a:solidFill>
            <a:srgbClr val="DCECE7"/>
          </a:solidFill>
          <a:ln w="0">
            <a:noFill/>
            <a:prstDash val="solid"/>
          </a:ln>
        </p:spPr>
      </p:sp>
      <p:sp>
        <p:nvSpPr>
          <p:cNvPr id="19" name="Rectangle 18">
            <a:extLst>
              <a:ext uri="{FF2B5EF4-FFF2-40B4-BE49-F238E27FC236}">
                <a16:creationId xmlns:a16="http://schemas.microsoft.com/office/drawing/2014/main" id="{AC12527D-FD89-46C4-89D3-F0ACFA022A68}"/>
              </a:ext>
            </a:extLst>
          </p:cNvPr>
          <p:cNvSpPr>
            <a:spLocks noGrp="1"/>
          </p:cNvSpPr>
          <p:nvPr/>
        </p:nvSpPr>
        <p:spPr>
          <a:xfrm>
            <a:off x="6762750" y="4752975"/>
            <a:ext cx="4324350" cy="638175"/>
          </a:xfrm>
          <a:prstGeom prst="rect">
            <a:avLst/>
          </a:prstGeom>
          <a:noFill/>
          <a:ln w="0">
            <a:noFill/>
            <a:prstDash val="solid"/>
          </a:ln>
        </p:spPr>
        <p:txBody>
          <a:bodyPr wrap="square" lIns="0" tIns="0" rIns="0" bIns="0" anchor="t">
            <a:normAutofit/>
          </a:bodyPr>
          <a:lstStyle>
            <a:defPPr algn="l">
              <a:defRPr sz="1425" b="0">
                <a:solidFill>
                  <a:srgbClr val="172532"/>
                </a:solidFill>
                <a:latin typeface="Segoe UI"/>
                <a:ea typeface="Segoe UI"/>
                <a:cs typeface="Segoe UI"/>
              </a:defRPr>
            </a:defPPr>
          </a:lstStyle>
          <a:p>
            <a:pPr algn="l">
              <a:lnSpc>
                <a:spcPct val="108000"/>
              </a:lnSpc>
              <a:buNone/>
              <a:defRPr sz="1425" b="0">
                <a:solidFill>
                  <a:srgbClr val="172532"/>
                </a:solidFill>
                <a:latin typeface="Segoe UI"/>
                <a:ea typeface="Segoe UI"/>
                <a:cs typeface="Segoe UI"/>
              </a:defRPr>
            </a:pPr>
            <a:r>
              <a:rPr sz="1425" b="0">
                <a:solidFill>
                  <a:srgbClr val="172532"/>
                </a:solidFill>
                <a:latin typeface="Segoe UI"/>
                <a:ea typeface="Segoe UI"/>
                <a:cs typeface="Segoe UI"/>
              </a:rPr>
              <a:t>RFF approximates a nonlinear feature map before the same linear SVM.</a:t>
            </a:r>
          </a:p>
        </p:txBody>
      </p:sp>
      <p:sp>
        <p:nvSpPr>
          <p:cNvPr id="20" name="Rectangle 19">
            <a:extLst>
              <a:ext uri="{FF2B5EF4-FFF2-40B4-BE49-F238E27FC236}">
                <a16:creationId xmlns:a16="http://schemas.microsoft.com/office/drawing/2014/main" id="{1B6C0B57-908B-41C6-9DDA-8AAA40D61C03}"/>
              </a:ext>
            </a:extLst>
          </p:cNvPr>
          <p:cNvSpPr>
            <a:spLocks noGrp="1"/>
          </p:cNvSpPr>
          <p:nvPr/>
        </p:nvSpPr>
        <p:spPr>
          <a:xfrm>
            <a:off x="609600" y="5572125"/>
            <a:ext cx="10620375" cy="409575"/>
          </a:xfrm>
          <a:prstGeom prst="rect">
            <a:avLst/>
          </a:prstGeom>
          <a:noFill/>
          <a:ln w="0">
            <a:noFill/>
            <a:prstDash val="solid"/>
          </a:ln>
        </p:spPr>
        <p:txBody>
          <a:bodyPr wrap="square" lIns="0" tIns="0" rIns="0" bIns="0" anchor="t">
            <a:normAutofit/>
          </a:bodyPr>
          <a:lstStyle>
            <a:defPPr algn="l">
              <a:defRPr sz="1650" b="1">
                <a:solidFill>
                  <a:srgbClr val="172532"/>
                </a:solidFill>
                <a:latin typeface="Segoe UI"/>
                <a:ea typeface="Segoe UI"/>
                <a:cs typeface="Segoe UI"/>
              </a:defRPr>
            </a:defPPr>
          </a:lstStyle>
          <a:p>
            <a:pPr algn="l">
              <a:lnSpc>
                <a:spcPct val="108000"/>
              </a:lnSpc>
              <a:buNone/>
              <a:defRPr sz="1650" b="1">
                <a:solidFill>
                  <a:srgbClr val="172532"/>
                </a:solidFill>
                <a:latin typeface="Segoe UI"/>
                <a:ea typeface="Segoe UI"/>
                <a:cs typeface="Segoe UI"/>
              </a:defRPr>
            </a:pPr>
            <a:r>
              <a:rPr sz="1650" b="1">
                <a:solidFill>
                  <a:srgbClr val="172532"/>
                </a:solidFill>
                <a:latin typeface="Segoe UI"/>
                <a:ea typeface="Segoe UI"/>
                <a:cs typeface="Segoe UI"/>
              </a:rPr>
              <a:t>The objective falls quickly, then stabilizes during training.</a:t>
            </a:r>
          </a:p>
        </p:txBody>
      </p:sp>
    </p:spTree>
    <p:extLst>
      <p:ext uri="{BB962C8B-B14F-4D97-AF65-F5344CB8AC3E}">
        <p14:creationId xmlns:p14="http://schemas.microsoft.com/office/powerpoint/2010/main" val="915842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3EE25FE0-28E2-4A93-B879-2CCC74488012}"/>
              </a:ext>
            </a:extLst>
          </p:cNvPr>
          <p:cNvSpPr>
            <a:spLocks noGrp="1"/>
          </p:cNvSpPr>
          <p:nvPr/>
        </p:nvSpPr>
        <p:spPr>
          <a:xfrm>
            <a:off x="609600" y="304800"/>
            <a:ext cx="7143750" cy="209550"/>
          </a:xfrm>
          <a:prstGeom prst="rect">
            <a:avLst/>
          </a:prstGeom>
          <a:noFill/>
          <a:ln w="0">
            <a:noFill/>
            <a:prstDash val="solid"/>
          </a:ln>
        </p:spPr>
        <p:txBody>
          <a:bodyPr wrap="square" lIns="0" tIns="0" rIns="0" bIns="0" anchor="t">
            <a:normAutofit/>
          </a:bodyPr>
          <a:lstStyle>
            <a:defPPr algn="l">
              <a:defRPr sz="1050" b="1">
                <a:solidFill>
                  <a:srgbClr val="087D76"/>
                </a:solidFill>
                <a:latin typeface="Segoe UI"/>
                <a:ea typeface="Segoe UI"/>
                <a:cs typeface="Segoe UI"/>
              </a:defRPr>
            </a:defPPr>
          </a:lstStyle>
          <a:p>
            <a:pPr algn="l">
              <a:lnSpc>
                <a:spcPct val="108000"/>
              </a:lnSpc>
              <a:buNone/>
              <a:defRPr sz="1050" b="1">
                <a:solidFill>
                  <a:srgbClr val="087D76"/>
                </a:solidFill>
                <a:latin typeface="Segoe UI"/>
                <a:ea typeface="Segoe UI"/>
                <a:cs typeface="Segoe UI"/>
              </a:defRPr>
            </a:pPr>
            <a:r>
              <a:rPr sz="1050" b="1">
                <a:solidFill>
                  <a:srgbClr val="087D76"/>
                </a:solidFill>
                <a:latin typeface="Segoe UI"/>
                <a:ea typeface="Segoe UI"/>
                <a:cs typeface="Segoe UI"/>
              </a:rPr>
              <a:t>RESULTS AND LIMITS</a:t>
            </a:r>
          </a:p>
        </p:txBody>
      </p:sp>
      <p:sp>
        <p:nvSpPr>
          <p:cNvPr id="2" name="Rectangle 1">
            <a:extLst>
              <a:ext uri="{FF2B5EF4-FFF2-40B4-BE49-F238E27FC236}">
                <a16:creationId xmlns:a16="http://schemas.microsoft.com/office/drawing/2014/main" id="{5766ABD0-EFBA-4BAD-AA07-F978651983CA}"/>
              </a:ext>
            </a:extLst>
          </p:cNvPr>
          <p:cNvSpPr>
            <a:spLocks noGrp="1"/>
          </p:cNvSpPr>
          <p:nvPr/>
        </p:nvSpPr>
        <p:spPr>
          <a:xfrm>
            <a:off x="609600" y="647700"/>
            <a:ext cx="10953750" cy="647700"/>
          </a:xfrm>
          <a:prstGeom prst="rect">
            <a:avLst/>
          </a:prstGeom>
          <a:noFill/>
          <a:ln w="0">
            <a:noFill/>
            <a:prstDash val="solid"/>
          </a:ln>
        </p:spPr>
        <p:txBody>
          <a:bodyPr wrap="square" lIns="0" tIns="0" rIns="0" bIns="0" anchor="t">
            <a:normAutofit/>
          </a:bodyPr>
          <a:lstStyle>
            <a:defPPr algn="l">
              <a:defRPr sz="3075" b="1">
                <a:solidFill>
                  <a:srgbClr val="172532"/>
                </a:solidFill>
                <a:latin typeface="Segoe UI"/>
                <a:ea typeface="Segoe UI"/>
                <a:cs typeface="Segoe UI"/>
              </a:defRPr>
            </a:defPPr>
          </a:lstStyle>
          <a:p>
            <a:pPr algn="l">
              <a:lnSpc>
                <a:spcPct val="108000"/>
              </a:lnSpc>
              <a:buNone/>
              <a:defRPr sz="3075" b="1">
                <a:solidFill>
                  <a:srgbClr val="172532"/>
                </a:solidFill>
                <a:latin typeface="Segoe UI"/>
                <a:ea typeface="Segoe UI"/>
                <a:cs typeface="Segoe UI"/>
              </a:defRPr>
            </a:pPr>
            <a:r>
              <a:rPr sz="3075" b="1">
                <a:solidFill>
                  <a:srgbClr val="172532"/>
                </a:solidFill>
                <a:latin typeface="Segoe UI"/>
                <a:ea typeface="Segoe UI"/>
                <a:cs typeface="Segoe UI"/>
              </a:rPr>
              <a:t>Classification is stronger than price regression</a:t>
            </a:r>
          </a:p>
        </p:txBody>
      </p:sp>
      <p:sp>
        <p:nvSpPr>
          <p:cNvPr id="3" name="Rectangle 2">
            <a:extLst>
              <a:ext uri="{FF2B5EF4-FFF2-40B4-BE49-F238E27FC236}">
                <a16:creationId xmlns:a16="http://schemas.microsoft.com/office/drawing/2014/main" id="{18CB9BB0-6CAB-4493-B7D4-7C92ACBF2AF7}"/>
              </a:ext>
            </a:extLst>
          </p:cNvPr>
          <p:cNvSpPr>
            <a:spLocks noGrp="1"/>
          </p:cNvSpPr>
          <p:nvPr/>
        </p:nvSpPr>
        <p:spPr>
          <a:xfrm>
            <a:off x="609600" y="1381125"/>
            <a:ext cx="10972800" cy="19050"/>
          </a:xfrm>
          <a:prstGeom prst="rect">
            <a:avLst/>
          </a:prstGeom>
          <a:solidFill>
            <a:srgbClr val="E8EAE7"/>
          </a:solidFill>
          <a:ln w="0">
            <a:noFill/>
            <a:prstDash val="solid"/>
          </a:ln>
        </p:spPr>
      </p:sp>
      <p:sp>
        <p:nvSpPr>
          <p:cNvPr id="4" name="Rectangle 3">
            <a:extLst>
              <a:ext uri="{FF2B5EF4-FFF2-40B4-BE49-F238E27FC236}">
                <a16:creationId xmlns:a16="http://schemas.microsoft.com/office/drawing/2014/main" id="{6DE269A5-503B-4E58-BD3B-7074DAB4E982}"/>
              </a:ext>
            </a:extLst>
          </p:cNvPr>
          <p:cNvSpPr>
            <a:spLocks noGrp="1"/>
          </p:cNvSpPr>
          <p:nvPr/>
        </p:nvSpPr>
        <p:spPr>
          <a:xfrm>
            <a:off x="609600" y="6448425"/>
            <a:ext cx="4762500" cy="171450"/>
          </a:xfrm>
          <a:prstGeom prst="rect">
            <a:avLst/>
          </a:prstGeom>
          <a:noFill/>
          <a:ln w="0">
            <a:noFill/>
            <a:prstDash val="solid"/>
          </a:ln>
        </p:spPr>
        <p:txBody>
          <a:bodyPr wrap="square" lIns="0" tIns="0" rIns="0" bIns="0" anchor="t">
            <a:normAutofit/>
          </a:bodyPr>
          <a:lstStyle>
            <a:defPPr algn="l">
              <a:defRPr sz="975" b="0">
                <a:solidFill>
                  <a:srgbClr val="53616A"/>
                </a:solidFill>
                <a:latin typeface="Segoe UI"/>
                <a:ea typeface="Segoe UI"/>
                <a:cs typeface="Segoe UI"/>
              </a:defRPr>
            </a:defPPr>
          </a:lstStyle>
          <a:p>
            <a:pPr algn="l">
              <a:lnSpc>
                <a:spcPct val="108000"/>
              </a:lnSpc>
              <a:buNone/>
              <a:defRPr sz="975" b="0">
                <a:solidFill>
                  <a:srgbClr val="53616A"/>
                </a:solidFill>
                <a:latin typeface="Segoe UI"/>
                <a:ea typeface="Segoe UI"/>
                <a:cs typeface="Segoe UI"/>
              </a:defRPr>
            </a:pPr>
            <a:r>
              <a:rPr sz="975" b="0">
                <a:solidFill>
                  <a:srgbClr val="53616A"/>
                </a:solidFill>
                <a:latin typeface="Segoe UI"/>
                <a:ea typeface="Segoe UI"/>
                <a:cs typeface="Segoe UI"/>
              </a:rPr>
              <a:t>AI Academy  /  MLE-AI-201</a:t>
            </a:r>
          </a:p>
        </p:txBody>
      </p:sp>
      <p:sp>
        <p:nvSpPr>
          <p:cNvPr id="5" name="Rectangle 4">
            <a:extLst>
              <a:ext uri="{FF2B5EF4-FFF2-40B4-BE49-F238E27FC236}">
                <a16:creationId xmlns:a16="http://schemas.microsoft.com/office/drawing/2014/main" id="{515538C5-D1B1-4288-A3A9-0535CDF9EA23}"/>
              </a:ext>
            </a:extLst>
          </p:cNvPr>
          <p:cNvSpPr>
            <a:spLocks noGrp="1"/>
          </p:cNvSpPr>
          <p:nvPr/>
        </p:nvSpPr>
        <p:spPr>
          <a:xfrm>
            <a:off x="11049000" y="6429375"/>
            <a:ext cx="571500" cy="209550"/>
          </a:xfrm>
          <a:prstGeom prst="rect">
            <a:avLst/>
          </a:prstGeom>
          <a:noFill/>
          <a:ln w="0">
            <a:noFill/>
            <a:prstDash val="solid"/>
          </a:ln>
        </p:spPr>
        <p:txBody>
          <a:bodyPr wrap="square" lIns="0" tIns="0" rIns="0" bIns="0" anchor="t">
            <a:normAutofit/>
          </a:bodyPr>
          <a:lstStyle>
            <a:defPPr algn="r">
              <a:defRPr sz="1050" b="1">
                <a:solidFill>
                  <a:srgbClr val="53616A"/>
                </a:solidFill>
                <a:latin typeface="Segoe UI"/>
                <a:ea typeface="Segoe UI"/>
                <a:cs typeface="Segoe UI"/>
              </a:defRPr>
            </a:defPPr>
          </a:lstStyle>
          <a:p>
            <a:pPr algn="r">
              <a:lnSpc>
                <a:spcPct val="108000"/>
              </a:lnSpc>
              <a:buNone/>
              <a:defRPr sz="1050" b="1">
                <a:solidFill>
                  <a:srgbClr val="53616A"/>
                </a:solidFill>
                <a:latin typeface="Segoe UI"/>
                <a:ea typeface="Segoe UI"/>
                <a:cs typeface="Segoe UI"/>
              </a:defRPr>
            </a:pPr>
            <a:r>
              <a:rPr sz="1050" b="1">
                <a:solidFill>
                  <a:srgbClr val="53616A"/>
                </a:solidFill>
                <a:latin typeface="Segoe UI"/>
                <a:ea typeface="Segoe UI"/>
                <a:cs typeface="Segoe UI"/>
              </a:rPr>
              <a:t>09</a:t>
            </a:r>
          </a:p>
        </p:txBody>
      </p:sp>
      <p:sp>
        <p:nvSpPr>
          <p:cNvPr id="6" name="Rectangle 5">
            <a:extLst>
              <a:ext uri="{FF2B5EF4-FFF2-40B4-BE49-F238E27FC236}">
                <a16:creationId xmlns:a16="http://schemas.microsoft.com/office/drawing/2014/main" id="{21B9D106-4C76-41C4-B8E1-0A3A8F74B72B}"/>
              </a:ext>
            </a:extLst>
          </p:cNvPr>
          <p:cNvSpPr>
            <a:spLocks noGrp="1"/>
          </p:cNvSpPr>
          <p:nvPr/>
        </p:nvSpPr>
        <p:spPr>
          <a:xfrm>
            <a:off x="609600" y="1724025"/>
            <a:ext cx="6858000" cy="314325"/>
          </a:xfrm>
          <a:prstGeom prst="rect">
            <a:avLst/>
          </a:prstGeom>
          <a:noFill/>
          <a:ln w="0">
            <a:noFill/>
            <a:prstDash val="solid"/>
          </a:ln>
        </p:spPr>
        <p:txBody>
          <a:bodyPr wrap="square" lIns="0" tIns="0" rIns="0" bIns="0" anchor="t">
            <a:normAutofit/>
          </a:bodyPr>
          <a:lstStyle>
            <a:defPPr algn="l">
              <a:defRPr sz="1650" b="0">
                <a:solidFill>
                  <a:srgbClr val="53616A"/>
                </a:solidFill>
                <a:latin typeface="Segoe UI"/>
                <a:ea typeface="Segoe UI"/>
                <a:cs typeface="Segoe UI"/>
              </a:defRPr>
            </a:defPPr>
          </a:lstStyle>
          <a:p>
            <a:pPr algn="l">
              <a:lnSpc>
                <a:spcPct val="108000"/>
              </a:lnSpc>
              <a:buNone/>
              <a:defRPr sz="1650" b="0">
                <a:solidFill>
                  <a:srgbClr val="53616A"/>
                </a:solidFill>
                <a:latin typeface="Segoe UI"/>
                <a:ea typeface="Segoe UI"/>
                <a:cs typeface="Segoe UI"/>
              </a:defRPr>
            </a:pPr>
            <a:r>
              <a:rPr sz="1650" b="0">
                <a:solidFill>
                  <a:srgbClr val="53616A"/>
                </a:solidFill>
                <a:latin typeface="Segoe UI"/>
                <a:ea typeface="Segoe UI"/>
                <a:cs typeface="Segoe UI"/>
              </a:rPr>
              <a:t>Held-out test set  /  9,619 listings</a:t>
            </a:r>
          </a:p>
        </p:txBody>
      </p:sp>
      <p:sp>
        <p:nvSpPr>
          <p:cNvPr id="7" name="Rectangle 6">
            <a:extLst>
              <a:ext uri="{FF2B5EF4-FFF2-40B4-BE49-F238E27FC236}">
                <a16:creationId xmlns:a16="http://schemas.microsoft.com/office/drawing/2014/main" id="{9FC902E4-53D1-4AD4-8EDC-0CDA3BB4F6F4}"/>
              </a:ext>
            </a:extLst>
          </p:cNvPr>
          <p:cNvSpPr>
            <a:spLocks noGrp="1"/>
          </p:cNvSpPr>
          <p:nvPr/>
        </p:nvSpPr>
        <p:spPr>
          <a:xfrm>
            <a:off x="609600" y="2257425"/>
            <a:ext cx="10953750" cy="504825"/>
          </a:xfrm>
          <a:prstGeom prst="rect">
            <a:avLst/>
          </a:prstGeom>
          <a:solidFill>
            <a:srgbClr val="142539"/>
          </a:solidFill>
          <a:ln w="0">
            <a:noFill/>
            <a:prstDash val="solid"/>
          </a:ln>
        </p:spPr>
      </p:sp>
      <p:sp>
        <p:nvSpPr>
          <p:cNvPr id="8" name="Rectangle 7">
            <a:extLst>
              <a:ext uri="{FF2B5EF4-FFF2-40B4-BE49-F238E27FC236}">
                <a16:creationId xmlns:a16="http://schemas.microsoft.com/office/drawing/2014/main" id="{EBE5D1EF-B1A7-479A-94DA-600141C9BEA8}"/>
              </a:ext>
            </a:extLst>
          </p:cNvPr>
          <p:cNvSpPr>
            <a:spLocks noGrp="1"/>
          </p:cNvSpPr>
          <p:nvPr/>
        </p:nvSpPr>
        <p:spPr>
          <a:xfrm>
            <a:off x="723900" y="2390775"/>
            <a:ext cx="4286250" cy="276225"/>
          </a:xfrm>
          <a:prstGeom prst="rect">
            <a:avLst/>
          </a:prstGeom>
          <a:noFill/>
          <a:ln w="0">
            <a:noFill/>
            <a:prstDash val="solid"/>
          </a:ln>
        </p:spPr>
        <p:txBody>
          <a:bodyPr wrap="square" lIns="0" tIns="0" rIns="0" bIns="0" anchor="t">
            <a:normAutofit/>
          </a:bodyPr>
          <a:lstStyle>
            <a:defPPr algn="l">
              <a:defRPr sz="1500" b="1">
                <a:solidFill>
                  <a:srgbClr val="FFFFFF"/>
                </a:solidFill>
                <a:latin typeface="Segoe UI"/>
                <a:ea typeface="Segoe UI"/>
                <a:cs typeface="Segoe UI"/>
              </a:defRPr>
            </a:defPPr>
          </a:lstStyle>
          <a:p>
            <a:pPr algn="l">
              <a:lnSpc>
                <a:spcPct val="108000"/>
              </a:lnSpc>
              <a:buNone/>
              <a:defRPr sz="1500" b="1">
                <a:solidFill>
                  <a:srgbClr val="FFFFFF"/>
                </a:solidFill>
                <a:latin typeface="Segoe UI"/>
                <a:ea typeface="Segoe UI"/>
                <a:cs typeface="Segoe UI"/>
              </a:defRPr>
            </a:pPr>
            <a:r>
              <a:rPr sz="1500" b="1">
                <a:solidFill>
                  <a:srgbClr val="FFFFFF"/>
                </a:solidFill>
                <a:latin typeface="Segoe UI"/>
                <a:ea typeface="Segoe UI"/>
                <a:cs typeface="Segoe UI"/>
              </a:rPr>
              <a:t>Model</a:t>
            </a:r>
          </a:p>
        </p:txBody>
      </p:sp>
      <p:sp>
        <p:nvSpPr>
          <p:cNvPr id="9" name="Rectangle 8">
            <a:extLst>
              <a:ext uri="{FF2B5EF4-FFF2-40B4-BE49-F238E27FC236}">
                <a16:creationId xmlns:a16="http://schemas.microsoft.com/office/drawing/2014/main" id="{AEEA6F3E-5142-4ADF-82B3-EDB8DD644E99}"/>
              </a:ext>
            </a:extLst>
          </p:cNvPr>
          <p:cNvSpPr>
            <a:spLocks noGrp="1"/>
          </p:cNvSpPr>
          <p:nvPr/>
        </p:nvSpPr>
        <p:spPr>
          <a:xfrm>
            <a:off x="5353050" y="2390775"/>
            <a:ext cx="1866900" cy="276225"/>
          </a:xfrm>
          <a:prstGeom prst="rect">
            <a:avLst/>
          </a:prstGeom>
          <a:noFill/>
          <a:ln w="0">
            <a:noFill/>
            <a:prstDash val="solid"/>
          </a:ln>
        </p:spPr>
        <p:txBody>
          <a:bodyPr wrap="square" lIns="0" tIns="0" rIns="0" bIns="0" anchor="t">
            <a:normAutofit/>
          </a:bodyPr>
          <a:lstStyle>
            <a:defPPr algn="l">
              <a:defRPr sz="1500" b="1">
                <a:solidFill>
                  <a:srgbClr val="FFFFFF"/>
                </a:solidFill>
                <a:latin typeface="Segoe UI"/>
                <a:ea typeface="Segoe UI"/>
                <a:cs typeface="Segoe UI"/>
              </a:defRPr>
            </a:defPPr>
          </a:lstStyle>
          <a:p>
            <a:pPr algn="l">
              <a:lnSpc>
                <a:spcPct val="108000"/>
              </a:lnSpc>
              <a:buNone/>
              <a:defRPr sz="1500" b="1">
                <a:solidFill>
                  <a:srgbClr val="FFFFFF"/>
                </a:solidFill>
                <a:latin typeface="Segoe UI"/>
                <a:ea typeface="Segoe UI"/>
                <a:cs typeface="Segoe UI"/>
              </a:defRPr>
            </a:pPr>
            <a:r>
              <a:rPr sz="1500" b="1">
                <a:solidFill>
                  <a:srgbClr val="FFFFFF"/>
                </a:solidFill>
                <a:latin typeface="Segoe UI"/>
                <a:ea typeface="Segoe UI"/>
                <a:cs typeface="Segoe UI"/>
              </a:rPr>
              <a:t>F1</a:t>
            </a:r>
          </a:p>
        </p:txBody>
      </p:sp>
      <p:sp>
        <p:nvSpPr>
          <p:cNvPr id="10" name="Rectangle 9">
            <a:extLst>
              <a:ext uri="{FF2B5EF4-FFF2-40B4-BE49-F238E27FC236}">
                <a16:creationId xmlns:a16="http://schemas.microsoft.com/office/drawing/2014/main" id="{696E9CB9-ACAE-459D-96DE-AF48A7CA41D0}"/>
              </a:ext>
            </a:extLst>
          </p:cNvPr>
          <p:cNvSpPr>
            <a:spLocks noGrp="1"/>
          </p:cNvSpPr>
          <p:nvPr/>
        </p:nvSpPr>
        <p:spPr>
          <a:xfrm>
            <a:off x="7600950" y="2390775"/>
            <a:ext cx="1666875" cy="276225"/>
          </a:xfrm>
          <a:prstGeom prst="rect">
            <a:avLst/>
          </a:prstGeom>
          <a:noFill/>
          <a:ln w="0">
            <a:noFill/>
            <a:prstDash val="solid"/>
          </a:ln>
        </p:spPr>
        <p:txBody>
          <a:bodyPr wrap="square" lIns="0" tIns="0" rIns="0" bIns="0" anchor="t">
            <a:normAutofit/>
          </a:bodyPr>
          <a:lstStyle>
            <a:defPPr algn="l">
              <a:defRPr sz="1500" b="1">
                <a:solidFill>
                  <a:srgbClr val="FFFFFF"/>
                </a:solidFill>
                <a:latin typeface="Segoe UI"/>
                <a:ea typeface="Segoe UI"/>
                <a:cs typeface="Segoe UI"/>
              </a:defRPr>
            </a:defPPr>
          </a:lstStyle>
          <a:p>
            <a:pPr algn="l">
              <a:lnSpc>
                <a:spcPct val="108000"/>
              </a:lnSpc>
              <a:buNone/>
              <a:defRPr sz="1500" b="1">
                <a:solidFill>
                  <a:srgbClr val="FFFFFF"/>
                </a:solidFill>
                <a:latin typeface="Segoe UI"/>
                <a:ea typeface="Segoe UI"/>
                <a:cs typeface="Segoe UI"/>
              </a:defRPr>
            </a:pPr>
            <a:r>
              <a:rPr sz="1500" b="1">
                <a:solidFill>
                  <a:srgbClr val="FFFFFF"/>
                </a:solidFill>
                <a:latin typeface="Segoe UI"/>
                <a:ea typeface="Segoe UI"/>
                <a:cs typeface="Segoe UI"/>
              </a:rPr>
              <a:t>ROC-AUC</a:t>
            </a:r>
          </a:p>
        </p:txBody>
      </p:sp>
      <p:sp>
        <p:nvSpPr>
          <p:cNvPr id="11" name="Rectangle 10">
            <a:extLst>
              <a:ext uri="{FF2B5EF4-FFF2-40B4-BE49-F238E27FC236}">
                <a16:creationId xmlns:a16="http://schemas.microsoft.com/office/drawing/2014/main" id="{719CCE79-A7CF-4C88-943E-8C6AF1FE57D4}"/>
              </a:ext>
            </a:extLst>
          </p:cNvPr>
          <p:cNvSpPr>
            <a:spLocks noGrp="1"/>
          </p:cNvSpPr>
          <p:nvPr/>
        </p:nvSpPr>
        <p:spPr>
          <a:xfrm>
            <a:off x="9639300" y="2390775"/>
            <a:ext cx="1809750" cy="276225"/>
          </a:xfrm>
          <a:prstGeom prst="rect">
            <a:avLst/>
          </a:prstGeom>
          <a:noFill/>
          <a:ln w="0">
            <a:noFill/>
            <a:prstDash val="solid"/>
          </a:ln>
        </p:spPr>
        <p:txBody>
          <a:bodyPr wrap="square" lIns="0" tIns="0" rIns="0" bIns="0" anchor="t">
            <a:normAutofit/>
          </a:bodyPr>
          <a:lstStyle>
            <a:defPPr algn="l">
              <a:defRPr sz="1500" b="1">
                <a:solidFill>
                  <a:srgbClr val="FFFFFF"/>
                </a:solidFill>
                <a:latin typeface="Segoe UI"/>
                <a:ea typeface="Segoe UI"/>
                <a:cs typeface="Segoe UI"/>
              </a:defRPr>
            </a:defPPr>
          </a:lstStyle>
          <a:p>
            <a:pPr algn="l">
              <a:lnSpc>
                <a:spcPct val="108000"/>
              </a:lnSpc>
              <a:buNone/>
              <a:defRPr sz="1500" b="1">
                <a:solidFill>
                  <a:srgbClr val="FFFFFF"/>
                </a:solidFill>
                <a:latin typeface="Segoe UI"/>
                <a:ea typeface="Segoe UI"/>
                <a:cs typeface="Segoe UI"/>
              </a:defRPr>
            </a:pPr>
            <a:r>
              <a:rPr sz="1500" b="1">
                <a:solidFill>
                  <a:srgbClr val="FFFFFF"/>
                </a:solidFill>
                <a:latin typeface="Segoe UI"/>
                <a:ea typeface="Segoe UI"/>
                <a:cs typeface="Segoe UI"/>
              </a:rPr>
              <a:t>Comment</a:t>
            </a:r>
          </a:p>
        </p:txBody>
      </p:sp>
      <p:sp>
        <p:nvSpPr>
          <p:cNvPr id="12" name="Rectangle 11">
            <a:extLst>
              <a:ext uri="{FF2B5EF4-FFF2-40B4-BE49-F238E27FC236}">
                <a16:creationId xmlns:a16="http://schemas.microsoft.com/office/drawing/2014/main" id="{27F012C3-0ACD-4AF7-9960-6A9538CBB1D1}"/>
              </a:ext>
            </a:extLst>
          </p:cNvPr>
          <p:cNvSpPr>
            <a:spLocks noGrp="1"/>
          </p:cNvSpPr>
          <p:nvPr/>
        </p:nvSpPr>
        <p:spPr>
          <a:xfrm>
            <a:off x="609600" y="2771775"/>
            <a:ext cx="10953750" cy="590550"/>
          </a:xfrm>
          <a:prstGeom prst="rect">
            <a:avLst/>
          </a:prstGeom>
          <a:solidFill>
            <a:srgbClr val="FFFFFF"/>
          </a:solidFill>
          <a:ln w="4763">
            <a:solidFill>
              <a:srgbClr val="E8EAE7"/>
            </a:solidFill>
            <a:prstDash val="solid"/>
          </a:ln>
        </p:spPr>
      </p:sp>
      <p:sp>
        <p:nvSpPr>
          <p:cNvPr id="13" name="Rectangle 12">
            <a:extLst>
              <a:ext uri="{FF2B5EF4-FFF2-40B4-BE49-F238E27FC236}">
                <a16:creationId xmlns:a16="http://schemas.microsoft.com/office/drawing/2014/main" id="{FF8B7631-E6B8-464E-A431-996D302D2AEE}"/>
              </a:ext>
            </a:extLst>
          </p:cNvPr>
          <p:cNvSpPr>
            <a:spLocks noGrp="1"/>
          </p:cNvSpPr>
          <p:nvPr/>
        </p:nvSpPr>
        <p:spPr>
          <a:xfrm>
            <a:off x="723900" y="2933700"/>
            <a:ext cx="4286250" cy="304800"/>
          </a:xfrm>
          <a:prstGeom prst="rect">
            <a:avLst/>
          </a:prstGeom>
          <a:noFill/>
          <a:ln w="0">
            <a:noFill/>
            <a:prstDash val="solid"/>
          </a:ln>
        </p:spPr>
        <p:txBody>
          <a:bodyPr wrap="square" lIns="0" tIns="0" rIns="0" bIns="0" anchor="t">
            <a:normAutofit/>
          </a:bodyPr>
          <a:lstStyle>
            <a:defPPr algn="l">
              <a:defRPr sz="1500" b="1">
                <a:solidFill>
                  <a:srgbClr val="172532"/>
                </a:solidFill>
                <a:latin typeface="Segoe UI"/>
                <a:ea typeface="Segoe UI"/>
                <a:cs typeface="Segoe UI"/>
              </a:defRPr>
            </a:defPPr>
          </a:lstStyle>
          <a:p>
            <a:pPr algn="l">
              <a:lnSpc>
                <a:spcPct val="108000"/>
              </a:lnSpc>
              <a:buNone/>
              <a:defRPr sz="1500" b="1">
                <a:solidFill>
                  <a:srgbClr val="172532"/>
                </a:solidFill>
                <a:latin typeface="Segoe UI"/>
                <a:ea typeface="Segoe UI"/>
                <a:cs typeface="Segoe UI"/>
              </a:defRPr>
            </a:pPr>
            <a:r>
              <a:rPr sz="1500" b="1">
                <a:solidFill>
                  <a:srgbClr val="172532"/>
                </a:solidFill>
                <a:latin typeface="Segoe UI"/>
                <a:ea typeface="Segoe UI"/>
                <a:cs typeface="Segoe UI"/>
              </a:rPr>
              <a:t>Our Tree</a:t>
            </a:r>
          </a:p>
        </p:txBody>
      </p:sp>
      <p:sp>
        <p:nvSpPr>
          <p:cNvPr id="14" name="Rectangle 13">
            <a:extLst>
              <a:ext uri="{FF2B5EF4-FFF2-40B4-BE49-F238E27FC236}">
                <a16:creationId xmlns:a16="http://schemas.microsoft.com/office/drawing/2014/main" id="{E4A39850-1C6F-46B3-9844-06E495473C8B}"/>
              </a:ext>
            </a:extLst>
          </p:cNvPr>
          <p:cNvSpPr>
            <a:spLocks noGrp="1"/>
          </p:cNvSpPr>
          <p:nvPr/>
        </p:nvSpPr>
        <p:spPr>
          <a:xfrm>
            <a:off x="5353050" y="2933700"/>
            <a:ext cx="1866900"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0.910</a:t>
            </a:r>
          </a:p>
        </p:txBody>
      </p:sp>
      <p:sp>
        <p:nvSpPr>
          <p:cNvPr id="15" name="Rectangle 14">
            <a:extLst>
              <a:ext uri="{FF2B5EF4-FFF2-40B4-BE49-F238E27FC236}">
                <a16:creationId xmlns:a16="http://schemas.microsoft.com/office/drawing/2014/main" id="{E4AAB5F3-37EB-4792-84D3-8E47E7728134}"/>
              </a:ext>
            </a:extLst>
          </p:cNvPr>
          <p:cNvSpPr>
            <a:spLocks noGrp="1"/>
          </p:cNvSpPr>
          <p:nvPr/>
        </p:nvSpPr>
        <p:spPr>
          <a:xfrm>
            <a:off x="7600950" y="2933700"/>
            <a:ext cx="1666875"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0.963</a:t>
            </a:r>
          </a:p>
        </p:txBody>
      </p:sp>
      <p:sp>
        <p:nvSpPr>
          <p:cNvPr id="16" name="Rectangle 15">
            <a:extLst>
              <a:ext uri="{FF2B5EF4-FFF2-40B4-BE49-F238E27FC236}">
                <a16:creationId xmlns:a16="http://schemas.microsoft.com/office/drawing/2014/main" id="{E5B7A63F-40BC-48E2-A2C4-1C0DE5DEB53D}"/>
              </a:ext>
            </a:extLst>
          </p:cNvPr>
          <p:cNvSpPr>
            <a:spLocks noGrp="1"/>
          </p:cNvSpPr>
          <p:nvPr/>
        </p:nvSpPr>
        <p:spPr>
          <a:xfrm>
            <a:off x="9639300" y="2933700"/>
            <a:ext cx="1809750"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best F1</a:t>
            </a:r>
          </a:p>
        </p:txBody>
      </p:sp>
      <p:sp>
        <p:nvSpPr>
          <p:cNvPr id="17" name="Rectangle 16">
            <a:extLst>
              <a:ext uri="{FF2B5EF4-FFF2-40B4-BE49-F238E27FC236}">
                <a16:creationId xmlns:a16="http://schemas.microsoft.com/office/drawing/2014/main" id="{29CE45AC-A658-42AA-9264-2E6696A8B47F}"/>
              </a:ext>
            </a:extLst>
          </p:cNvPr>
          <p:cNvSpPr>
            <a:spLocks noGrp="1"/>
          </p:cNvSpPr>
          <p:nvPr/>
        </p:nvSpPr>
        <p:spPr>
          <a:xfrm>
            <a:off x="609600" y="3371850"/>
            <a:ext cx="10953750" cy="590550"/>
          </a:xfrm>
          <a:prstGeom prst="rect">
            <a:avLst/>
          </a:prstGeom>
          <a:solidFill>
            <a:srgbClr val="F7F5F0"/>
          </a:solidFill>
          <a:ln w="4763">
            <a:solidFill>
              <a:srgbClr val="E8EAE7"/>
            </a:solidFill>
            <a:prstDash val="solid"/>
          </a:ln>
        </p:spPr>
      </p:sp>
      <p:sp>
        <p:nvSpPr>
          <p:cNvPr id="18" name="Rectangle 17">
            <a:extLst>
              <a:ext uri="{FF2B5EF4-FFF2-40B4-BE49-F238E27FC236}">
                <a16:creationId xmlns:a16="http://schemas.microsoft.com/office/drawing/2014/main" id="{9293F95D-D61C-46F0-B786-DA7A8A89957B}"/>
              </a:ext>
            </a:extLst>
          </p:cNvPr>
          <p:cNvSpPr>
            <a:spLocks noGrp="1"/>
          </p:cNvSpPr>
          <p:nvPr/>
        </p:nvSpPr>
        <p:spPr>
          <a:xfrm>
            <a:off x="723900" y="3533775"/>
            <a:ext cx="4286250" cy="304800"/>
          </a:xfrm>
          <a:prstGeom prst="rect">
            <a:avLst/>
          </a:prstGeom>
          <a:noFill/>
          <a:ln w="0">
            <a:noFill/>
            <a:prstDash val="solid"/>
          </a:ln>
        </p:spPr>
        <p:txBody>
          <a:bodyPr wrap="square" lIns="0" tIns="0" rIns="0" bIns="0" anchor="t">
            <a:normAutofit/>
          </a:bodyPr>
          <a:lstStyle>
            <a:defPPr algn="l">
              <a:defRPr sz="1500" b="1">
                <a:solidFill>
                  <a:srgbClr val="172532"/>
                </a:solidFill>
                <a:latin typeface="Segoe UI"/>
                <a:ea typeface="Segoe UI"/>
                <a:cs typeface="Segoe UI"/>
              </a:defRPr>
            </a:defPPr>
          </a:lstStyle>
          <a:p>
            <a:pPr algn="l">
              <a:lnSpc>
                <a:spcPct val="108000"/>
              </a:lnSpc>
              <a:buNone/>
              <a:defRPr sz="1500" b="1">
                <a:solidFill>
                  <a:srgbClr val="172532"/>
                </a:solidFill>
                <a:latin typeface="Segoe UI"/>
                <a:ea typeface="Segoe UI"/>
                <a:cs typeface="Segoe UI"/>
              </a:defRPr>
            </a:pPr>
            <a:r>
              <a:rPr sz="1500" b="1">
                <a:solidFill>
                  <a:srgbClr val="172532"/>
                </a:solidFill>
                <a:latin typeface="Segoe UI"/>
                <a:ea typeface="Segoe UI"/>
                <a:cs typeface="Segoe UI"/>
              </a:rPr>
              <a:t>sklearn Tree</a:t>
            </a:r>
          </a:p>
        </p:txBody>
      </p:sp>
      <p:sp>
        <p:nvSpPr>
          <p:cNvPr id="19" name="Rectangle 18">
            <a:extLst>
              <a:ext uri="{FF2B5EF4-FFF2-40B4-BE49-F238E27FC236}">
                <a16:creationId xmlns:a16="http://schemas.microsoft.com/office/drawing/2014/main" id="{D7DAFC8C-DBD8-4565-99A8-475ECC6F6BAA}"/>
              </a:ext>
            </a:extLst>
          </p:cNvPr>
          <p:cNvSpPr>
            <a:spLocks noGrp="1"/>
          </p:cNvSpPr>
          <p:nvPr/>
        </p:nvSpPr>
        <p:spPr>
          <a:xfrm>
            <a:off x="5353050" y="3533775"/>
            <a:ext cx="1866900"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0.910</a:t>
            </a:r>
          </a:p>
        </p:txBody>
      </p:sp>
      <p:sp>
        <p:nvSpPr>
          <p:cNvPr id="20" name="Rectangle 19">
            <a:extLst>
              <a:ext uri="{FF2B5EF4-FFF2-40B4-BE49-F238E27FC236}">
                <a16:creationId xmlns:a16="http://schemas.microsoft.com/office/drawing/2014/main" id="{E9FF13E7-00C1-437A-BAE0-5990934EC7B9}"/>
              </a:ext>
            </a:extLst>
          </p:cNvPr>
          <p:cNvSpPr>
            <a:spLocks noGrp="1"/>
          </p:cNvSpPr>
          <p:nvPr/>
        </p:nvSpPr>
        <p:spPr>
          <a:xfrm>
            <a:off x="7600950" y="3533775"/>
            <a:ext cx="1666875"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0.963</a:t>
            </a:r>
          </a:p>
        </p:txBody>
      </p:sp>
      <p:sp>
        <p:nvSpPr>
          <p:cNvPr id="21" name="Rectangle 20">
            <a:extLst>
              <a:ext uri="{FF2B5EF4-FFF2-40B4-BE49-F238E27FC236}">
                <a16:creationId xmlns:a16="http://schemas.microsoft.com/office/drawing/2014/main" id="{7E438EB5-A691-4EBD-8EB7-4BB08F05E40D}"/>
              </a:ext>
            </a:extLst>
          </p:cNvPr>
          <p:cNvSpPr>
            <a:spLocks noGrp="1"/>
          </p:cNvSpPr>
          <p:nvPr/>
        </p:nvSpPr>
        <p:spPr>
          <a:xfrm>
            <a:off x="9639300" y="3533775"/>
            <a:ext cx="1809750"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reference</a:t>
            </a:r>
          </a:p>
        </p:txBody>
      </p:sp>
      <p:sp>
        <p:nvSpPr>
          <p:cNvPr id="22" name="Rectangle 21">
            <a:extLst>
              <a:ext uri="{FF2B5EF4-FFF2-40B4-BE49-F238E27FC236}">
                <a16:creationId xmlns:a16="http://schemas.microsoft.com/office/drawing/2014/main" id="{D6A23F6F-35EF-4148-A885-36B16868F768}"/>
              </a:ext>
            </a:extLst>
          </p:cNvPr>
          <p:cNvSpPr>
            <a:spLocks noGrp="1"/>
          </p:cNvSpPr>
          <p:nvPr/>
        </p:nvSpPr>
        <p:spPr>
          <a:xfrm>
            <a:off x="609600" y="3971925"/>
            <a:ext cx="10953750" cy="590550"/>
          </a:xfrm>
          <a:prstGeom prst="rect">
            <a:avLst/>
          </a:prstGeom>
          <a:solidFill>
            <a:srgbClr val="FFFFFF"/>
          </a:solidFill>
          <a:ln w="4763">
            <a:solidFill>
              <a:srgbClr val="E8EAE7"/>
            </a:solidFill>
            <a:prstDash val="solid"/>
          </a:ln>
        </p:spPr>
      </p:sp>
      <p:sp>
        <p:nvSpPr>
          <p:cNvPr id="23" name="Rectangle 22">
            <a:extLst>
              <a:ext uri="{FF2B5EF4-FFF2-40B4-BE49-F238E27FC236}">
                <a16:creationId xmlns:a16="http://schemas.microsoft.com/office/drawing/2014/main" id="{2D38A1A8-0F22-4711-B646-F0DFC904DE30}"/>
              </a:ext>
            </a:extLst>
          </p:cNvPr>
          <p:cNvSpPr>
            <a:spLocks noGrp="1"/>
          </p:cNvSpPr>
          <p:nvPr/>
        </p:nvSpPr>
        <p:spPr>
          <a:xfrm>
            <a:off x="723900" y="4133850"/>
            <a:ext cx="4286250" cy="304800"/>
          </a:xfrm>
          <a:prstGeom prst="rect">
            <a:avLst/>
          </a:prstGeom>
          <a:noFill/>
          <a:ln w="0">
            <a:noFill/>
            <a:prstDash val="solid"/>
          </a:ln>
        </p:spPr>
        <p:txBody>
          <a:bodyPr wrap="square" lIns="0" tIns="0" rIns="0" bIns="0" anchor="t">
            <a:normAutofit/>
          </a:bodyPr>
          <a:lstStyle>
            <a:defPPr algn="l">
              <a:defRPr sz="1500" b="1">
                <a:solidFill>
                  <a:srgbClr val="172532"/>
                </a:solidFill>
                <a:latin typeface="Segoe UI"/>
                <a:ea typeface="Segoe UI"/>
                <a:cs typeface="Segoe UI"/>
              </a:defRPr>
            </a:defPPr>
          </a:lstStyle>
          <a:p>
            <a:pPr algn="l">
              <a:lnSpc>
                <a:spcPct val="108000"/>
              </a:lnSpc>
              <a:buNone/>
              <a:defRPr sz="1500" b="1">
                <a:solidFill>
                  <a:srgbClr val="172532"/>
                </a:solidFill>
                <a:latin typeface="Segoe UI"/>
                <a:ea typeface="Segoe UI"/>
                <a:cs typeface="Segoe UI"/>
              </a:defRPr>
            </a:pPr>
            <a:r>
              <a:rPr sz="1500" b="1">
                <a:solidFill>
                  <a:srgbClr val="172532"/>
                </a:solidFill>
                <a:latin typeface="Segoe UI"/>
                <a:ea typeface="Segoe UI"/>
                <a:cs typeface="Segoe UI"/>
              </a:rPr>
              <a:t>Our Linear Pegasos</a:t>
            </a:r>
          </a:p>
        </p:txBody>
      </p:sp>
      <p:sp>
        <p:nvSpPr>
          <p:cNvPr id="24" name="Rectangle 23">
            <a:extLst>
              <a:ext uri="{FF2B5EF4-FFF2-40B4-BE49-F238E27FC236}">
                <a16:creationId xmlns:a16="http://schemas.microsoft.com/office/drawing/2014/main" id="{567982DE-775A-487D-819E-A3A70B162500}"/>
              </a:ext>
            </a:extLst>
          </p:cNvPr>
          <p:cNvSpPr>
            <a:spLocks noGrp="1"/>
          </p:cNvSpPr>
          <p:nvPr/>
        </p:nvSpPr>
        <p:spPr>
          <a:xfrm>
            <a:off x="5353050" y="4133850"/>
            <a:ext cx="1866900"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0.823</a:t>
            </a:r>
          </a:p>
        </p:txBody>
      </p:sp>
      <p:sp>
        <p:nvSpPr>
          <p:cNvPr id="25" name="Rectangle 24">
            <a:extLst>
              <a:ext uri="{FF2B5EF4-FFF2-40B4-BE49-F238E27FC236}">
                <a16:creationId xmlns:a16="http://schemas.microsoft.com/office/drawing/2014/main" id="{894894C3-E340-45F3-BFB1-6AC9CFAF4A78}"/>
              </a:ext>
            </a:extLst>
          </p:cNvPr>
          <p:cNvSpPr>
            <a:spLocks noGrp="1"/>
          </p:cNvSpPr>
          <p:nvPr/>
        </p:nvSpPr>
        <p:spPr>
          <a:xfrm>
            <a:off x="7600950" y="4133850"/>
            <a:ext cx="1666875"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0.908</a:t>
            </a:r>
          </a:p>
        </p:txBody>
      </p:sp>
      <p:sp>
        <p:nvSpPr>
          <p:cNvPr id="26" name="Rectangle 25">
            <a:extLst>
              <a:ext uri="{FF2B5EF4-FFF2-40B4-BE49-F238E27FC236}">
                <a16:creationId xmlns:a16="http://schemas.microsoft.com/office/drawing/2014/main" id="{F7026161-A1FF-4242-B0EE-E7BA413B3A6C}"/>
              </a:ext>
            </a:extLst>
          </p:cNvPr>
          <p:cNvSpPr>
            <a:spLocks noGrp="1"/>
          </p:cNvSpPr>
          <p:nvPr/>
        </p:nvSpPr>
        <p:spPr>
          <a:xfrm>
            <a:off x="9639300" y="4133850"/>
            <a:ext cx="1809750"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close to SGD</a:t>
            </a:r>
          </a:p>
        </p:txBody>
      </p:sp>
      <p:sp>
        <p:nvSpPr>
          <p:cNvPr id="27" name="Rectangle 26">
            <a:extLst>
              <a:ext uri="{FF2B5EF4-FFF2-40B4-BE49-F238E27FC236}">
                <a16:creationId xmlns:a16="http://schemas.microsoft.com/office/drawing/2014/main" id="{2F011F1D-D6E5-4D2D-AA0A-29F22E558488}"/>
              </a:ext>
            </a:extLst>
          </p:cNvPr>
          <p:cNvSpPr>
            <a:spLocks noGrp="1"/>
          </p:cNvSpPr>
          <p:nvPr/>
        </p:nvSpPr>
        <p:spPr>
          <a:xfrm>
            <a:off x="609600" y="4572000"/>
            <a:ext cx="10953750" cy="590550"/>
          </a:xfrm>
          <a:prstGeom prst="rect">
            <a:avLst/>
          </a:prstGeom>
          <a:solidFill>
            <a:srgbClr val="F7F5F0"/>
          </a:solidFill>
          <a:ln w="4763">
            <a:solidFill>
              <a:srgbClr val="E8EAE7"/>
            </a:solidFill>
            <a:prstDash val="solid"/>
          </a:ln>
        </p:spPr>
      </p:sp>
      <p:sp>
        <p:nvSpPr>
          <p:cNvPr id="28" name="Rectangle 27">
            <a:extLst>
              <a:ext uri="{FF2B5EF4-FFF2-40B4-BE49-F238E27FC236}">
                <a16:creationId xmlns:a16="http://schemas.microsoft.com/office/drawing/2014/main" id="{CF77A8C7-9869-4B8E-B673-FDF30A6FE819}"/>
              </a:ext>
            </a:extLst>
          </p:cNvPr>
          <p:cNvSpPr>
            <a:spLocks noGrp="1"/>
          </p:cNvSpPr>
          <p:nvPr/>
        </p:nvSpPr>
        <p:spPr>
          <a:xfrm>
            <a:off x="723900" y="4733925"/>
            <a:ext cx="4286250" cy="304800"/>
          </a:xfrm>
          <a:prstGeom prst="rect">
            <a:avLst/>
          </a:prstGeom>
          <a:noFill/>
          <a:ln w="0">
            <a:noFill/>
            <a:prstDash val="solid"/>
          </a:ln>
        </p:spPr>
        <p:txBody>
          <a:bodyPr wrap="square" lIns="0" tIns="0" rIns="0" bIns="0" anchor="t">
            <a:normAutofit/>
          </a:bodyPr>
          <a:lstStyle>
            <a:defPPr algn="l">
              <a:defRPr sz="1500" b="1">
                <a:solidFill>
                  <a:srgbClr val="172532"/>
                </a:solidFill>
                <a:latin typeface="Segoe UI"/>
                <a:ea typeface="Segoe UI"/>
                <a:cs typeface="Segoe UI"/>
              </a:defRPr>
            </a:defPPr>
          </a:lstStyle>
          <a:p>
            <a:pPr algn="l">
              <a:lnSpc>
                <a:spcPct val="108000"/>
              </a:lnSpc>
              <a:buNone/>
              <a:defRPr sz="1500" b="1">
                <a:solidFill>
                  <a:srgbClr val="172532"/>
                </a:solidFill>
                <a:latin typeface="Segoe UI"/>
                <a:ea typeface="Segoe UI"/>
                <a:cs typeface="Segoe UI"/>
              </a:defRPr>
            </a:pPr>
            <a:r>
              <a:rPr sz="1500" b="1">
                <a:solidFill>
                  <a:srgbClr val="172532"/>
                </a:solidFill>
                <a:latin typeface="Segoe UI"/>
                <a:ea typeface="Segoe UI"/>
                <a:cs typeface="Segoe UI"/>
              </a:rPr>
              <a:t>Our RFF Pegasos</a:t>
            </a:r>
          </a:p>
        </p:txBody>
      </p:sp>
      <p:sp>
        <p:nvSpPr>
          <p:cNvPr id="29" name="Rectangle 28">
            <a:extLst>
              <a:ext uri="{FF2B5EF4-FFF2-40B4-BE49-F238E27FC236}">
                <a16:creationId xmlns:a16="http://schemas.microsoft.com/office/drawing/2014/main" id="{33224848-865A-4C81-9C59-49E77E269E59}"/>
              </a:ext>
            </a:extLst>
          </p:cNvPr>
          <p:cNvSpPr>
            <a:spLocks noGrp="1"/>
          </p:cNvSpPr>
          <p:nvPr/>
        </p:nvSpPr>
        <p:spPr>
          <a:xfrm>
            <a:off x="5353050" y="4733925"/>
            <a:ext cx="1866900"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0.810</a:t>
            </a:r>
          </a:p>
        </p:txBody>
      </p:sp>
      <p:sp>
        <p:nvSpPr>
          <p:cNvPr id="30" name="Rectangle 29">
            <a:extLst>
              <a:ext uri="{FF2B5EF4-FFF2-40B4-BE49-F238E27FC236}">
                <a16:creationId xmlns:a16="http://schemas.microsoft.com/office/drawing/2014/main" id="{0589AFB3-87EC-4DF0-9723-22431A53C962}"/>
              </a:ext>
            </a:extLst>
          </p:cNvPr>
          <p:cNvSpPr>
            <a:spLocks noGrp="1"/>
          </p:cNvSpPr>
          <p:nvPr/>
        </p:nvSpPr>
        <p:spPr>
          <a:xfrm>
            <a:off x="7600950" y="4733925"/>
            <a:ext cx="1666875"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0.894</a:t>
            </a:r>
          </a:p>
        </p:txBody>
      </p:sp>
      <p:sp>
        <p:nvSpPr>
          <p:cNvPr id="31" name="Rectangle 30">
            <a:extLst>
              <a:ext uri="{FF2B5EF4-FFF2-40B4-BE49-F238E27FC236}">
                <a16:creationId xmlns:a16="http://schemas.microsoft.com/office/drawing/2014/main" id="{B1AEB0E9-F9E3-4A47-996A-00FD271168F4}"/>
              </a:ext>
            </a:extLst>
          </p:cNvPr>
          <p:cNvSpPr>
            <a:spLocks noGrp="1"/>
          </p:cNvSpPr>
          <p:nvPr/>
        </p:nvSpPr>
        <p:spPr>
          <a:xfrm>
            <a:off x="9639300" y="4733925"/>
            <a:ext cx="1809750" cy="304800"/>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lower F1</a:t>
            </a:r>
          </a:p>
        </p:txBody>
      </p:sp>
      <p:sp>
        <p:nvSpPr>
          <p:cNvPr id="32" name="Rectangle 31">
            <a:extLst>
              <a:ext uri="{FF2B5EF4-FFF2-40B4-BE49-F238E27FC236}">
                <a16:creationId xmlns:a16="http://schemas.microsoft.com/office/drawing/2014/main" id="{926D89D8-0BE6-4564-9B7F-E3D09843080D}"/>
              </a:ext>
            </a:extLst>
          </p:cNvPr>
          <p:cNvSpPr>
            <a:spLocks noGrp="1"/>
          </p:cNvSpPr>
          <p:nvPr/>
        </p:nvSpPr>
        <p:spPr>
          <a:xfrm>
            <a:off x="609600" y="5400675"/>
            <a:ext cx="10953750" cy="704850"/>
          </a:xfrm>
          <a:prstGeom prst="rect">
            <a:avLst/>
          </a:prstGeom>
          <a:solidFill>
            <a:srgbClr val="DCECE7"/>
          </a:solidFill>
          <a:ln w="0">
            <a:noFill/>
            <a:prstDash val="solid"/>
          </a:ln>
        </p:spPr>
      </p:sp>
      <p:sp>
        <p:nvSpPr>
          <p:cNvPr id="33" name="Rectangle 32">
            <a:extLst>
              <a:ext uri="{FF2B5EF4-FFF2-40B4-BE49-F238E27FC236}">
                <a16:creationId xmlns:a16="http://schemas.microsoft.com/office/drawing/2014/main" id="{B4AE3A52-B329-482E-87BE-CC57AB54329C}"/>
              </a:ext>
            </a:extLst>
          </p:cNvPr>
          <p:cNvSpPr>
            <a:spLocks noGrp="1"/>
          </p:cNvSpPr>
          <p:nvPr/>
        </p:nvSpPr>
        <p:spPr>
          <a:xfrm>
            <a:off x="800100" y="5524500"/>
            <a:ext cx="2476500" cy="266700"/>
          </a:xfrm>
          <a:prstGeom prst="rect">
            <a:avLst/>
          </a:prstGeom>
          <a:noFill/>
          <a:ln w="0">
            <a:noFill/>
            <a:prstDash val="solid"/>
          </a:ln>
        </p:spPr>
        <p:txBody>
          <a:bodyPr wrap="square" lIns="0" tIns="0" rIns="0" bIns="0" anchor="t">
            <a:normAutofit/>
          </a:bodyPr>
          <a:lstStyle>
            <a:defPPr algn="l">
              <a:defRPr sz="1500" b="1">
                <a:solidFill>
                  <a:srgbClr val="087D76"/>
                </a:solidFill>
                <a:latin typeface="Segoe UI"/>
                <a:ea typeface="Segoe UI"/>
                <a:cs typeface="Segoe UI"/>
              </a:defRPr>
            </a:defPPr>
          </a:lstStyle>
          <a:p>
            <a:pPr algn="l">
              <a:lnSpc>
                <a:spcPct val="108000"/>
              </a:lnSpc>
              <a:buNone/>
              <a:defRPr sz="1500" b="1">
                <a:solidFill>
                  <a:srgbClr val="087D76"/>
                </a:solidFill>
                <a:latin typeface="Segoe UI"/>
                <a:ea typeface="Segoe UI"/>
                <a:cs typeface="Segoe UI"/>
              </a:defRPr>
            </a:pPr>
            <a:r>
              <a:rPr sz="1500" b="1">
                <a:solidFill>
                  <a:srgbClr val="087D76"/>
                </a:solidFill>
                <a:latin typeface="Segoe UI"/>
                <a:ea typeface="Segoe UI"/>
                <a:cs typeface="Segoe UI"/>
              </a:rPr>
              <a:t>Regression limit</a:t>
            </a:r>
          </a:p>
        </p:txBody>
      </p:sp>
      <p:sp>
        <p:nvSpPr>
          <p:cNvPr id="34" name="Rectangle 33">
            <a:extLst>
              <a:ext uri="{FF2B5EF4-FFF2-40B4-BE49-F238E27FC236}">
                <a16:creationId xmlns:a16="http://schemas.microsoft.com/office/drawing/2014/main" id="{C5BE73BE-91EC-4E1E-9B1A-FF60E461A993}"/>
              </a:ext>
            </a:extLst>
          </p:cNvPr>
          <p:cNvSpPr>
            <a:spLocks noGrp="1"/>
          </p:cNvSpPr>
          <p:nvPr/>
        </p:nvSpPr>
        <p:spPr>
          <a:xfrm>
            <a:off x="3228975" y="5524500"/>
            <a:ext cx="7972425" cy="495300"/>
          </a:xfrm>
          <a:prstGeom prst="rect">
            <a:avLst/>
          </a:prstGeom>
          <a:noFill/>
          <a:ln w="0">
            <a:noFill/>
            <a:prstDash val="solid"/>
          </a:ln>
        </p:spPr>
        <p:txBody>
          <a:bodyPr wrap="square" lIns="0" tIns="0" rIns="0" bIns="0" anchor="t">
            <a:normAutofit/>
          </a:bodyPr>
          <a:lstStyle>
            <a:defPPr algn="l">
              <a:defRPr sz="1575" b="0">
                <a:solidFill>
                  <a:srgbClr val="172532"/>
                </a:solidFill>
                <a:latin typeface="Segoe UI"/>
                <a:ea typeface="Segoe UI"/>
                <a:cs typeface="Segoe UI"/>
              </a:defRPr>
            </a:defPPr>
          </a:lstStyle>
          <a:p>
            <a:pPr algn="l">
              <a:lnSpc>
                <a:spcPct val="108000"/>
              </a:lnSpc>
              <a:buNone/>
              <a:defRPr sz="1575" b="0">
                <a:solidFill>
                  <a:srgbClr val="172532"/>
                </a:solidFill>
                <a:latin typeface="Segoe UI"/>
                <a:ea typeface="Segoe UI"/>
                <a:cs typeface="Segoe UI"/>
              </a:defRPr>
            </a:pPr>
            <a:r>
              <a:rPr sz="1575" b="0">
                <a:solidFill>
                  <a:srgbClr val="172532"/>
                </a:solidFill>
                <a:latin typeface="Segoe UI"/>
                <a:ea typeface="Segoe UI"/>
                <a:cs typeface="Segoe UI"/>
              </a:rPr>
              <a:t>Top 5% price listings: MAE ≈ 773k AZN vs ≈ 49k AZN for the rest.</a:t>
            </a:r>
          </a:p>
        </p:txBody>
      </p:sp>
    </p:spTree>
    <p:extLst>
      <p:ext uri="{BB962C8B-B14F-4D97-AF65-F5344CB8AC3E}">
        <p14:creationId xmlns:p14="http://schemas.microsoft.com/office/powerpoint/2010/main" val="672963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2662F4B-36C9-4D3E-BF7A-61F5BABDCCE7}"/>
              </a:ext>
            </a:extLst>
          </p:cNvPr>
          <p:cNvSpPr>
            <a:spLocks noGrp="1"/>
          </p:cNvSpPr>
          <p:nvPr/>
        </p:nvSpPr>
        <p:spPr>
          <a:xfrm>
            <a:off x="609600" y="304800"/>
            <a:ext cx="7143750" cy="209550"/>
          </a:xfrm>
          <a:prstGeom prst="rect">
            <a:avLst/>
          </a:prstGeom>
          <a:noFill/>
          <a:ln w="0">
            <a:noFill/>
            <a:prstDash val="solid"/>
          </a:ln>
        </p:spPr>
        <p:txBody>
          <a:bodyPr wrap="square" lIns="0" tIns="0" rIns="0" bIns="0" anchor="t">
            <a:normAutofit/>
          </a:bodyPr>
          <a:lstStyle>
            <a:defPPr algn="l">
              <a:defRPr sz="1050" b="1">
                <a:solidFill>
                  <a:srgbClr val="087D76"/>
                </a:solidFill>
                <a:latin typeface="Segoe UI"/>
                <a:ea typeface="Segoe UI"/>
                <a:cs typeface="Segoe UI"/>
              </a:defRPr>
            </a:defPPr>
          </a:lstStyle>
          <a:p>
            <a:pPr algn="l">
              <a:lnSpc>
                <a:spcPct val="108000"/>
              </a:lnSpc>
              <a:buNone/>
              <a:defRPr sz="1050" b="1">
                <a:solidFill>
                  <a:srgbClr val="087D76"/>
                </a:solidFill>
                <a:latin typeface="Segoe UI"/>
                <a:ea typeface="Segoe UI"/>
                <a:cs typeface="Segoe UI"/>
              </a:defRPr>
            </a:pPr>
            <a:r>
              <a:rPr sz="1050" b="1">
                <a:solidFill>
                  <a:srgbClr val="087D76"/>
                </a:solidFill>
                <a:latin typeface="Segoe UI"/>
                <a:ea typeface="Segoe UI"/>
                <a:cs typeface="Segoe UI"/>
              </a:rPr>
              <a:t>TEAM AND CONCLUSION</a:t>
            </a:r>
          </a:p>
        </p:txBody>
      </p:sp>
      <p:sp>
        <p:nvSpPr>
          <p:cNvPr id="2" name="Rectangle 1">
            <a:extLst>
              <a:ext uri="{FF2B5EF4-FFF2-40B4-BE49-F238E27FC236}">
                <a16:creationId xmlns:a16="http://schemas.microsoft.com/office/drawing/2014/main" id="{0DC18A11-0C1A-475A-BB6E-095B3D9795CC}"/>
              </a:ext>
            </a:extLst>
          </p:cNvPr>
          <p:cNvSpPr>
            <a:spLocks noGrp="1"/>
          </p:cNvSpPr>
          <p:nvPr/>
        </p:nvSpPr>
        <p:spPr>
          <a:xfrm>
            <a:off x="609600" y="647700"/>
            <a:ext cx="10953750" cy="647700"/>
          </a:xfrm>
          <a:prstGeom prst="rect">
            <a:avLst/>
          </a:prstGeom>
          <a:noFill/>
          <a:ln w="0">
            <a:noFill/>
            <a:prstDash val="solid"/>
          </a:ln>
        </p:spPr>
        <p:txBody>
          <a:bodyPr wrap="square" lIns="0" tIns="0" rIns="0" bIns="0" anchor="t">
            <a:normAutofit/>
          </a:bodyPr>
          <a:lstStyle>
            <a:defPPr algn="l">
              <a:defRPr sz="3075" b="1">
                <a:solidFill>
                  <a:srgbClr val="172532"/>
                </a:solidFill>
                <a:latin typeface="Segoe UI"/>
                <a:ea typeface="Segoe UI"/>
                <a:cs typeface="Segoe UI"/>
              </a:defRPr>
            </a:defPPr>
          </a:lstStyle>
          <a:p>
            <a:pPr algn="l">
              <a:lnSpc>
                <a:spcPct val="108000"/>
              </a:lnSpc>
              <a:buNone/>
              <a:defRPr sz="3075" b="1">
                <a:solidFill>
                  <a:srgbClr val="172532"/>
                </a:solidFill>
                <a:latin typeface="Segoe UI"/>
                <a:ea typeface="Segoe UI"/>
                <a:cs typeface="Segoe UI"/>
              </a:defRPr>
            </a:pPr>
            <a:r>
              <a:rPr sz="3075" b="1">
                <a:solidFill>
                  <a:srgbClr val="172532"/>
                </a:solidFill>
                <a:latin typeface="Segoe UI"/>
                <a:ea typeface="Segoe UI"/>
                <a:cs typeface="Segoe UI"/>
              </a:rPr>
              <a:t>One pipeline, three primary ownership areas</a:t>
            </a:r>
          </a:p>
        </p:txBody>
      </p:sp>
      <p:sp>
        <p:nvSpPr>
          <p:cNvPr id="3" name="Rectangle 2">
            <a:extLst>
              <a:ext uri="{FF2B5EF4-FFF2-40B4-BE49-F238E27FC236}">
                <a16:creationId xmlns:a16="http://schemas.microsoft.com/office/drawing/2014/main" id="{11D0F88C-DBC3-4310-AC01-05EA4618D7D7}"/>
              </a:ext>
            </a:extLst>
          </p:cNvPr>
          <p:cNvSpPr>
            <a:spLocks noGrp="1"/>
          </p:cNvSpPr>
          <p:nvPr/>
        </p:nvSpPr>
        <p:spPr>
          <a:xfrm>
            <a:off x="609600" y="1381125"/>
            <a:ext cx="10972800" cy="19050"/>
          </a:xfrm>
          <a:prstGeom prst="rect">
            <a:avLst/>
          </a:prstGeom>
          <a:solidFill>
            <a:srgbClr val="E8EAE7"/>
          </a:solidFill>
          <a:ln w="0">
            <a:noFill/>
            <a:prstDash val="solid"/>
          </a:ln>
        </p:spPr>
      </p:sp>
      <p:sp>
        <p:nvSpPr>
          <p:cNvPr id="4" name="Rectangle 3">
            <a:extLst>
              <a:ext uri="{FF2B5EF4-FFF2-40B4-BE49-F238E27FC236}">
                <a16:creationId xmlns:a16="http://schemas.microsoft.com/office/drawing/2014/main" id="{66B0685C-4808-4A78-9432-50A796E52870}"/>
              </a:ext>
            </a:extLst>
          </p:cNvPr>
          <p:cNvSpPr>
            <a:spLocks noGrp="1"/>
          </p:cNvSpPr>
          <p:nvPr/>
        </p:nvSpPr>
        <p:spPr>
          <a:xfrm>
            <a:off x="609600" y="6448425"/>
            <a:ext cx="4762500" cy="171450"/>
          </a:xfrm>
          <a:prstGeom prst="rect">
            <a:avLst/>
          </a:prstGeom>
          <a:noFill/>
          <a:ln w="0">
            <a:noFill/>
            <a:prstDash val="solid"/>
          </a:ln>
        </p:spPr>
        <p:txBody>
          <a:bodyPr wrap="square" lIns="0" tIns="0" rIns="0" bIns="0" anchor="t">
            <a:normAutofit/>
          </a:bodyPr>
          <a:lstStyle>
            <a:defPPr algn="l">
              <a:defRPr sz="975" b="0">
                <a:solidFill>
                  <a:srgbClr val="53616A"/>
                </a:solidFill>
                <a:latin typeface="Segoe UI"/>
                <a:ea typeface="Segoe UI"/>
                <a:cs typeface="Segoe UI"/>
              </a:defRPr>
            </a:defPPr>
          </a:lstStyle>
          <a:p>
            <a:pPr algn="l">
              <a:lnSpc>
                <a:spcPct val="108000"/>
              </a:lnSpc>
              <a:buNone/>
              <a:defRPr sz="975" b="0">
                <a:solidFill>
                  <a:srgbClr val="53616A"/>
                </a:solidFill>
                <a:latin typeface="Segoe UI"/>
                <a:ea typeface="Segoe UI"/>
                <a:cs typeface="Segoe UI"/>
              </a:defRPr>
            </a:pPr>
            <a:r>
              <a:rPr sz="975" b="0">
                <a:solidFill>
                  <a:srgbClr val="53616A"/>
                </a:solidFill>
                <a:latin typeface="Segoe UI"/>
                <a:ea typeface="Segoe UI"/>
                <a:cs typeface="Segoe UI"/>
              </a:rPr>
              <a:t>AI Academy  /  MLE-AI-201</a:t>
            </a:r>
          </a:p>
        </p:txBody>
      </p:sp>
      <p:sp>
        <p:nvSpPr>
          <p:cNvPr id="5" name="Rectangle 4">
            <a:extLst>
              <a:ext uri="{FF2B5EF4-FFF2-40B4-BE49-F238E27FC236}">
                <a16:creationId xmlns:a16="http://schemas.microsoft.com/office/drawing/2014/main" id="{86FF6723-DD3F-40DF-8A1A-A19BBE51E140}"/>
              </a:ext>
            </a:extLst>
          </p:cNvPr>
          <p:cNvSpPr>
            <a:spLocks noGrp="1"/>
          </p:cNvSpPr>
          <p:nvPr/>
        </p:nvSpPr>
        <p:spPr>
          <a:xfrm>
            <a:off x="11049000" y="6429375"/>
            <a:ext cx="571500" cy="209550"/>
          </a:xfrm>
          <a:prstGeom prst="rect">
            <a:avLst/>
          </a:prstGeom>
          <a:noFill/>
          <a:ln w="0">
            <a:noFill/>
            <a:prstDash val="solid"/>
          </a:ln>
        </p:spPr>
        <p:txBody>
          <a:bodyPr wrap="square" lIns="0" tIns="0" rIns="0" bIns="0" anchor="t">
            <a:normAutofit/>
          </a:bodyPr>
          <a:lstStyle>
            <a:defPPr algn="r">
              <a:defRPr sz="1050" b="1">
                <a:solidFill>
                  <a:srgbClr val="53616A"/>
                </a:solidFill>
                <a:latin typeface="Segoe UI"/>
                <a:ea typeface="Segoe UI"/>
                <a:cs typeface="Segoe UI"/>
              </a:defRPr>
            </a:defPPr>
          </a:lstStyle>
          <a:p>
            <a:pPr algn="r">
              <a:lnSpc>
                <a:spcPct val="108000"/>
              </a:lnSpc>
              <a:buNone/>
              <a:defRPr sz="1050" b="1">
                <a:solidFill>
                  <a:srgbClr val="53616A"/>
                </a:solidFill>
                <a:latin typeface="Segoe UI"/>
                <a:ea typeface="Segoe UI"/>
                <a:cs typeface="Segoe UI"/>
              </a:defRPr>
            </a:pPr>
            <a:r>
              <a:rPr sz="1050" b="1">
                <a:solidFill>
                  <a:srgbClr val="53616A"/>
                </a:solidFill>
                <a:latin typeface="Segoe UI"/>
                <a:ea typeface="Segoe UI"/>
                <a:cs typeface="Segoe UI"/>
              </a:rPr>
              <a:t>10</a:t>
            </a:r>
          </a:p>
        </p:txBody>
      </p:sp>
      <p:sp>
        <p:nvSpPr>
          <p:cNvPr id="6" name="Rectangle: Rounded Corners 5">
            <a:extLst>
              <a:ext uri="{FF2B5EF4-FFF2-40B4-BE49-F238E27FC236}">
                <a16:creationId xmlns:a16="http://schemas.microsoft.com/office/drawing/2014/main" id="{5AE03B31-8E92-4B57-9E0C-9D1176A4B195}"/>
              </a:ext>
            </a:extLst>
          </p:cNvPr>
          <p:cNvSpPr>
            <a:spLocks noGrp="1"/>
          </p:cNvSpPr>
          <p:nvPr/>
        </p:nvSpPr>
        <p:spPr>
          <a:xfrm>
            <a:off x="609600" y="1781175"/>
            <a:ext cx="10953750" cy="1028700"/>
          </a:xfrm>
          <a:prstGeom prst="roundRect">
            <a:avLst>
              <a:gd name="adj" fmla="val 7407"/>
            </a:avLst>
          </a:prstGeom>
          <a:solidFill>
            <a:srgbClr val="FFFFFF"/>
          </a:solidFill>
          <a:ln w="9525">
            <a:solidFill>
              <a:srgbClr val="E8EAE7"/>
            </a:solidFill>
            <a:prstDash val="solid"/>
          </a:ln>
        </p:spPr>
      </p:sp>
      <p:sp>
        <p:nvSpPr>
          <p:cNvPr id="7" name="Rectangle 6">
            <a:extLst>
              <a:ext uri="{FF2B5EF4-FFF2-40B4-BE49-F238E27FC236}">
                <a16:creationId xmlns:a16="http://schemas.microsoft.com/office/drawing/2014/main" id="{3EC82596-1434-4FFB-A53E-4FBD4B70056E}"/>
              </a:ext>
            </a:extLst>
          </p:cNvPr>
          <p:cNvSpPr>
            <a:spLocks noGrp="1"/>
          </p:cNvSpPr>
          <p:nvPr/>
        </p:nvSpPr>
        <p:spPr>
          <a:xfrm>
            <a:off x="609600" y="1781175"/>
            <a:ext cx="76200" cy="1028700"/>
          </a:xfrm>
          <a:prstGeom prst="rect">
            <a:avLst/>
          </a:prstGeom>
          <a:solidFill>
            <a:srgbClr val="087D76"/>
          </a:solidFill>
          <a:ln w="0">
            <a:noFill/>
            <a:prstDash val="solid"/>
          </a:ln>
        </p:spPr>
      </p:sp>
      <p:sp>
        <p:nvSpPr>
          <p:cNvPr id="8" name="Rectangle 7">
            <a:extLst>
              <a:ext uri="{FF2B5EF4-FFF2-40B4-BE49-F238E27FC236}">
                <a16:creationId xmlns:a16="http://schemas.microsoft.com/office/drawing/2014/main" id="{D04F351E-F57F-4548-B6E3-11CDF28BAAEA}"/>
              </a:ext>
            </a:extLst>
          </p:cNvPr>
          <p:cNvSpPr>
            <a:spLocks noGrp="1"/>
          </p:cNvSpPr>
          <p:nvPr/>
        </p:nvSpPr>
        <p:spPr>
          <a:xfrm>
            <a:off x="885825" y="1933575"/>
            <a:ext cx="3000375" cy="333375"/>
          </a:xfrm>
          <a:prstGeom prst="rect">
            <a:avLst/>
          </a:prstGeom>
          <a:noFill/>
          <a:ln w="0">
            <a:noFill/>
            <a:prstDash val="solid"/>
          </a:ln>
        </p:spPr>
        <p:txBody>
          <a:bodyPr wrap="square" lIns="0" tIns="0" rIns="0" bIns="0" anchor="t">
            <a:normAutofit/>
          </a:bodyPr>
          <a:lstStyle>
            <a:defPPr algn="l">
              <a:defRPr sz="1800" b="1">
                <a:solidFill>
                  <a:srgbClr val="172532"/>
                </a:solidFill>
                <a:latin typeface="Segoe UI"/>
                <a:ea typeface="Segoe UI"/>
                <a:cs typeface="Segoe UI"/>
              </a:defRPr>
            </a:defPPr>
          </a:lstStyle>
          <a:p>
            <a:pPr algn="l">
              <a:lnSpc>
                <a:spcPct val="108000"/>
              </a:lnSpc>
              <a:buNone/>
              <a:defRPr sz="1800" b="1">
                <a:solidFill>
                  <a:srgbClr val="172532"/>
                </a:solidFill>
                <a:latin typeface="Segoe UI"/>
                <a:ea typeface="Segoe UI"/>
                <a:cs typeface="Segoe UI"/>
              </a:defRPr>
            </a:pPr>
            <a:r>
              <a:rPr sz="1800" b="1">
                <a:solidFill>
                  <a:srgbClr val="172532"/>
                </a:solidFill>
                <a:latin typeface="Segoe UI"/>
                <a:ea typeface="Segoe UI"/>
                <a:cs typeface="Segoe UI"/>
              </a:rPr>
              <a:t>Samir Hasanov</a:t>
            </a:r>
          </a:p>
        </p:txBody>
      </p:sp>
      <p:sp>
        <p:nvSpPr>
          <p:cNvPr id="9" name="Rectangle 8">
            <a:extLst>
              <a:ext uri="{FF2B5EF4-FFF2-40B4-BE49-F238E27FC236}">
                <a16:creationId xmlns:a16="http://schemas.microsoft.com/office/drawing/2014/main" id="{299213F1-5C82-460B-A54A-E89B098067CA}"/>
              </a:ext>
            </a:extLst>
          </p:cNvPr>
          <p:cNvSpPr>
            <a:spLocks noGrp="1"/>
          </p:cNvSpPr>
          <p:nvPr/>
        </p:nvSpPr>
        <p:spPr>
          <a:xfrm>
            <a:off x="3943350" y="1943100"/>
            <a:ext cx="6505575" cy="295275"/>
          </a:xfrm>
          <a:prstGeom prst="rect">
            <a:avLst/>
          </a:prstGeom>
          <a:noFill/>
          <a:ln w="0">
            <a:noFill/>
            <a:prstDash val="solid"/>
          </a:ln>
        </p:spPr>
        <p:txBody>
          <a:bodyPr wrap="square" lIns="0" tIns="0" rIns="0" bIns="0" anchor="t">
            <a:normAutofit/>
          </a:bodyPr>
          <a:lstStyle>
            <a:defPPr algn="l">
              <a:defRPr sz="1725" b="1">
                <a:solidFill>
                  <a:srgbClr val="172532"/>
                </a:solidFill>
                <a:latin typeface="Segoe UI"/>
                <a:ea typeface="Segoe UI"/>
                <a:cs typeface="Segoe UI"/>
              </a:defRPr>
            </a:defPPr>
          </a:lstStyle>
          <a:p>
            <a:pPr algn="l">
              <a:lnSpc>
                <a:spcPct val="108000"/>
              </a:lnSpc>
              <a:buNone/>
              <a:defRPr sz="1725" b="1">
                <a:solidFill>
                  <a:srgbClr val="172532"/>
                </a:solidFill>
                <a:latin typeface="Segoe UI"/>
                <a:ea typeface="Segoe UI"/>
                <a:cs typeface="Segoe UI"/>
              </a:defRPr>
            </a:pPr>
            <a:r>
              <a:rPr sz="1725" b="1">
                <a:solidFill>
                  <a:srgbClr val="172532"/>
                </a:solidFill>
                <a:latin typeface="Segoe UI"/>
                <a:ea typeface="Segoe UI"/>
                <a:cs typeface="Segoe UI"/>
              </a:rPr>
              <a:t>Decision Tree from scratch</a:t>
            </a:r>
          </a:p>
        </p:txBody>
      </p:sp>
      <p:sp>
        <p:nvSpPr>
          <p:cNvPr id="10" name="Rectangle 9">
            <a:extLst>
              <a:ext uri="{FF2B5EF4-FFF2-40B4-BE49-F238E27FC236}">
                <a16:creationId xmlns:a16="http://schemas.microsoft.com/office/drawing/2014/main" id="{EADFC1C9-E5B8-454B-9A3A-8D6299C6A033}"/>
              </a:ext>
            </a:extLst>
          </p:cNvPr>
          <p:cNvSpPr>
            <a:spLocks noGrp="1"/>
          </p:cNvSpPr>
          <p:nvPr/>
        </p:nvSpPr>
        <p:spPr>
          <a:xfrm>
            <a:off x="3943350" y="2295525"/>
            <a:ext cx="6572250" cy="314325"/>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Integration and tree experiments</a:t>
            </a:r>
          </a:p>
        </p:txBody>
      </p:sp>
      <p:sp>
        <p:nvSpPr>
          <p:cNvPr id="11" name="Rectangle: Rounded Corners 10">
            <a:extLst>
              <a:ext uri="{FF2B5EF4-FFF2-40B4-BE49-F238E27FC236}">
                <a16:creationId xmlns:a16="http://schemas.microsoft.com/office/drawing/2014/main" id="{8DCBEA90-05FF-4392-B533-635730561D84}"/>
              </a:ext>
            </a:extLst>
          </p:cNvPr>
          <p:cNvSpPr>
            <a:spLocks noGrp="1"/>
          </p:cNvSpPr>
          <p:nvPr/>
        </p:nvSpPr>
        <p:spPr>
          <a:xfrm>
            <a:off x="609600" y="2971800"/>
            <a:ext cx="10953750" cy="1028700"/>
          </a:xfrm>
          <a:prstGeom prst="roundRect">
            <a:avLst>
              <a:gd name="adj" fmla="val 7407"/>
            </a:avLst>
          </a:prstGeom>
          <a:solidFill>
            <a:srgbClr val="FFFFFF"/>
          </a:solidFill>
          <a:ln w="9525">
            <a:solidFill>
              <a:srgbClr val="E8EAE7"/>
            </a:solidFill>
            <a:prstDash val="solid"/>
          </a:ln>
        </p:spPr>
      </p:sp>
      <p:sp>
        <p:nvSpPr>
          <p:cNvPr id="12" name="Rectangle 11">
            <a:extLst>
              <a:ext uri="{FF2B5EF4-FFF2-40B4-BE49-F238E27FC236}">
                <a16:creationId xmlns:a16="http://schemas.microsoft.com/office/drawing/2014/main" id="{A565A8AE-AA59-4798-BEB2-E56E54282B89}"/>
              </a:ext>
            </a:extLst>
          </p:cNvPr>
          <p:cNvSpPr>
            <a:spLocks noGrp="1"/>
          </p:cNvSpPr>
          <p:nvPr/>
        </p:nvSpPr>
        <p:spPr>
          <a:xfrm>
            <a:off x="609600" y="2971800"/>
            <a:ext cx="76200" cy="1028700"/>
          </a:xfrm>
          <a:prstGeom prst="rect">
            <a:avLst/>
          </a:prstGeom>
          <a:solidFill>
            <a:srgbClr val="DD9C48"/>
          </a:solidFill>
          <a:ln w="0">
            <a:noFill/>
            <a:prstDash val="solid"/>
          </a:ln>
        </p:spPr>
      </p:sp>
      <p:sp>
        <p:nvSpPr>
          <p:cNvPr id="13" name="Rectangle 12">
            <a:extLst>
              <a:ext uri="{FF2B5EF4-FFF2-40B4-BE49-F238E27FC236}">
                <a16:creationId xmlns:a16="http://schemas.microsoft.com/office/drawing/2014/main" id="{C631BB9C-26F4-411E-BC8E-2CC19A7BCEE6}"/>
              </a:ext>
            </a:extLst>
          </p:cNvPr>
          <p:cNvSpPr>
            <a:spLocks noGrp="1"/>
          </p:cNvSpPr>
          <p:nvPr/>
        </p:nvSpPr>
        <p:spPr>
          <a:xfrm>
            <a:off x="885825" y="3124200"/>
            <a:ext cx="3000375" cy="333375"/>
          </a:xfrm>
          <a:prstGeom prst="rect">
            <a:avLst/>
          </a:prstGeom>
          <a:noFill/>
          <a:ln w="0">
            <a:noFill/>
            <a:prstDash val="solid"/>
          </a:ln>
        </p:spPr>
        <p:txBody>
          <a:bodyPr wrap="square" lIns="0" tIns="0" rIns="0" bIns="0" anchor="t">
            <a:normAutofit/>
          </a:bodyPr>
          <a:lstStyle>
            <a:defPPr algn="l">
              <a:defRPr sz="1800" b="1">
                <a:solidFill>
                  <a:srgbClr val="172532"/>
                </a:solidFill>
                <a:latin typeface="Segoe UI"/>
                <a:ea typeface="Segoe UI"/>
                <a:cs typeface="Segoe UI"/>
              </a:defRPr>
            </a:defPPr>
          </a:lstStyle>
          <a:p>
            <a:pPr algn="l">
              <a:lnSpc>
                <a:spcPct val="108000"/>
              </a:lnSpc>
              <a:buNone/>
              <a:defRPr sz="1800" b="1">
                <a:solidFill>
                  <a:srgbClr val="172532"/>
                </a:solidFill>
                <a:latin typeface="Segoe UI"/>
                <a:ea typeface="Segoe UI"/>
                <a:cs typeface="Segoe UI"/>
              </a:defRPr>
            </a:pPr>
            <a:r>
              <a:rPr lang="en-US" sz="1800" b="1">
                <a:solidFill>
                  <a:srgbClr val="172532"/>
                </a:solidFill>
                <a:latin typeface="Segoe UI"/>
                <a:ea typeface="Segoe UI"/>
                <a:cs typeface="Segoe UI"/>
              </a:rPr>
              <a:t>Mammadaliyev Ramil</a:t>
            </a:r>
            <a:endParaRPr sz="1800" b="1">
              <a:solidFill>
                <a:srgbClr val="172532"/>
              </a:solidFill>
              <a:latin typeface="Segoe UI"/>
              <a:ea typeface="Segoe UI"/>
              <a:cs typeface="Segoe UI"/>
            </a:endParaRPr>
          </a:p>
        </p:txBody>
      </p:sp>
      <p:sp>
        <p:nvSpPr>
          <p:cNvPr id="14" name="Rectangle 13">
            <a:extLst>
              <a:ext uri="{FF2B5EF4-FFF2-40B4-BE49-F238E27FC236}">
                <a16:creationId xmlns:a16="http://schemas.microsoft.com/office/drawing/2014/main" id="{87FC067C-83BE-4F87-8643-7F474DCCB800}"/>
              </a:ext>
            </a:extLst>
          </p:cNvPr>
          <p:cNvSpPr>
            <a:spLocks noGrp="1"/>
          </p:cNvSpPr>
          <p:nvPr/>
        </p:nvSpPr>
        <p:spPr>
          <a:xfrm>
            <a:off x="3943350" y="3133725"/>
            <a:ext cx="6505575" cy="295275"/>
          </a:xfrm>
          <a:prstGeom prst="rect">
            <a:avLst/>
          </a:prstGeom>
          <a:noFill/>
          <a:ln w="0">
            <a:noFill/>
            <a:prstDash val="solid"/>
          </a:ln>
        </p:spPr>
        <p:txBody>
          <a:bodyPr wrap="square" lIns="0" tIns="0" rIns="0" bIns="0" anchor="t">
            <a:normAutofit/>
          </a:bodyPr>
          <a:lstStyle>
            <a:defPPr algn="l">
              <a:defRPr sz="1725" b="1">
                <a:solidFill>
                  <a:srgbClr val="172532"/>
                </a:solidFill>
                <a:latin typeface="Segoe UI"/>
                <a:ea typeface="Segoe UI"/>
                <a:cs typeface="Segoe UI"/>
              </a:defRPr>
            </a:defPPr>
          </a:lstStyle>
          <a:p>
            <a:pPr algn="l">
              <a:lnSpc>
                <a:spcPct val="108000"/>
              </a:lnSpc>
              <a:buNone/>
              <a:defRPr sz="1725" b="1">
                <a:solidFill>
                  <a:srgbClr val="172532"/>
                </a:solidFill>
                <a:latin typeface="Segoe UI"/>
                <a:ea typeface="Segoe UI"/>
                <a:cs typeface="Segoe UI"/>
              </a:defRPr>
            </a:pPr>
            <a:r>
              <a:rPr sz="1725" b="1">
                <a:solidFill>
                  <a:srgbClr val="172532"/>
                </a:solidFill>
                <a:latin typeface="Segoe UI"/>
                <a:ea typeface="Segoe UI"/>
                <a:cs typeface="Segoe UI"/>
              </a:rPr>
              <a:t>Pegasos SVM and RFF</a:t>
            </a:r>
          </a:p>
        </p:txBody>
      </p:sp>
      <p:sp>
        <p:nvSpPr>
          <p:cNvPr id="15" name="Rectangle 14">
            <a:extLst>
              <a:ext uri="{FF2B5EF4-FFF2-40B4-BE49-F238E27FC236}">
                <a16:creationId xmlns:a16="http://schemas.microsoft.com/office/drawing/2014/main" id="{42EE6346-305C-4A3C-B7C6-123E9011303C}"/>
              </a:ext>
            </a:extLst>
          </p:cNvPr>
          <p:cNvSpPr>
            <a:spLocks noGrp="1"/>
          </p:cNvSpPr>
          <p:nvPr/>
        </p:nvSpPr>
        <p:spPr>
          <a:xfrm>
            <a:off x="3943350" y="3486150"/>
            <a:ext cx="6572250" cy="314325"/>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Margin, convergence and SVM tests</a:t>
            </a:r>
          </a:p>
        </p:txBody>
      </p:sp>
      <p:sp>
        <p:nvSpPr>
          <p:cNvPr id="16" name="Rectangle: Rounded Corners 15">
            <a:extLst>
              <a:ext uri="{FF2B5EF4-FFF2-40B4-BE49-F238E27FC236}">
                <a16:creationId xmlns:a16="http://schemas.microsoft.com/office/drawing/2014/main" id="{B262C803-7814-47C1-B116-C758C242F7CF}"/>
              </a:ext>
            </a:extLst>
          </p:cNvPr>
          <p:cNvSpPr>
            <a:spLocks noGrp="1"/>
          </p:cNvSpPr>
          <p:nvPr/>
        </p:nvSpPr>
        <p:spPr>
          <a:xfrm>
            <a:off x="609600" y="4162425"/>
            <a:ext cx="10953750" cy="1028700"/>
          </a:xfrm>
          <a:prstGeom prst="roundRect">
            <a:avLst>
              <a:gd name="adj" fmla="val 7407"/>
            </a:avLst>
          </a:prstGeom>
          <a:solidFill>
            <a:srgbClr val="FFFFFF"/>
          </a:solidFill>
          <a:ln w="9525">
            <a:solidFill>
              <a:srgbClr val="E8EAE7"/>
            </a:solidFill>
            <a:prstDash val="solid"/>
          </a:ln>
        </p:spPr>
      </p:sp>
      <p:sp>
        <p:nvSpPr>
          <p:cNvPr id="17" name="Rectangle 16">
            <a:extLst>
              <a:ext uri="{FF2B5EF4-FFF2-40B4-BE49-F238E27FC236}">
                <a16:creationId xmlns:a16="http://schemas.microsoft.com/office/drawing/2014/main" id="{65658464-5435-488E-9135-5BADABAC4CC5}"/>
              </a:ext>
            </a:extLst>
          </p:cNvPr>
          <p:cNvSpPr>
            <a:spLocks noGrp="1"/>
          </p:cNvSpPr>
          <p:nvPr/>
        </p:nvSpPr>
        <p:spPr>
          <a:xfrm>
            <a:off x="609600" y="4162425"/>
            <a:ext cx="76200" cy="1028700"/>
          </a:xfrm>
          <a:prstGeom prst="rect">
            <a:avLst/>
          </a:prstGeom>
          <a:solidFill>
            <a:srgbClr val="21394D"/>
          </a:solidFill>
          <a:ln w="0">
            <a:noFill/>
            <a:prstDash val="solid"/>
          </a:ln>
        </p:spPr>
      </p:sp>
      <p:sp>
        <p:nvSpPr>
          <p:cNvPr id="18" name="Rectangle 17">
            <a:extLst>
              <a:ext uri="{FF2B5EF4-FFF2-40B4-BE49-F238E27FC236}">
                <a16:creationId xmlns:a16="http://schemas.microsoft.com/office/drawing/2014/main" id="{294FD1B5-37B6-4074-B529-21D3A038CAEC}"/>
              </a:ext>
            </a:extLst>
          </p:cNvPr>
          <p:cNvSpPr>
            <a:spLocks noGrp="1"/>
          </p:cNvSpPr>
          <p:nvPr/>
        </p:nvSpPr>
        <p:spPr>
          <a:xfrm>
            <a:off x="885825" y="4314825"/>
            <a:ext cx="3000375" cy="333375"/>
          </a:xfrm>
          <a:prstGeom prst="rect">
            <a:avLst/>
          </a:prstGeom>
          <a:noFill/>
          <a:ln w="0">
            <a:noFill/>
            <a:prstDash val="solid"/>
          </a:ln>
        </p:spPr>
        <p:txBody>
          <a:bodyPr wrap="square" lIns="0" tIns="0" rIns="0" bIns="0" anchor="t">
            <a:normAutofit/>
          </a:bodyPr>
          <a:lstStyle>
            <a:defPPr algn="l">
              <a:defRPr sz="1800" b="1">
                <a:solidFill>
                  <a:srgbClr val="172532"/>
                </a:solidFill>
                <a:latin typeface="Segoe UI"/>
                <a:ea typeface="Segoe UI"/>
                <a:cs typeface="Segoe UI"/>
              </a:defRPr>
            </a:defPPr>
          </a:lstStyle>
          <a:p>
            <a:pPr algn="l">
              <a:lnSpc>
                <a:spcPct val="108000"/>
              </a:lnSpc>
              <a:buNone/>
              <a:defRPr sz="1800" b="1">
                <a:solidFill>
                  <a:srgbClr val="172532"/>
                </a:solidFill>
                <a:latin typeface="Segoe UI"/>
                <a:ea typeface="Segoe UI"/>
                <a:cs typeface="Segoe UI"/>
              </a:defRPr>
            </a:pPr>
            <a:r>
              <a:rPr sz="1800" b="1">
                <a:solidFill>
                  <a:srgbClr val="172532"/>
                </a:solidFill>
                <a:latin typeface="Segoe UI"/>
                <a:ea typeface="Segoe UI"/>
                <a:cs typeface="Segoe UI"/>
              </a:rPr>
              <a:t>Elmin Seyidov</a:t>
            </a:r>
          </a:p>
        </p:txBody>
      </p:sp>
      <p:sp>
        <p:nvSpPr>
          <p:cNvPr id="19" name="Rectangle 18">
            <a:extLst>
              <a:ext uri="{FF2B5EF4-FFF2-40B4-BE49-F238E27FC236}">
                <a16:creationId xmlns:a16="http://schemas.microsoft.com/office/drawing/2014/main" id="{1C8CBD04-DDD0-435F-84B3-740ABAAFB86A}"/>
              </a:ext>
            </a:extLst>
          </p:cNvPr>
          <p:cNvSpPr>
            <a:spLocks noGrp="1"/>
          </p:cNvSpPr>
          <p:nvPr/>
        </p:nvSpPr>
        <p:spPr>
          <a:xfrm>
            <a:off x="3943350" y="4324350"/>
            <a:ext cx="6505575" cy="295275"/>
          </a:xfrm>
          <a:prstGeom prst="rect">
            <a:avLst/>
          </a:prstGeom>
          <a:noFill/>
          <a:ln w="0">
            <a:noFill/>
            <a:prstDash val="solid"/>
          </a:ln>
        </p:spPr>
        <p:txBody>
          <a:bodyPr wrap="square" lIns="0" tIns="0" rIns="0" bIns="0" anchor="t">
            <a:normAutofit/>
          </a:bodyPr>
          <a:lstStyle>
            <a:defPPr algn="l">
              <a:defRPr sz="1725" b="1">
                <a:solidFill>
                  <a:srgbClr val="172532"/>
                </a:solidFill>
                <a:latin typeface="Segoe UI"/>
                <a:ea typeface="Segoe UI"/>
                <a:cs typeface="Segoe UI"/>
              </a:defRPr>
            </a:defPPr>
          </a:lstStyle>
          <a:p>
            <a:pPr algn="l">
              <a:lnSpc>
                <a:spcPct val="108000"/>
              </a:lnSpc>
              <a:buNone/>
              <a:defRPr sz="1725" b="1">
                <a:solidFill>
                  <a:srgbClr val="172532"/>
                </a:solidFill>
                <a:latin typeface="Segoe UI"/>
                <a:ea typeface="Segoe UI"/>
                <a:cs typeface="Segoe UI"/>
              </a:defRPr>
            </a:pPr>
            <a:r>
              <a:rPr sz="1725" b="1">
                <a:solidFill>
                  <a:srgbClr val="172532"/>
                </a:solidFill>
                <a:latin typeface="Segoe UI"/>
                <a:ea typeface="Segoe UI"/>
                <a:cs typeface="Segoe UI"/>
              </a:rPr>
              <a:t>Data preparation and EDA</a:t>
            </a:r>
          </a:p>
        </p:txBody>
      </p:sp>
      <p:sp>
        <p:nvSpPr>
          <p:cNvPr id="20" name="Rectangle 19">
            <a:extLst>
              <a:ext uri="{FF2B5EF4-FFF2-40B4-BE49-F238E27FC236}">
                <a16:creationId xmlns:a16="http://schemas.microsoft.com/office/drawing/2014/main" id="{29434302-FAEF-4ACF-935C-57797BF052AC}"/>
              </a:ext>
            </a:extLst>
          </p:cNvPr>
          <p:cNvSpPr>
            <a:spLocks noGrp="1"/>
          </p:cNvSpPr>
          <p:nvPr/>
        </p:nvSpPr>
        <p:spPr>
          <a:xfrm>
            <a:off x="3943350" y="4676775"/>
            <a:ext cx="6572250" cy="314325"/>
          </a:xfrm>
          <a:prstGeom prst="rect">
            <a:avLst/>
          </a:prstGeom>
          <a:noFill/>
          <a:ln w="0">
            <a:noFill/>
            <a:prstDash val="solid"/>
          </a:ln>
        </p:spPr>
        <p:txBody>
          <a:bodyPr wrap="square" lIns="0" tIns="0" rIns="0" bIns="0" anchor="t">
            <a:normAutofit/>
          </a:bodyPr>
          <a:lstStyle>
            <a:defPPr algn="l">
              <a:defRPr sz="1425" b="0">
                <a:solidFill>
                  <a:srgbClr val="53616A"/>
                </a:solidFill>
                <a:latin typeface="Segoe UI"/>
                <a:ea typeface="Segoe UI"/>
                <a:cs typeface="Segoe UI"/>
              </a:defRPr>
            </a:defPPr>
          </a:lstStyle>
          <a:p>
            <a:pPr algn="l">
              <a:lnSpc>
                <a:spcPct val="108000"/>
              </a:lnSpc>
              <a:buNone/>
              <a:defRPr sz="1425" b="0">
                <a:solidFill>
                  <a:srgbClr val="53616A"/>
                </a:solidFill>
                <a:latin typeface="Segoe UI"/>
                <a:ea typeface="Segoe UI"/>
                <a:cs typeface="Segoe UI"/>
              </a:defRPr>
            </a:pPr>
            <a:r>
              <a:rPr sz="1425" b="0">
                <a:solidFill>
                  <a:srgbClr val="53616A"/>
                </a:solidFill>
                <a:latin typeface="Segoe UI"/>
                <a:ea typeface="Segoe UI"/>
                <a:cs typeface="Segoe UI"/>
              </a:rPr>
              <a:t>Leakage checks, splits and metrics</a:t>
            </a:r>
          </a:p>
        </p:txBody>
      </p:sp>
      <p:sp>
        <p:nvSpPr>
          <p:cNvPr id="21" name="Rectangle 20">
            <a:extLst>
              <a:ext uri="{FF2B5EF4-FFF2-40B4-BE49-F238E27FC236}">
                <a16:creationId xmlns:a16="http://schemas.microsoft.com/office/drawing/2014/main" id="{4639DB47-5462-40F1-8685-2832E64D4E22}"/>
              </a:ext>
            </a:extLst>
          </p:cNvPr>
          <p:cNvSpPr>
            <a:spLocks noGrp="1"/>
          </p:cNvSpPr>
          <p:nvPr/>
        </p:nvSpPr>
        <p:spPr>
          <a:xfrm>
            <a:off x="609600" y="5686425"/>
            <a:ext cx="10953750" cy="19050"/>
          </a:xfrm>
          <a:prstGeom prst="rect">
            <a:avLst/>
          </a:prstGeom>
          <a:solidFill>
            <a:srgbClr val="E8EAE7"/>
          </a:solidFill>
          <a:ln w="0">
            <a:noFill/>
            <a:prstDash val="solid"/>
          </a:ln>
        </p:spPr>
      </p:sp>
      <p:sp>
        <p:nvSpPr>
          <p:cNvPr id="22" name="Rectangle 21">
            <a:extLst>
              <a:ext uri="{FF2B5EF4-FFF2-40B4-BE49-F238E27FC236}">
                <a16:creationId xmlns:a16="http://schemas.microsoft.com/office/drawing/2014/main" id="{34A28F60-C86F-4267-873B-947C6A4C25DF}"/>
              </a:ext>
            </a:extLst>
          </p:cNvPr>
          <p:cNvSpPr>
            <a:spLocks noGrp="1"/>
          </p:cNvSpPr>
          <p:nvPr/>
        </p:nvSpPr>
        <p:spPr>
          <a:xfrm>
            <a:off x="609600" y="5915025"/>
            <a:ext cx="10858500" cy="419100"/>
          </a:xfrm>
          <a:prstGeom prst="rect">
            <a:avLst/>
          </a:prstGeom>
          <a:noFill/>
          <a:ln w="0">
            <a:noFill/>
            <a:prstDash val="solid"/>
          </a:ln>
        </p:spPr>
        <p:txBody>
          <a:bodyPr wrap="square" lIns="0" tIns="0" rIns="0" bIns="0" anchor="t">
            <a:normAutofit/>
          </a:bodyPr>
          <a:lstStyle>
            <a:defPPr algn="l">
              <a:defRPr sz="1650" b="1">
                <a:solidFill>
                  <a:srgbClr val="087D76"/>
                </a:solidFill>
                <a:latin typeface="Segoe UI"/>
                <a:ea typeface="Segoe UI"/>
                <a:cs typeface="Segoe UI"/>
              </a:defRPr>
            </a:defPPr>
          </a:lstStyle>
          <a:p>
            <a:pPr algn="l">
              <a:lnSpc>
                <a:spcPct val="108000"/>
              </a:lnSpc>
              <a:buNone/>
              <a:defRPr sz="1650" b="1">
                <a:solidFill>
                  <a:srgbClr val="087D76"/>
                </a:solidFill>
                <a:latin typeface="Segoe UI"/>
                <a:ea typeface="Segoe UI"/>
                <a:cs typeface="Segoe UI"/>
              </a:defRPr>
            </a:pPr>
            <a:r>
              <a:rPr sz="1650" b="1">
                <a:solidFill>
                  <a:srgbClr val="087D76"/>
                </a:solidFill>
                <a:latin typeface="Segoe UI"/>
                <a:ea typeface="Segoe UI"/>
                <a:cs typeface="Segoe UI"/>
              </a:rPr>
              <a:t>Takeaway: correct implementation and fair evaluation matter more than a high score alone.</a:t>
            </a:r>
          </a:p>
        </p:txBody>
      </p:sp>
    </p:spTree>
    <p:extLst>
      <p:ext uri="{BB962C8B-B14F-4D97-AF65-F5344CB8AC3E}">
        <p14:creationId xmlns:p14="http://schemas.microsoft.com/office/powerpoint/2010/main" val="96845498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1532</Words>
  <Application>Microsoft Office PowerPoint</Application>
  <DocSecurity>0</DocSecurity>
  <PresentationFormat>Widescreen</PresentationFormat>
  <Paragraphs>184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samir hesenov</cp:lastModifiedBy>
  <cp:revision>1</cp:revision>
  <dcterms:created xsi:type="dcterms:W3CDTF">2026-10-16T14:08:12Z</dcterms:created>
  <dcterms:modified xsi:type="dcterms:W3CDTF">2026-10-16T14:38:31Z</dcterms:modified>
</cp:coreProperties>
</file>